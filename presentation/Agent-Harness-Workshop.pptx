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s" id="{85b7d10b-d98c-8806-2bc3-8f1df89d6b1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Live demo · harness v4" id="{08f85e7b-93d7-b6e6-9f18-f94706c05791}">
          <p14:sldIdLst>
            <p14:sldId id="276"/>
            <p14:sldId id="277"/>
            <p14:sldId id="278"/>
            <p14:sldId id="279"/>
            <p14:sldId id="280"/>
            <p14:sldId id="281"/>
            <p14:sldId id="282"/>
            <p14:sldId id="283"/>
            <p14:sldId id="284"/>
            <p14:sldId id="285"/>
            <p14:sldId id="286"/>
            <p14:sldId id="287"/>
          </p14:sldIdLst>
        </p14:section>
        <p14:section name="Closing" id="{796705a3-69fc-29e7-427a-ee6f86649b07}">
          <p14:sldIdLst>
            <p14:sldId id="288"/>
            <p14:sldId id="289"/>
            <p14:sldId id="290"/>
          </p14:sldIdLst>
        </p14:section>
        <p14:section name="Appendix · historical v2 and v3" id="{3f16b96b-40ac-6be9-23a9-3a9d5508bbb5}">
          <p14:sldIdLst>
            <p14:sldId id="291"/>
            <p14:sldId id="292"/>
            <p14:sldId id="293"/>
            <p14:sldId id="294"/>
            <p14:sldId id="295"/>
            <p14:sldId id="296"/>
            <p14:sldId id="297"/>
            <p14:sldId id="298"/>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is for engineers, architects and leaders who work on mobile applications. The objective is to understand why a production agent needs more than a capable model and a prompt. We will use a real model fixing a real Notes app, then inspect what the harness adds. No company-internal data or model claims are involved. Content adapted from the user-supplied Agent-Harness-and-Harness-Engineering.pptx. Theme redesigned for Harness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 minutes on the problem, 20 on concepts, 20 on the live demonstration, 10 on results and discussion, and keep 5 minutes for questions or a slow provider. Some concept slides can be covered quickly for an experienced audience. The optional memory demonstration can use recorded evidence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slides 2 and 3. A harness is the working software around the model. Harness engineering is the discipline of designing and improving it. Teams can build a small harness or configure an existing coding agent. Avoid treating these as interchangeable 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slides 3 and 4. The model proposes language and tool requests. Runtime code executes actions, manages state and enforces boundaries. A model API alone does not execute a local file write or persist a task handoff. Providers may offer stateful features, but some external system still manages that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5. These are useful scopes, not universally standardized product boundaries. Prompt engineering chooses wording. Context engineering chooses what information the model receives. Harness engineering includes the execution lifecycle around those inputs. A better prompt can help but cannot itself enforce a filesystem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6. Terminology varies across vendors. Use these definitions consistently for this session rather than claiming a formal industry standard. An agent framework may implement much of a runtime; a team still chooses policies, integrations and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7, revised to match the agreed demo anatomy. Instructions &amp; policies replaces Observability as a card; orchestration is outside the live example. Observability and orchestration remain important topics later. These seven are the presentation vocabulary, not a universal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8. The visible trace shows requests, tool actions and observations, not private model reasoning. A completion signal does not prove success. Shared call/token budgets and a pause mechanism stop unbounded activity. The model can request several tools, but this runtime executes them serially.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9. In Harness Lab the model can list/read/write allowlisted source files and operate a real browser. It cannot edit protected checks or use an arbitrary shell. Browser preview and dashboard have separate origins. Both presets share this boundary. A local teaching sandbox is not a production service for hostile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Expands source slides 5, 7 and 10. Both are model inputs and can be included together. Instructions &amp; policies supplies project conventions; Context management supplies the repository map and current revision. The recorded request evidence shows exact payloads. Basic task/conversation context stays present in Minimal, and the model can read PROJECT.md manually. In harness v4, Context management also supplies the PN-142 ticket thread: knowledge from outside the repository that no tool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10. The reference describes compaction, offloading and just-in-time loading. Our demo only supplies a project map, revision and selected observations. It does not implement general retrieval, automatic summarization or production compaction. Keep that scope distinction explicit. Large context can waste tokens and hide useful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11. Distinguish persistent files from saved handoff and API conversation history. In both presets the edited source remains. Engineered saves observed checkpoints and can save model-written progress. A fresh session clears API history and includes supported memory. None of this guarantees the model will make the right next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12. Instructions ask; enforcement restricts. Both demo presets retain the file allowlist and execution budgets. This card represents the additional human approval gate. Minimal applies only to its isolated published demo copy, never a real production deployment. Tokens are reported by the provider; the runtime also reserves space conservatively before the next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13. Tests, builds, type checks and linters provide executable evidence. LLM judges can add semantic review but require their own validation. Passing a finite suite is not universal correctness. In this demo checks are protected from agent edits and tied to a revision. Failure feedback can return to the model for another attempt. In harness v4 there are two tiers: six visible checks the agent can run, and five held-out checks only the presenter runs. A patch can pass every check it was shown and still fail one it was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Birgitta Böckeler, Harness engineering for coding agent users, 2 April 2026: https://martinfowler.com/articles/harness-engineering.html . Guides shape behavior before an action. Sensors inspect the result and can help the agent correct it. The computational/inferential distinction is separate from before/after. This table uses our own concise examples. Content adapted from the user-supplied Agent-Harness-and-Harness-Engineering.pptx. Theme redesigned for Harness Lab. Source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slides 14 and 15. They remain part of the broader subject even though they are not toggled cards here. Traces make comparisons auditable; evals require repeated comparable tasks. Orchestration assigns responsibility and coordinates handoffs across agents. A single focused workflow often does not require multiple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17. Use actual failure evidence to identify the missing capability. A stronger system may require an input, a tool or an enforced check, not a longer prompt. Re-run representative evaluations and remove changes that add cost without improving the intended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Anthropic, Effective harnesses for long-running agents, 26 Nov 2025, https://www.anthropic.com/research/effective-harnesses-for-long-running-agents . OpenAI, Ryan Lopopolo, Harness engineering: leveraging Codex in an agent-first world, 11 Feb 2026, https://openai.com/index/harness-engineering/ . Both are reports by their authors, not controlled comparisons or guarantees for our organization. Content adapted from the user-supplied Agent-Harness-and-Harness-Engineering.pptx. Theme redesigned for Harness Lab. Source slides 18 and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20. These are diagnostic hypotheses, not proof that every failure is caused by the harness. Model capability, provider availability and the task itself also matter. Start by checking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 21. These are practical guidelines rather than a promise of optimal design. Prefer the smallest system that covers observed failures. A deterministic check can also be wrong; the earlier Notes trial exposed a test gap around seed-note text, so check quality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demo flow. Image: the Backup screen of the starting app on the production phone of run d13b50fa (original build, nothing applied), captured from the recorded run on 27 October 2026. Use the live app. Pocket Notes now has three screens: Draft, My notes and Backup. On the SANDBOX phone, type a draft, switch to My notes and back, then refresh: the draft is gone both times. Open Backup: it lists saved notes as JSON and says unsaved drafts are never included. Before any model runs, name four ways a correct-looking patch is wrong. The backup leaks the draft. Existing users lose their notes after a storage change. Typed markup comes back as HTML. Test ids that QA automation uses disappear. These are held-out checks. No agent ever sees them. Each trap is a property real codebases have; nothing here tricks the model.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1. Images: the anatomy board and the Minimal column of What each agent was told for run d13b50fa (Minimal, draft scenario, 26 October 2026). Create a fresh Minimal workspace with the same model and scenario you will use for Engineered. Blue means enabled, gray means off. Agent loop and Tools &amp; sandbox are on. Every preset gets the same task text, starting files, tool schemas and budgets. Save a note on the PRODUCTION phone first, so you are an existing user. Start the run. Open Explain &amp; compare and show what each agent was told. Minimal's column is short by nature: 1,102 characters of instructions and 331 of task in this run. It can read PROJECT.md with a tool if it decides to; d13b50fa did so on its first call. It cannot read the PN-142 ticket thread, which lives outside the workspace. In the recorded run Minimal produced a patch that passed 6/6 visible and 5/5 held-out checks, spent all 24 calls on manual browser actions and never requested completion.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2. Images: the two phones of run d13b50fa (Minimal: Budget reached, production still on the original build) and of run d017cd57 (+Verification rung: applied automatically at 22:42:24 local time with no review), both draft scenario, 26 October 2026. Production shows the original build until something is published. If Minimal declares completion, its patch is published at once and the banner says it was updated automatically by the agent, with no review. No check was required and nobody approved it. In the recorded ladder no Minimal run completed, so the automatic-publication banner shown here comes from the +Verification rung, the first rung that finished; without the approval gate it also publishes by itself. Production here is the run's isolated published copy, not a real deployment. If Minimal does not complete, say so and show the status instead.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3. Images: the production phone of run d017cd57 after presenter actions on 27 October 2026: a draft typed on production survived switching to My notes and back; Backup still listed 2 notes and no draft; the text &lt;b&gt;bold&lt;/b&gt; &amp; co came back literal with 16 characters. These are presenter actions on the published copy, not agent actions. On the production phone, check each trap by hand. Is the note you saved still listed after a refresh? Type a draft and open Backup: is the draft in the JSON? Type text with a bold tag and an ampersand, switch screens and back: is it still literal? Describe only what you see. The model may have handled every trap, as this one did.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4. Image: the claims panel of run d017cd57 (+Verification, draft, 26 October 2026). Open the panel titled What it claimed, what was observed. The left column is the agent's completion summary, word for word. The right column lists each behavior with what the agent exercised in the browser after its last edit, whether it ran acceptance checks, and the harness result. In this run the summary says the draft survives page refresh; the agent made no browser action after its last edit and instead ran the protected checks once, which passed. If a summary claims the refresh survives, look for a reload after the last edit or a run_checks. Claims are the model's words; observations are recorded tool actions. The panel does not interpret reasoning. This is observation the model did not make. The Minimal runs never requested completion, so their claims panel is empty.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5. Images: What each agent was told for Minimal d13b50fa and Engineered 5794a37d side by side (1,102 versus 5,646 characters of instructions, the same 331-character task, Engineered scrolled to the ticket), the Context management evidence of 5794a37d scrolled to the PN-142 ticket thread, and its anatomy board with seven enabled cards after approval. Create a fresh Engineered workspace with the same model, scenario and task. Seven cards are blue. Open Instructions &amp; policies to show the project rules. Open Context management to show the repository map, revision and the PN-142 ticket thread. The ticket explains incident INC-37 (a renamed storage key hid users' notes), the QA test ids, the backup privacy rule and the path-prefixed storage keys. Then show what each agent was told, side by side. Supplying a rule proves inclusion, not compliance; judge compliance from the diff and the checks.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6. Image: the activity list of run d017cd57 at its first run_checks call. The agent ran the six visible checks before editing (4/6, the unfixed baseline), edited src/storage.js, ran them again (6/6) and requested completion; the gate's independent assessment passed 6/6. With Verification on, the agent can run the six visible checks, and completion requires all six to pass on the current revision. A failure goes back to the model, which can try again within the shared budget. Show a repair loop only if one appears in the trace: in the recorded ladder no completion request was rejected by the gate. Automated tests cover the rejection path. The held-out checks are never part of this gate.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7. Images: the two phones of run 5794a37d (Engineered, draft scenario, 26 October 2026) after approval, its activity list at the approval boundary and the AFTER panel of the reviewed diff, which changed only src/storage.js. After the visible checks pass, Engineered waits. The production banner says one change is waiting for approval. Open the diff and the tested revision (367e4adf43ac here). Approve. The banner changes to say it was updated after your approval (22:45:01 local time in this run). Try the traps on production again. This is authority the model should not have. All four Engineered runs in the ladder stopped at this boundary and were approved only after a diff inspection.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step 8. Image: the Browser verification card of run 5794a37d after presenter evaluation: 6/6 visible and 5/5 held-out on the applied revision. Click Evaluate outcome on both runs. This is presenter evaluation, outside the agent workflow, with no model call. It runs both tiers. The Verification card shows the checks the agent can run and the held-out checks separately; Explain &amp; compare adds a held-out row. Engineered can also fail a held-out check: it had the ticket, but it never saw these checks. Read the actual results. In the recorded ladder every applied patch, automatic or approved, passed 5/5 held-out, and so did the unpublished Minimal patches; the traps were measured, not demonstrated. On the unfixed starter app the automated tests observe 4/6 visible and 3/5 held-out.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live step. Images: the activity list of run b4feef72 (+Memory, draft scenario, forced reset after model call 8) from the reset event onward, and its Memory tab scrolled to the frozen handoff supplied to session 2. Prepare two workspaces with the same Forced session reset call number (resetAfterCalls). After that model call, the harness records Context limit reached: fresh session required, clears the conversation and starts session 2. Files remain in both runs. Only the run with Memory receives a frozen handoff; in b1f14631 (+Verification, no Memory) session 2 re-read every file and rewrote src/app.js as the budget ended. Show the reset event and the next prompt. This is state the model cannot keep. Restored state does not guarantee completion: b4feef72 restored the handoff, passed the checks within its first seven calls of session 2 and still stopped at its 24-call budget without requesting completion, like the historical v3 memory trials.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the ladder scoreboard for cohere/north-mini-code:free, the draft scenario, harness v4 and no forced reset, one trial per rung (26 October 2026). Open Runs &amp; evals and the ladder scoreboard: Minimal, +Verification, +Instructions &amp; context, +Memory, Engineered. Each rung adds one thing. Columns include trials, completed, visible pass, held-out pass, applied without review, claimed without a refresh test, average calls and average tokens. The ladder comes from node scripts/evaluate.mjs --ladder, which makes real, billable calls. Across the three scenarios (15 runs): Minimal completed 0 of 3 and passed 3 of 3 held-out; every rung with run_checks completed 3 of 3; +Verification, +Instructions &amp; context and +Memory applied without review 3 of 3 each; Engineered waited for approval 3 of 3; claimed without a refresh test was 0 in every row. The dashboard filters the ladder per model, scenario, harness version and reset setting; the forced-reset ladder is a separate filter. Empty cells mean not measured. One trial per cell is illustrative, not a reliability rate; provider HTTP 429 failures were retried as fresh runs and are listed in the report.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what the live runs and the automated tests show. The automated tests establish that the ticket reaches the model only through Context management, that held-out checks never reach the agent, that a draft-in-notes patch passes all six visible checks and fails the backup held-out check, that production changes only through publication, and that a forced reset happens at the same call for every preset. They do not establish model behavior. The first live ladder (one trial per cell, a free model, 26 October 2026) showed Minimal producing correct patches and never finishing, the first rung with run_checks shipping to production with no review, Engineered waiting for approval every time, and no held-out failure on any applied patch. If Minimal passes everything, say so: it still shipped with no evidence required and no review. Close with: the model did not get smarter. The harness supplied what it could not know, checked what it did not look at, kept what it would forget, and held back what it should not decide alone. Recorded v4 evidence: live-validation/v4/RESULTS.md and the exported traces in live-validation/v4/runs. Actual OpenRouter Chat Completions calls on 26 October 2026 with cohere/north-mini-code:free, harness v4, check suite notes-v3, one trial per rung and scenario. The screenshots were taken from the recorded runs in the dashboard on 27 October 2026 (presentation/assets/v4, manifest.json lists each file); times inside them are local to the laptop (Asia/Calcutta). Individual trials, not a reliability benchmark. Do not pool them with v2 or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adapted from the user-supplied Agent-Harness-and-Harness-Engineering.pptx. Theme redesigned for Harness Lab. Source slides 21 and 22. You do not need to replace Claude Code, Codex or another coding environment to practice harness engineering. Maintain clear repository instructions, runnable checks, scoped access and a review process. Avoid version-specific command claims here. Reassess instructions and scaffolding when model capability changes; extra constraints can add cost or distract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original goal: production agents need an engineered environment around the model. Ask engineers for a recurring failure, architects for an enforceable boundary, and leaders for evidence they would require before expanding access. Keep the discussion anchored to a real workflow rather than choosing the largest component list. Content adapted from the user-supplied Agent-Harness-and-Harness-Engineering.pptx. Theme redesigned for Harness Lab. Source slide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supplied by the user: Agent-Harness-and-Harness-Engineering.pptx, all 24 slides reviewed. External primary sources checked on 25 October 2026. URLs below support the case examples and guides/sensors framing; local real-run evidence supports demo outcomes. The source deck also lists a Thoughtworks podcast and a community collection as optional reading, but no claims here depend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slides that follow are the demo slides of the pre-v4 deck, kept for the record. They show an earlier fixture (no Backup screen), a single check tier, no production phone and no ladder, with different models: nvidia/nemotron-3.5-super-vl:free on 25 October 2026 (v2) and cohere/north-mini-code:free on 26 October 2026 (v3). Do not pool them with harness v4 or with each other. Present them only if asked about the earlier rehearsals.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We use a browser-based mobile app so no emulator is needed. In a fresh workspace type a draft title and text, click My notes and return to Draft. The text disappears; refresh also loses it. The requested repair must also preserve saving, existing notes and distinct notes. This is one task with three acceptance-data variants, not three unrelated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Live step 1. Create a fresh Minimal workspace and choose the same model and scenario you will use for Engineered. Blue means enabled; gray means off. Basic task context and sandbox protection remain. Minimal can manually inspect files, read PROJECT.md and use the browser. The disabled cards refer to automatic project support, handoff, acceptance enforcement and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Live step 2. Start Engineered. The orange outline identifies active components; it does not reveal private reasoning. This screenshot records an actual request with Agent loop, Instructions &amp; policies and Context management active together. Open either input card to inspect its separate payload. The model is the same as Minimal. Image source: actual run cf25feae-cd17-4bfa-a052-d9771d84c848, draft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Live step 3. Show the exact rules and map, not just this summary. The instructions payload says to preserve existing notes and literal text. The context payload identifies src/storage.js as notes and draft storage, with file sizes and source revision. Both appear in the actual model request. Rule compliance must be judged from the diff and tests. Image sources: corresponding instructions and context evidence screenshots from run cf25feae.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Live step 4. Minimal can publish when it declares completion, without acceptance checks. Evaluate outcome is a separate presenter action. In this captured draft trial the model hit its budget before completing and never published. The independent checks found 5/6, including a regression to existing note text. Do not describe this specific run as an automatically published bad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Live step 5. The harness runs protected tests when requested and independently when completion is requested. All six must pass on the current revision. If they fail, the gate returns failures to the model. In these three successful Engineered trials no final failed-check gate occurred; do not invent one during narration. Automated tests cover that rejection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Live step 6. Open the source diff, inspect it and compare the tested revision. Engineered waits for approval rather than applying immediately. Opening the approval dialog does not publish. Confirmation publishes only the checked current revision into the isolated demo copy. Try the published app afterwards. Image source: reviewed storage.js diff from cf25feae.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v3 evidence: live-validation/v3/comparison-fallback-before-approval.png, fallback-matrix.json and the exported runs e25d301f-60f1-46a2-aadf-93f595e3221c and 0b75acc7-f595-4277-a1ce-082f685acff0. Actual OpenRouter calls on 26 October 2026 with cohere/north-mini-code:free. Same Draft task, starting fixture and shared budgets. These are two individual trials, not a reliability benchmark. This screenshot records the state BEFORE human approval. Minimal completed and applied automatically. Engineered passed 6/6 and waited for approval, so the screenshot correctly says its patch has not been applied. The presenter subsequently reviewed the storage.js-only diff and approved it. Do not narrate this screenshot as the final post-approval state. Both fixed the task in this pair. The observed contrast is runtime enforcement and publication control, without a claim that a harness guarantees a better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v3 evidence: live-validation/v3/comparison-fallback-before-approval.png, fallback-matrix.json and the exported runs e25d301f-60f1-46a2-aadf-93f595e3221c and 0b75acc7-f595-4277-a1ce-082f685acff0. Actual OpenRouter calls on 26 October 2026 with cohere/north-mini-code:free. Same Draft task, starting fixture and shared budgets. These are two individual trials, not a reliability benchmark. Minimal e25d301f completed automatically with 6/6, 20 real model calls and recorded elapsed time 73.080 seconds. Engineered 0b75acc7 reached approval with 6/6, 13 calls and recorded elapsed time 89.012 seconds. These elapsed values come from the comparison snapshot before human approval and do not include subsequent review time. The presenter reviewed the source diff, which changed only src/storage.js for Engineered, then approved it. Independent browser validation of both published apps passed with zero observed uncaught errors. Minimal changed src/app.js and src/storage.js. A smaller diff and fewer calls in one pair do not establish causality or comparative reliability. Keep these v3 outcomes separate from v2 and from other model/provider failures. Fresh v3 memory trials remain separate and are not represented as completed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Six runs, one per preset and acceptance variant. The task and fixture were identical. All successful patches subsequently passed independent published-app checks. This is illustrative evidence, not a statistical reliability claim. The first Minimal trial used 13 calls and hit budget with 5/6. Engineered draft used 5 calls; Unicode 5; long-form 4. Minimal Unicode 11; long-form 12. Do not pool these trials with the v3 pair or with v4, which used different harness versions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v2 evidence: live-validation/revised-cards/RESULTS.md, matrix.json, memory-results.json and memory-recovery.json. Actual OpenRouter calls on 25 October 2026 with nvidia/nemotron-3.5-super-vl:free. Individual trials, not a reliability benchmark. Optional step 7, using this historical recorded trial. Both presets paused after an actual edit and started a fresh session. Minimal had zero saved checkpoints. Engineered supplied the saved source revision/checkpoint in the actual next prompt. The Engineered trial then encountered HTTP 502; one recovery restored the checkpoint again. Both ultimately hit their budgets with a 6/6 patch and did not publish. Memory helps carry state; it does not guarantee completion. Harness v3 froze a compact handoff at session reset, while retaining the full checkpoints as evidence. This screenshot does not establish v3 memory completion. Separate v3 memory trials on 26 October: Minimal 7bc9ac11 in session 2 had no saved handoff, stopped at its 24-call budget with 3/6 and did not publish. Engineered c599c57b in session 2 restored a 766-byte compact frozen handoff, stopped after 23 calls due to conservative next-request reservation with 6/6 and did not publish. These trials show restoration, while successful interrupted-task completion remains unestablished. Keep memory optional. The v4 forced-reset ladder is on slide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sources: historical v2 live-validation/revised-cards/RESULTS.md and v3 live-validation/v3/RESULTS.md plus the exported runs. The v2 set contains six scenario trials plus two interrupted runs. Its recovery belongs to the same Engineered interrupted run. The v3 matched Draft pair shows two passing patches with different completion and publication requirements. Do not pool model versions or harness versions into a success percentage. A provider error is distinct from a code defect. Shared budgets can stop a working patch before completion. Screenshots record real rehearsal, not current live execution. Slide 32 states what the v4 demo establishes.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7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lstStyle>
            <a:lvl1pPr algn="l" indent="0" marL="0">
              <a:buNone/>
              <a:defRPr lang="en-US" sz="3300" b="1" dirty="0">
                <a:solidFill>
                  <a:srgbClr val="174535"/>
                </a:solidFill>
                <a:latin typeface="Arial" pitchFamily="34" charset="0"/>
                <a:ea typeface="Arial" pitchFamily="34" charset="-122"/>
                <a:cs typeface="Arial" pitchFamily="34" charset="-120"/>
              </a:defRPr>
            </a:lvl1pPr>
          </a:lstStyle>
          <a:p>
            <a:pPr algn="l" indent="0" marL="0">
              <a:buNone/>
            </a:pPr>
            <a:r>
              <a:rPr lang="en-US" sz="3300" b="1" dirty="0">
                <a:solidFill>
                  <a:srgbClr val="174535"/>
                </a:solidFill>
                <a:latin typeface="Arial" pitchFamily="34" charset="0"/>
                <a:ea typeface="Arial" pitchFamily="34" charset="-122"/>
                <a:cs typeface="Arial" pitchFamily="34" charset="-120"/>
              </a:rPr>
              <a:t>Title</a:t>
            </a:r>
            <a:endParaRPr lang="en-US" sz="33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4B9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1904970"/>
          </a:xfrm>
          <a:prstGeom prst="rect">
            <a:avLst/>
          </a:prstGeom>
          <a:noFill/>
          <a:ln/>
        </p:spPr>
        <p:txBody>
          <a:bodyPr wrap="square" rtlCol="0"/>
          <a:lstStyle>
            <a:lvl1pPr algn="l" indent="0" marL="0">
              <a:buNone/>
              <a:defRPr lang="en-US" sz="4800" b="1" dirty="0">
                <a:solidFill>
                  <a:srgbClr val="FFFFFF"/>
                </a:solidFill>
                <a:latin typeface="Arial" pitchFamily="34" charset="0"/>
                <a:ea typeface="Arial" pitchFamily="34" charset="-122"/>
                <a:cs typeface="Arial" pitchFamily="34" charset="-120"/>
              </a:defRPr>
            </a:lvl1pPr>
          </a:lstStyle>
          <a:p>
            <a:pPr algn="l" indent="0" marL="0">
              <a:buNone/>
            </a:pPr>
            <a:r>
              <a:rPr lang="en-US" sz="4800" b="1" dirty="0">
                <a:solidFill>
                  <a:srgbClr val="FFFFFF"/>
                </a:solidFill>
                <a:latin typeface="Arial" pitchFamily="34" charset="0"/>
                <a:ea typeface="Arial" pitchFamily="34" charset="-122"/>
                <a:cs typeface="Arial" pitchFamily="34" charset="-120"/>
              </a:rPr>
              <a:t>Title</a:t>
            </a:r>
            <a:endParaRPr lang="en-US" sz="4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D9E7FA"/>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1904970"/>
          </a:xfrm>
          <a:prstGeom prst="rect">
            <a:avLst/>
          </a:prstGeom>
          <a:noFill/>
          <a:ln/>
        </p:spPr>
        <p:txBody>
          <a:bodyPr wrap="square"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Agent harness &amp;</a:t>
            </a:r>
            <a:endParaRPr lang="en-US" sz="4800" dirty="0"/>
          </a:p>
          <a:p>
            <a:pPr algn="l" indent="0" marL="0">
              <a:buNone/>
            </a:pPr>
            <a:r>
              <a:rPr lang="en-US" sz="4800" b="1" dirty="0">
                <a:solidFill>
                  <a:srgbClr val="FFFFFF"/>
                </a:solidFill>
                <a:latin typeface="Arial" pitchFamily="34" charset="0"/>
                <a:ea typeface="Arial" pitchFamily="34" charset="-122"/>
                <a:cs typeface="Arial" pitchFamily="34" charset="-120"/>
              </a:rPr>
              <a:t>harness engineering</a:t>
            </a:r>
            <a:endParaRPr lang="en-US" sz="4800" dirty="0"/>
          </a:p>
        </p:txBody>
      </p:sp>
      <p:sp>
        <p:nvSpPr>
          <p:cNvPr id="4" name="Text 1"/>
          <p:cNvSpPr txBox="1"/>
          <p:nvPr/>
        </p:nvSpPr>
        <p:spPr>
          <a:xfrm>
            <a:off x="647670" y="2762220"/>
            <a:ext cx="9525030" cy="666780"/>
          </a:xfrm>
          <a:prstGeom prst="rect">
            <a:avLst/>
          </a:prstGeom>
          <a:noFill/>
          <a:ln/>
        </p:spPr>
        <p:txBody>
          <a:bodyPr wrap="square" rtlCol="0" anchor="t"/>
          <a:lstStyle/>
          <a:p>
            <a:pPr indent="0" marL="0">
              <a:buNone/>
            </a:pPr>
            <a:r>
              <a:rPr lang="en-US" sz="2700" dirty="0">
                <a:solidFill>
                  <a:srgbClr val="FFFFFF"/>
                </a:solidFill>
                <a:latin typeface="Arial" pitchFamily="34" charset="0"/>
                <a:ea typeface="Arial" pitchFamily="34" charset="-122"/>
                <a:cs typeface="Arial" pitchFamily="34" charset="-120"/>
              </a:rPr>
              <a:t>Building reliable coding workflows</a:t>
            </a:r>
            <a:endParaRPr lang="en-US" sz="2700" dirty="0"/>
          </a:p>
        </p:txBody>
      </p:sp>
      <p:sp>
        <p:nvSpPr>
          <p:cNvPr id="5" name="Text 2"/>
          <p:cNvSpPr txBox="1"/>
          <p:nvPr/>
        </p:nvSpPr>
        <p:spPr>
          <a:xfrm>
            <a:off x="666780" y="3714750"/>
            <a:ext cx="9905970" cy="714421"/>
          </a:xfrm>
          <a:prstGeom prst="rect">
            <a:avLst/>
          </a:prstGeom>
          <a:noFill/>
          <a:ln/>
        </p:spPr>
        <p:txBody>
          <a:bodyPr wrap="square" rtlCol="0" anchor="t"/>
          <a:lstStyle/>
          <a:p>
            <a:pPr indent="0" marL="0">
              <a:buNone/>
            </a:pPr>
            <a:r>
              <a:rPr lang="en-US" sz="1875" dirty="0">
                <a:solidFill>
                  <a:srgbClr val="D9E7FA"/>
                </a:solidFill>
                <a:latin typeface="Arial" pitchFamily="34" charset="0"/>
                <a:ea typeface="Arial" pitchFamily="34" charset="-122"/>
                <a:cs typeface="Arial" pitchFamily="34" charset="-120"/>
              </a:rPr>
              <a:t>Concepts, a live bug fix, and evidence from rehearsal</a:t>
            </a:r>
            <a:endParaRPr lang="en-US" sz="1875" dirty="0"/>
          </a:p>
        </p:txBody>
      </p:sp>
      <p:sp>
        <p:nvSpPr>
          <p:cNvPr id="6" name="Text 3"/>
          <p:cNvSpPr txBox="1"/>
          <p:nvPr/>
        </p:nvSpPr>
        <p:spPr>
          <a:xfrm>
            <a:off x="666780" y="5857921"/>
            <a:ext cx="9525030" cy="266730"/>
          </a:xfrm>
          <a:prstGeom prst="rect">
            <a:avLst/>
          </a:prstGeom>
          <a:noFill/>
          <a:ln/>
        </p:spPr>
        <p:txBody>
          <a:bodyPr wrap="square" rtlCol="0" anchor="t"/>
          <a:lstStyle/>
          <a:p>
            <a:pPr indent="0" marL="0">
              <a:buNone/>
            </a:pPr>
            <a:r>
              <a:rPr lang="en-US" sz="1350" b="1" dirty="0">
                <a:solidFill>
                  <a:srgbClr val="FFB454"/>
                </a:solidFill>
                <a:latin typeface="Arial" pitchFamily="34" charset="0"/>
                <a:ea typeface="Arial" pitchFamily="34" charset="-122"/>
                <a:cs typeface="Arial" pitchFamily="34" charset="-120"/>
              </a:rPr>
              <a:t>HARNESS LAB</a:t>
            </a:r>
            <a:endParaRPr lang="en-US" sz="13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D9E7FA"/>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The session</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25 minutes  /  Concepts</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What a harness contains and how teams improve it</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20 minutes  /  Live bug fix</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The same Notes app and model under two configurations</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15 minutes  /  Evidence and discussion</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Actual outcomes, limits, team practices and questions</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Harness and harness engineering</a:t>
            </a:r>
            <a:endParaRPr lang="en-US" sz="3300" dirty="0"/>
          </a:p>
        </p:txBody>
      </p:sp>
      <p:sp>
        <p:nvSpPr>
          <p:cNvPr id="4" name="Text 1"/>
          <p:cNvSpPr txBox="1"/>
          <p:nvPr/>
        </p:nvSpPr>
        <p:spPr>
          <a:xfrm>
            <a:off x="666780" y="1885950"/>
            <a:ext cx="4953030" cy="457200"/>
          </a:xfrm>
          <a:prstGeom prst="rect">
            <a:avLst/>
          </a:prstGeom>
          <a:noFill/>
          <a:ln/>
        </p:spPr>
        <p:txBody>
          <a:bodyPr wrap="square" rtlCol="0" anchor="t"/>
          <a:lstStyle/>
          <a:p>
            <a:pPr indent="0" marL="0">
              <a:buNone/>
            </a:pPr>
            <a:r>
              <a:rPr lang="en-US" sz="2550" b="1" dirty="0">
                <a:solidFill>
                  <a:srgbClr val="174B91"/>
                </a:solidFill>
                <a:latin typeface="Arial" pitchFamily="34" charset="0"/>
                <a:ea typeface="Arial" pitchFamily="34" charset="-122"/>
                <a:cs typeface="Arial" pitchFamily="34" charset="-120"/>
              </a:rPr>
              <a:t>Agent harness</a:t>
            </a:r>
            <a:endParaRPr lang="en-US" sz="2550" dirty="0"/>
          </a:p>
        </p:txBody>
      </p:sp>
      <p:sp>
        <p:nvSpPr>
          <p:cNvPr id="5" name="Text 2"/>
          <p:cNvSpPr txBox="1"/>
          <p:nvPr/>
        </p:nvSpPr>
        <p:spPr>
          <a:xfrm>
            <a:off x="666780" y="2524110"/>
            <a:ext cx="4857750" cy="1619220"/>
          </a:xfrm>
          <a:prstGeom prst="rect">
            <a:avLst/>
          </a:prstGeom>
          <a:noFill/>
          <a:ln/>
        </p:spPr>
        <p:txBody>
          <a:bodyPr wrap="square" rtlCol="0" anchor="t"/>
          <a:lstStyle/>
          <a:p>
            <a:pPr indent="0" marL="0">
              <a:buNone/>
            </a:pPr>
            <a:r>
              <a:rPr lang="en-US" sz="2325" dirty="0">
                <a:solidFill>
                  <a:srgbClr val="174535"/>
                </a:solidFill>
                <a:latin typeface="Arial" pitchFamily="34" charset="0"/>
                <a:ea typeface="Arial" pitchFamily="34" charset="-122"/>
                <a:cs typeface="Arial" pitchFamily="34" charset="-120"/>
              </a:rPr>
              <a:t>The software around the model that lets it act, retain state and check work.</a:t>
            </a:r>
            <a:endParaRPr lang="en-US" sz="2325" dirty="0"/>
          </a:p>
        </p:txBody>
      </p:sp>
      <p:sp>
        <p:nvSpPr>
          <p:cNvPr id="6" name="Text 3"/>
          <p:cNvSpPr txBox="1"/>
          <p:nvPr/>
        </p:nvSpPr>
        <p:spPr>
          <a:xfrm>
            <a:off x="6476970" y="1885950"/>
            <a:ext cx="5048220" cy="457200"/>
          </a:xfrm>
          <a:prstGeom prst="rect">
            <a:avLst/>
          </a:prstGeom>
          <a:noFill/>
          <a:ln/>
        </p:spPr>
        <p:txBody>
          <a:bodyPr wrap="square" rtlCol="0" anchor="t"/>
          <a:lstStyle/>
          <a:p>
            <a:pPr indent="0" marL="0">
              <a:buNone/>
            </a:pPr>
            <a:r>
              <a:rPr lang="en-US" sz="2550" b="1" dirty="0">
                <a:solidFill>
                  <a:srgbClr val="174B91"/>
                </a:solidFill>
                <a:latin typeface="Arial" pitchFamily="34" charset="0"/>
                <a:ea typeface="Arial" pitchFamily="34" charset="-122"/>
                <a:cs typeface="Arial" pitchFamily="34" charset="-120"/>
              </a:rPr>
              <a:t>Harness engineering</a:t>
            </a:r>
            <a:endParaRPr lang="en-US" sz="2550" dirty="0"/>
          </a:p>
        </p:txBody>
      </p:sp>
      <p:sp>
        <p:nvSpPr>
          <p:cNvPr id="7" name="Text 4"/>
          <p:cNvSpPr txBox="1"/>
          <p:nvPr/>
        </p:nvSpPr>
        <p:spPr>
          <a:xfrm>
            <a:off x="6476970" y="2524110"/>
            <a:ext cx="4857750" cy="1619220"/>
          </a:xfrm>
          <a:prstGeom prst="rect">
            <a:avLst/>
          </a:prstGeom>
          <a:noFill/>
          <a:ln/>
        </p:spPr>
        <p:txBody>
          <a:bodyPr wrap="square" rtlCol="0" anchor="t"/>
          <a:lstStyle/>
          <a:p>
            <a:pPr indent="0" marL="0">
              <a:buNone/>
            </a:pPr>
            <a:r>
              <a:rPr lang="en-US" sz="2325" dirty="0">
                <a:solidFill>
                  <a:srgbClr val="174535"/>
                </a:solidFill>
                <a:latin typeface="Arial" pitchFamily="34" charset="0"/>
                <a:ea typeface="Arial" pitchFamily="34" charset="-122"/>
                <a:cs typeface="Arial" pitchFamily="34" charset="-120"/>
              </a:rPr>
              <a:t>The work of designing, testing and improving that software for real tasks.</a:t>
            </a:r>
            <a:endParaRPr lang="en-US" sz="2325" dirty="0"/>
          </a:p>
        </p:txBody>
      </p:sp>
      <p:sp>
        <p:nvSpPr>
          <p:cNvPr id="8" name="Text 5"/>
          <p:cNvSpPr txBox="1"/>
          <p:nvPr/>
        </p:nvSpPr>
        <p:spPr>
          <a:xfrm>
            <a:off x="666780" y="5286421"/>
            <a:ext cx="10477470" cy="571500"/>
          </a:xfrm>
          <a:prstGeom prst="rect">
            <a:avLst/>
          </a:prstGeom>
          <a:noFill/>
          <a:ln/>
        </p:spPr>
        <p:txBody>
          <a:bodyPr wrap="square" rtlCol="0" anchor="t"/>
          <a:lstStyle/>
          <a:p>
            <a:pPr indent="0" marL="0">
              <a:buNone/>
            </a:pPr>
            <a:r>
              <a:rPr lang="en-US" sz="2100" dirty="0">
                <a:solidFill>
                  <a:srgbClr val="54685D"/>
                </a:solidFill>
                <a:latin typeface="Arial" pitchFamily="34" charset="0"/>
                <a:ea typeface="Arial" pitchFamily="34" charset="-122"/>
                <a:cs typeface="Arial" pitchFamily="34" charset="-120"/>
              </a:rPr>
              <a:t>One is the system. The other is the engineering practice.</a:t>
            </a:r>
            <a:endParaRPr lang="en-US" sz="21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Model and harness</a:t>
            </a:r>
            <a:endParaRPr lang="en-US" sz="3300" dirty="0"/>
          </a:p>
        </p:txBody>
      </p:sp>
      <p:sp>
        <p:nvSpPr>
          <p:cNvPr id="4" name="Text 1"/>
          <p:cNvSpPr txBox="1"/>
          <p:nvPr/>
        </p:nvSpPr>
        <p:spPr>
          <a:xfrm>
            <a:off x="666780" y="1885950"/>
            <a:ext cx="4667280" cy="571500"/>
          </a:xfrm>
          <a:prstGeom prst="rect">
            <a:avLst/>
          </a:prstGeom>
          <a:noFill/>
          <a:ln/>
        </p:spPr>
        <p:txBody>
          <a:bodyPr wrap="square" rtlCol="0" anchor="t"/>
          <a:lstStyle/>
          <a:p>
            <a:pPr indent="0" marL="0">
              <a:buNone/>
            </a:pPr>
            <a:r>
              <a:rPr lang="en-US" sz="3150" b="1" dirty="0">
                <a:solidFill>
                  <a:srgbClr val="174B91"/>
                </a:solidFill>
                <a:latin typeface="Arial" pitchFamily="34" charset="0"/>
                <a:ea typeface="Arial" pitchFamily="34" charset="-122"/>
                <a:cs typeface="Arial" pitchFamily="34" charset="-120"/>
              </a:rPr>
              <a:t>Model</a:t>
            </a:r>
            <a:endParaRPr lang="en-US" sz="3150" dirty="0"/>
          </a:p>
        </p:txBody>
      </p:sp>
      <p:sp>
        <p:nvSpPr>
          <p:cNvPr id="5" name="Text 2"/>
          <p:cNvSpPr txBox="1"/>
          <p:nvPr/>
        </p:nvSpPr>
        <p:spPr>
          <a:xfrm>
            <a:off x="666780" y="2762220"/>
            <a:ext cx="4762470" cy="2095530"/>
          </a:xfrm>
          <a:prstGeom prst="rect">
            <a:avLst/>
          </a:prstGeom>
          <a:noFill/>
          <a:ln/>
        </p:spPr>
        <p:txBody>
          <a:bodyPr wrap="square" rtlCol="0" anchor="t"/>
          <a:lstStyle/>
          <a:p>
            <a:pPr indent="0" marL="0">
              <a:buNone/>
            </a:pPr>
            <a:r>
              <a:rPr lang="en-US" sz="2325" dirty="0">
                <a:solidFill>
                  <a:srgbClr val="174535"/>
                </a:solidFill>
                <a:latin typeface="Arial" pitchFamily="34" charset="0"/>
                <a:ea typeface="Arial" pitchFamily="34" charset="-122"/>
                <a:cs typeface="Arial" pitchFamily="34" charset="-120"/>
              </a:rPr>
              <a:t>Interprets the task</a:t>
            </a:r>
            <a:endParaRPr lang="en-US" sz="2325" dirty="0"/>
          </a:p>
          <a:p>
            <a:pPr indent="0" marL="0">
              <a:buNone/>
            </a:pPr>
            <a:r>
              <a:rPr lang="en-US" sz="2325" dirty="0">
                <a:solidFill>
                  <a:srgbClr val="174535"/>
                </a:solidFill>
                <a:latin typeface="Arial" pitchFamily="34" charset="0"/>
                <a:ea typeface="Arial" pitchFamily="34" charset="-122"/>
                <a:cs typeface="Arial" pitchFamily="34" charset="-120"/>
              </a:rPr>
              <a:t>Proposes the next action</a:t>
            </a:r>
            <a:endParaRPr lang="en-US" sz="2325" dirty="0"/>
          </a:p>
          <a:p>
            <a:pPr indent="0" marL="0">
              <a:buNone/>
            </a:pPr>
            <a:r>
              <a:rPr lang="en-US" sz="2325" dirty="0">
                <a:solidFill>
                  <a:srgbClr val="174535"/>
                </a:solidFill>
                <a:latin typeface="Arial" pitchFamily="34" charset="0"/>
                <a:ea typeface="Arial" pitchFamily="34" charset="-122"/>
                <a:cs typeface="Arial" pitchFamily="34" charset="-120"/>
              </a:rPr>
              <a:t>Generates code and explanations</a:t>
            </a:r>
            <a:endParaRPr lang="en-US" sz="2325" dirty="0"/>
          </a:p>
        </p:txBody>
      </p:sp>
      <p:sp>
        <p:nvSpPr>
          <p:cNvPr id="6" name="Text 3"/>
          <p:cNvSpPr txBox="1"/>
          <p:nvPr/>
        </p:nvSpPr>
        <p:spPr>
          <a:xfrm>
            <a:off x="6476970" y="1885950"/>
            <a:ext cx="4667280" cy="571500"/>
          </a:xfrm>
          <a:prstGeom prst="rect">
            <a:avLst/>
          </a:prstGeom>
          <a:noFill/>
          <a:ln/>
        </p:spPr>
        <p:txBody>
          <a:bodyPr wrap="square" rtlCol="0" anchor="t"/>
          <a:lstStyle/>
          <a:p>
            <a:pPr indent="0" marL="0">
              <a:buNone/>
            </a:pPr>
            <a:r>
              <a:rPr lang="en-US" sz="3150" b="1" dirty="0">
                <a:solidFill>
                  <a:srgbClr val="174B91"/>
                </a:solidFill>
                <a:latin typeface="Arial" pitchFamily="34" charset="0"/>
                <a:ea typeface="Arial" pitchFamily="34" charset="-122"/>
                <a:cs typeface="Arial" pitchFamily="34" charset="-120"/>
              </a:rPr>
              <a:t>Harness</a:t>
            </a:r>
            <a:endParaRPr lang="en-US" sz="3150" dirty="0"/>
          </a:p>
        </p:txBody>
      </p:sp>
      <p:sp>
        <p:nvSpPr>
          <p:cNvPr id="7" name="Text 4"/>
          <p:cNvSpPr txBox="1"/>
          <p:nvPr/>
        </p:nvSpPr>
        <p:spPr>
          <a:xfrm>
            <a:off x="6476970" y="2762220"/>
            <a:ext cx="4857750" cy="2095530"/>
          </a:xfrm>
          <a:prstGeom prst="rect">
            <a:avLst/>
          </a:prstGeom>
          <a:noFill/>
          <a:ln/>
        </p:spPr>
        <p:txBody>
          <a:bodyPr wrap="square" rtlCol="0" anchor="t"/>
          <a:lstStyle/>
          <a:p>
            <a:pPr indent="0" marL="0">
              <a:buNone/>
            </a:pPr>
            <a:r>
              <a:rPr lang="en-US" sz="2325" dirty="0">
                <a:solidFill>
                  <a:srgbClr val="174535"/>
                </a:solidFill>
                <a:latin typeface="Arial" pitchFamily="34" charset="0"/>
                <a:ea typeface="Arial" pitchFamily="34" charset="-122"/>
                <a:cs typeface="Arial" pitchFamily="34" charset="-120"/>
              </a:rPr>
              <a:t>Executes the tools</a:t>
            </a:r>
            <a:endParaRPr lang="en-US" sz="2325" dirty="0"/>
          </a:p>
          <a:p>
            <a:pPr indent="0" marL="0">
              <a:buNone/>
            </a:pPr>
            <a:r>
              <a:rPr lang="en-US" sz="2325" dirty="0">
                <a:solidFill>
                  <a:srgbClr val="174535"/>
                </a:solidFill>
                <a:latin typeface="Arial" pitchFamily="34" charset="0"/>
                <a:ea typeface="Arial" pitchFamily="34" charset="-122"/>
                <a:cs typeface="Arial" pitchFamily="34" charset="-120"/>
              </a:rPr>
              <a:t>Supplies context and saved state</a:t>
            </a:r>
            <a:endParaRPr lang="en-US" sz="2325" dirty="0"/>
          </a:p>
          <a:p>
            <a:pPr indent="0" marL="0">
              <a:buNone/>
            </a:pPr>
            <a:r>
              <a:rPr lang="en-US" sz="2325" dirty="0">
                <a:solidFill>
                  <a:srgbClr val="174535"/>
                </a:solidFill>
                <a:latin typeface="Arial" pitchFamily="34" charset="0"/>
                <a:ea typeface="Arial" pitchFamily="34" charset="-122"/>
                <a:cs typeface="Arial" pitchFamily="34" charset="-120"/>
              </a:rPr>
              <a:t>Enforces checks and approvals</a:t>
            </a:r>
            <a:endParaRPr lang="en-US" sz="2325" dirty="0"/>
          </a:p>
        </p:txBody>
      </p:sp>
      <p:sp>
        <p:nvSpPr>
          <p:cNvPr id="8" name="Text 5"/>
          <p:cNvSpPr txBox="1"/>
          <p:nvPr/>
        </p:nvSpPr>
        <p:spPr>
          <a:xfrm>
            <a:off x="666780" y="5572171"/>
            <a:ext cx="10572750" cy="523860"/>
          </a:xfrm>
          <a:prstGeom prst="rect">
            <a:avLst/>
          </a:prstGeom>
          <a:noFill/>
          <a:ln/>
        </p:spPr>
        <p:txBody>
          <a:bodyPr wrap="square" rtlCol="0" anchor="t"/>
          <a:lstStyle/>
          <a:p>
            <a:pPr indent="0" marL="0">
              <a:buNone/>
            </a:pPr>
            <a:r>
              <a:rPr lang="en-US" sz="2250" dirty="0">
                <a:solidFill>
                  <a:srgbClr val="54685D"/>
                </a:solidFill>
                <a:latin typeface="Arial" pitchFamily="34" charset="0"/>
                <a:ea typeface="Arial" pitchFamily="34" charset="-122"/>
                <a:cs typeface="Arial" pitchFamily="34" charset="-120"/>
              </a:rPr>
              <a:t>An agent combines both in a working loop.</a:t>
            </a:r>
            <a:endParaRPr lang="en-US" sz="22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Prompt, context and harness</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Prompt engineering</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How should we phrase the task and rules?</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Context engineering</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Which instructions, files, history and observations should be included?</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Harness engineering</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How should the entire workflow execute, recover and verify?</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Related terms</a:t>
            </a:r>
            <a:endParaRPr lang="en-US" sz="3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140" y="1733520"/>
          <a:ext cx="10953780" cy="914400"/>
        </p:xfrm>
        <a:graphic>
          <a:graphicData uri="http://schemas.openxmlformats.org/drawingml/2006/table">
            <a:tbl>
              <a:tblPr/>
              <a:tblGrid>
                <a:gridCol w="3429000"/>
                <a:gridCol w="7524780"/>
              </a:tblGrid>
              <a:tr h="704820">
                <a:tc>
                  <a:txBody>
                    <a:bodyPr/>
                    <a:lstStyle/>
                    <a:p>
                      <a:pPr indent="0" marL="0">
                        <a:buNone/>
                      </a:pPr>
                      <a:r>
                        <a:rPr lang="en-US" sz="1950" b="1" dirty="0">
                          <a:solidFill>
                            <a:srgbClr val="FFFFFF"/>
                          </a:solidFill>
                          <a:latin typeface="Arial" pitchFamily="34" charset="0"/>
                          <a:ea typeface="Arial" pitchFamily="34" charset="-122"/>
                          <a:cs typeface="Arial" pitchFamily="34" charset="-120"/>
                        </a:rPr>
                        <a:t>Term</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950" b="1" dirty="0">
                          <a:solidFill>
                            <a:srgbClr val="FFFFFF"/>
                          </a:solidFill>
                          <a:latin typeface="Arial" pitchFamily="34" charset="0"/>
                          <a:ea typeface="Arial" pitchFamily="34" charset="-122"/>
                          <a:cs typeface="Arial" pitchFamily="34" charset="-120"/>
                        </a:rPr>
                        <a:t>Useful meaning</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r>
              <a:tr h="704820">
                <a:tc>
                  <a:txBody>
                    <a:bodyPr/>
                    <a:lstStyle/>
                    <a:p>
                      <a:pPr indent="0" marL="0">
                        <a:buNone/>
                      </a:pPr>
                      <a:r>
                        <a:rPr lang="en-US" sz="1950" dirty="0">
                          <a:solidFill>
                            <a:srgbClr val="174535"/>
                          </a:solidFill>
                          <a:latin typeface="Arial" pitchFamily="34" charset="0"/>
                          <a:ea typeface="Arial" pitchFamily="34" charset="-122"/>
                          <a:cs typeface="Arial" pitchFamily="34" charset="-120"/>
                        </a:rPr>
                        <a:t>Framework</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950" dirty="0">
                          <a:solidFill>
                            <a:srgbClr val="174535"/>
                          </a:solidFill>
                          <a:latin typeface="Arial" pitchFamily="34" charset="0"/>
                          <a:ea typeface="Arial" pitchFamily="34" charset="-122"/>
                          <a:cs typeface="Arial" pitchFamily="34" charset="-120"/>
                        </a:rPr>
                        <a:t>A library of building blocks</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704820">
                <a:tc>
                  <a:txBody>
                    <a:bodyPr/>
                    <a:lstStyle/>
                    <a:p>
                      <a:pPr indent="0" marL="0">
                        <a:buNone/>
                      </a:pPr>
                      <a:r>
                        <a:rPr lang="en-US" sz="1950" dirty="0">
                          <a:solidFill>
                            <a:srgbClr val="174535"/>
                          </a:solidFill>
                          <a:latin typeface="Arial" pitchFamily="34" charset="0"/>
                          <a:ea typeface="Arial" pitchFamily="34" charset="-122"/>
                          <a:cs typeface="Arial" pitchFamily="34" charset="-120"/>
                        </a:rPr>
                        <a:t>Runtime</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950" dirty="0">
                          <a:solidFill>
                            <a:srgbClr val="174535"/>
                          </a:solidFill>
                          <a:latin typeface="Arial" pitchFamily="34" charset="0"/>
                          <a:ea typeface="Arial" pitchFamily="34" charset="-122"/>
                          <a:cs typeface="Arial" pitchFamily="34" charset="-120"/>
                        </a:rPr>
                        <a:t>The engine that executes and resumes steps</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r h="704820">
                <a:tc>
                  <a:txBody>
                    <a:bodyPr/>
                    <a:lstStyle/>
                    <a:p>
                      <a:pPr indent="0" marL="0">
                        <a:buNone/>
                      </a:pPr>
                      <a:r>
                        <a:rPr lang="en-US" sz="1950" dirty="0">
                          <a:solidFill>
                            <a:srgbClr val="174535"/>
                          </a:solidFill>
                          <a:latin typeface="Arial" pitchFamily="34" charset="0"/>
                          <a:ea typeface="Arial" pitchFamily="34" charset="-122"/>
                          <a:cs typeface="Arial" pitchFamily="34" charset="-120"/>
                        </a:rPr>
                        <a:t>Harness</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950" dirty="0">
                          <a:solidFill>
                            <a:srgbClr val="174535"/>
                          </a:solidFill>
                          <a:latin typeface="Arial" pitchFamily="34" charset="0"/>
                          <a:ea typeface="Arial" pitchFamily="34" charset="-122"/>
                          <a:cs typeface="Arial" pitchFamily="34" charset="-120"/>
                        </a:rPr>
                        <a:t>The assembled system around a model</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704820">
                <a:tc>
                  <a:txBody>
                    <a:bodyPr/>
                    <a:lstStyle/>
                    <a:p>
                      <a:pPr indent="0" marL="0">
                        <a:buNone/>
                      </a:pPr>
                      <a:r>
                        <a:rPr lang="en-US" sz="1950" dirty="0">
                          <a:solidFill>
                            <a:srgbClr val="174535"/>
                          </a:solidFill>
                          <a:latin typeface="Arial" pitchFamily="34" charset="0"/>
                          <a:ea typeface="Arial" pitchFamily="34" charset="-122"/>
                          <a:cs typeface="Arial" pitchFamily="34" charset="-120"/>
                        </a:rPr>
                        <a:t>Harness engineering</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950" dirty="0">
                          <a:solidFill>
                            <a:srgbClr val="174535"/>
                          </a:solidFill>
                          <a:latin typeface="Arial" pitchFamily="34" charset="0"/>
                          <a:ea typeface="Arial" pitchFamily="34" charset="-122"/>
                          <a:cs typeface="Arial" pitchFamily="34" charset="-120"/>
                        </a:rPr>
                        <a:t>Designing and improving that assembled system</a:t>
                      </a:r>
                      <a:endParaRPr lang="en-US" sz="195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bl>
          </a:graphicData>
        </a:graphic>
      </p:graphicFrame>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Seven components in this demo</a:t>
            </a:r>
            <a:endParaRPr lang="en-US" sz="3300" dirty="0"/>
          </a:p>
        </p:txBody>
      </p:sp>
      <p:sp>
        <p:nvSpPr>
          <p:cNvPr id="4" name="Text 1"/>
          <p:cNvSpPr txBox="1"/>
          <p:nvPr/>
        </p:nvSpPr>
        <p:spPr>
          <a:xfrm>
            <a:off x="714421" y="176214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01</a:t>
            </a:r>
            <a:endParaRPr lang="en-US" sz="2025" dirty="0"/>
          </a:p>
        </p:txBody>
      </p:sp>
      <p:sp>
        <p:nvSpPr>
          <p:cNvPr id="5" name="Text 2"/>
          <p:cNvSpPr txBox="1"/>
          <p:nvPr/>
        </p:nvSpPr>
        <p:spPr>
          <a:xfrm>
            <a:off x="1476390" y="176214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Agent loop</a:t>
            </a:r>
            <a:endParaRPr lang="en-US" sz="2325" dirty="0"/>
          </a:p>
        </p:txBody>
      </p:sp>
      <p:sp>
        <p:nvSpPr>
          <p:cNvPr id="6" name="Text 3"/>
          <p:cNvSpPr txBox="1"/>
          <p:nvPr/>
        </p:nvSpPr>
        <p:spPr>
          <a:xfrm>
            <a:off x="714421" y="276222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02</a:t>
            </a:r>
            <a:endParaRPr lang="en-US" sz="2025" dirty="0"/>
          </a:p>
        </p:txBody>
      </p:sp>
      <p:sp>
        <p:nvSpPr>
          <p:cNvPr id="7" name="Text 4"/>
          <p:cNvSpPr txBox="1"/>
          <p:nvPr/>
        </p:nvSpPr>
        <p:spPr>
          <a:xfrm>
            <a:off x="1476390" y="276222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Tools &amp; sandbox</a:t>
            </a:r>
            <a:endParaRPr lang="en-US" sz="2325" dirty="0"/>
          </a:p>
        </p:txBody>
      </p:sp>
      <p:sp>
        <p:nvSpPr>
          <p:cNvPr id="8" name="Text 5"/>
          <p:cNvSpPr txBox="1"/>
          <p:nvPr/>
        </p:nvSpPr>
        <p:spPr>
          <a:xfrm>
            <a:off x="714421" y="376239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03</a:t>
            </a:r>
            <a:endParaRPr lang="en-US" sz="2025" dirty="0"/>
          </a:p>
        </p:txBody>
      </p:sp>
      <p:sp>
        <p:nvSpPr>
          <p:cNvPr id="9" name="Text 6"/>
          <p:cNvSpPr txBox="1"/>
          <p:nvPr/>
        </p:nvSpPr>
        <p:spPr>
          <a:xfrm>
            <a:off x="1476390" y="376239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Instructions &amp; policies</a:t>
            </a:r>
            <a:endParaRPr lang="en-US" sz="2325" dirty="0"/>
          </a:p>
        </p:txBody>
      </p:sp>
      <p:sp>
        <p:nvSpPr>
          <p:cNvPr id="10" name="Text 7"/>
          <p:cNvSpPr txBox="1"/>
          <p:nvPr/>
        </p:nvSpPr>
        <p:spPr>
          <a:xfrm>
            <a:off x="714421" y="476247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04</a:t>
            </a:r>
            <a:endParaRPr lang="en-US" sz="2025" dirty="0"/>
          </a:p>
        </p:txBody>
      </p:sp>
      <p:sp>
        <p:nvSpPr>
          <p:cNvPr id="11" name="Text 8"/>
          <p:cNvSpPr txBox="1"/>
          <p:nvPr/>
        </p:nvSpPr>
        <p:spPr>
          <a:xfrm>
            <a:off x="1476390" y="476247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Context management</a:t>
            </a:r>
            <a:endParaRPr lang="en-US" sz="2325" dirty="0"/>
          </a:p>
        </p:txBody>
      </p:sp>
      <p:sp>
        <p:nvSpPr>
          <p:cNvPr id="12" name="Text 9"/>
          <p:cNvSpPr txBox="1"/>
          <p:nvPr/>
        </p:nvSpPr>
        <p:spPr>
          <a:xfrm>
            <a:off x="6667530" y="176214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05</a:t>
            </a:r>
            <a:endParaRPr lang="en-US" sz="2025" dirty="0"/>
          </a:p>
        </p:txBody>
      </p:sp>
      <p:sp>
        <p:nvSpPr>
          <p:cNvPr id="13" name="Text 10"/>
          <p:cNvSpPr txBox="1"/>
          <p:nvPr/>
        </p:nvSpPr>
        <p:spPr>
          <a:xfrm>
            <a:off x="7429500" y="176214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Memory &amp; state</a:t>
            </a:r>
            <a:endParaRPr lang="en-US" sz="2325" dirty="0"/>
          </a:p>
        </p:txBody>
      </p:sp>
      <p:sp>
        <p:nvSpPr>
          <p:cNvPr id="14" name="Text 11"/>
          <p:cNvSpPr txBox="1"/>
          <p:nvPr/>
        </p:nvSpPr>
        <p:spPr>
          <a:xfrm>
            <a:off x="6667530" y="276222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06</a:t>
            </a:r>
            <a:endParaRPr lang="en-US" sz="2025" dirty="0"/>
          </a:p>
        </p:txBody>
      </p:sp>
      <p:sp>
        <p:nvSpPr>
          <p:cNvPr id="15" name="Text 12"/>
          <p:cNvSpPr txBox="1"/>
          <p:nvPr/>
        </p:nvSpPr>
        <p:spPr>
          <a:xfrm>
            <a:off x="7429500" y="276222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Guardrails</a:t>
            </a:r>
            <a:endParaRPr lang="en-US" sz="2325" dirty="0"/>
          </a:p>
        </p:txBody>
      </p:sp>
      <p:sp>
        <p:nvSpPr>
          <p:cNvPr id="16" name="Text 13"/>
          <p:cNvSpPr txBox="1"/>
          <p:nvPr/>
        </p:nvSpPr>
        <p:spPr>
          <a:xfrm>
            <a:off x="6667530" y="3762390"/>
            <a:ext cx="619140" cy="43818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07</a:t>
            </a:r>
            <a:endParaRPr lang="en-US" sz="2025" dirty="0"/>
          </a:p>
        </p:txBody>
      </p:sp>
      <p:sp>
        <p:nvSpPr>
          <p:cNvPr id="17" name="Text 14"/>
          <p:cNvSpPr txBox="1"/>
          <p:nvPr/>
        </p:nvSpPr>
        <p:spPr>
          <a:xfrm>
            <a:off x="7429500" y="3762390"/>
            <a:ext cx="4381530" cy="619140"/>
          </a:xfrm>
          <a:prstGeom prst="rect">
            <a:avLst/>
          </a:prstGeom>
          <a:noFill/>
          <a:ln/>
        </p:spPr>
        <p:txBody>
          <a:bodyPr wrap="square" rtlCol="0" anchor="t"/>
          <a:lstStyle/>
          <a:p>
            <a:pPr indent="0" marL="0">
              <a:buNone/>
            </a:pPr>
            <a:r>
              <a:rPr lang="en-US" sz="2325" b="1" dirty="0">
                <a:solidFill>
                  <a:srgbClr val="174535"/>
                </a:solidFill>
                <a:latin typeface="Arial" pitchFamily="34" charset="0"/>
                <a:ea typeface="Arial" pitchFamily="34" charset="-122"/>
                <a:cs typeface="Arial" pitchFamily="34" charset="-120"/>
              </a:rPr>
              <a:t>Verification</a:t>
            </a:r>
            <a:endParaRPr lang="en-US" sz="23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The agent loop</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1   Request an action</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Send the task, enabled project inputs and current observations.</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2   Execute and observe</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Validate the tool call, run it and return the measured result.</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3   Continue or stop</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Repeat until completion, a budget, a failure or a human interruption.</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Tools &amp; sandbox</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Tools make actions possible</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Files, browser operations and readable results</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Tool design affects the next decision</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Clear schemas, narrow operations and useful errors</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The sandbox limits the action</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Allowed paths, isolated copies and controlled browser access</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Instructions &amp; policies and context</a:t>
            </a:r>
            <a:endParaRPr lang="en-US" sz="3300" dirty="0"/>
          </a:p>
        </p:txBody>
      </p:sp>
      <p:sp>
        <p:nvSpPr>
          <p:cNvPr id="4" name="Text 1"/>
          <p:cNvSpPr txBox="1"/>
          <p:nvPr/>
        </p:nvSpPr>
        <p:spPr>
          <a:xfrm>
            <a:off x="666780" y="1809780"/>
            <a:ext cx="5048220" cy="476220"/>
          </a:xfrm>
          <a:prstGeom prst="rect">
            <a:avLst/>
          </a:prstGeom>
          <a:noFill/>
          <a:ln/>
        </p:spPr>
        <p:txBody>
          <a:bodyPr wrap="square" rtlCol="0" anchor="t"/>
          <a:lstStyle/>
          <a:p>
            <a:pPr indent="0" marL="0">
              <a:buNone/>
            </a:pPr>
            <a:r>
              <a:rPr lang="en-US" sz="2400" b="1" dirty="0">
                <a:solidFill>
                  <a:srgbClr val="174B91"/>
                </a:solidFill>
                <a:latin typeface="Arial" pitchFamily="34" charset="0"/>
                <a:ea typeface="Arial" pitchFamily="34" charset="-122"/>
                <a:cs typeface="Arial" pitchFamily="34" charset="-120"/>
              </a:rPr>
              <a:t>Instructions &amp; policies</a:t>
            </a:r>
            <a:endParaRPr lang="en-US" sz="2400" dirty="0"/>
          </a:p>
        </p:txBody>
      </p:sp>
      <p:sp>
        <p:nvSpPr>
          <p:cNvPr id="5" name="Text 2"/>
          <p:cNvSpPr txBox="1"/>
          <p:nvPr/>
        </p:nvSpPr>
        <p:spPr>
          <a:xfrm>
            <a:off x="666780" y="2381280"/>
            <a:ext cx="4857750" cy="47622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How to do the work</a:t>
            </a:r>
            <a:endParaRPr lang="en-US" sz="2175" dirty="0"/>
          </a:p>
        </p:txBody>
      </p:sp>
      <p:sp>
        <p:nvSpPr>
          <p:cNvPr id="6" name="Text 3"/>
          <p:cNvSpPr txBox="1"/>
          <p:nvPr/>
        </p:nvSpPr>
        <p:spPr>
          <a:xfrm>
            <a:off x="666780" y="3095610"/>
            <a:ext cx="4857750" cy="1904970"/>
          </a:xfrm>
          <a:prstGeom prst="rect">
            <a:avLst/>
          </a:prstGeom>
          <a:noFill/>
          <a:ln/>
        </p:spPr>
        <p:txBody>
          <a:bodyPr wrap="square" rtlCol="0" anchor="t"/>
          <a:lstStyle/>
          <a:p>
            <a:pPr indent="0" marL="0">
              <a:buNone/>
            </a:pPr>
            <a:r>
              <a:rPr lang="en-US" sz="2100" dirty="0">
                <a:solidFill>
                  <a:srgbClr val="54685D"/>
                </a:solidFill>
                <a:latin typeface="Arial" pitchFamily="34" charset="0"/>
                <a:ea typeface="Arial" pitchFamily="34" charset="-122"/>
                <a:cs typeface="Arial" pitchFamily="34" charset="-120"/>
              </a:rPr>
              <a:t>Preserve existing notes.</a:t>
            </a:r>
            <a:endParaRPr lang="en-US" sz="2100" dirty="0"/>
          </a:p>
          <a:p>
            <a:pPr indent="0" marL="0">
              <a:buNone/>
            </a:pPr>
            <a:r>
              <a:rPr lang="en-US" sz="2100" dirty="0">
                <a:solidFill>
                  <a:srgbClr val="54685D"/>
                </a:solidFill>
                <a:latin typeface="Arial" pitchFamily="34" charset="0"/>
                <a:ea typeface="Arial" pitchFamily="34" charset="-122"/>
                <a:cs typeface="Arial" pitchFamily="34" charset="-120"/>
              </a:rPr>
              <a:t>Keep user text literal.</a:t>
            </a:r>
            <a:endParaRPr lang="en-US" sz="2100" dirty="0"/>
          </a:p>
          <a:p>
            <a:pPr indent="0" marL="0">
              <a:buNone/>
            </a:pPr>
            <a:r>
              <a:rPr lang="en-US" sz="2100" dirty="0">
                <a:solidFill>
                  <a:srgbClr val="54685D"/>
                </a:solidFill>
                <a:latin typeface="Arial" pitchFamily="34" charset="0"/>
                <a:ea typeface="Arial" pitchFamily="34" charset="-122"/>
                <a:cs typeface="Arial" pitchFamily="34" charset="-120"/>
              </a:rPr>
              <a:t>Use the storage module.</a:t>
            </a:r>
            <a:endParaRPr lang="en-US" sz="2100" dirty="0"/>
          </a:p>
        </p:txBody>
      </p:sp>
      <p:sp>
        <p:nvSpPr>
          <p:cNvPr id="7" name="Text 4"/>
          <p:cNvSpPr txBox="1"/>
          <p:nvPr/>
        </p:nvSpPr>
        <p:spPr>
          <a:xfrm>
            <a:off x="6476970" y="1809780"/>
            <a:ext cx="5048220" cy="476220"/>
          </a:xfrm>
          <a:prstGeom prst="rect">
            <a:avLst/>
          </a:prstGeom>
          <a:noFill/>
          <a:ln/>
        </p:spPr>
        <p:txBody>
          <a:bodyPr wrap="square" rtlCol="0" anchor="t"/>
          <a:lstStyle/>
          <a:p>
            <a:pPr indent="0" marL="0">
              <a:buNone/>
            </a:pPr>
            <a:r>
              <a:rPr lang="en-US" sz="2400" b="1" dirty="0">
                <a:solidFill>
                  <a:srgbClr val="174B91"/>
                </a:solidFill>
                <a:latin typeface="Arial" pitchFamily="34" charset="0"/>
                <a:ea typeface="Arial" pitchFamily="34" charset="-122"/>
                <a:cs typeface="Arial" pitchFamily="34" charset="-120"/>
              </a:rPr>
              <a:t>Context management</a:t>
            </a:r>
            <a:endParaRPr lang="en-US" sz="2400" dirty="0"/>
          </a:p>
        </p:txBody>
      </p:sp>
      <p:sp>
        <p:nvSpPr>
          <p:cNvPr id="8" name="Text 5"/>
          <p:cNvSpPr txBox="1"/>
          <p:nvPr/>
        </p:nvSpPr>
        <p:spPr>
          <a:xfrm>
            <a:off x="6476970" y="2381280"/>
            <a:ext cx="4857750" cy="47622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Information for this task</a:t>
            </a:r>
            <a:endParaRPr lang="en-US" sz="2175" dirty="0"/>
          </a:p>
        </p:txBody>
      </p:sp>
      <p:sp>
        <p:nvSpPr>
          <p:cNvPr id="9" name="Text 6"/>
          <p:cNvSpPr txBox="1"/>
          <p:nvPr/>
        </p:nvSpPr>
        <p:spPr>
          <a:xfrm>
            <a:off x="6476970" y="3095610"/>
            <a:ext cx="4857750" cy="1904970"/>
          </a:xfrm>
          <a:prstGeom prst="rect">
            <a:avLst/>
          </a:prstGeom>
          <a:noFill/>
          <a:ln/>
        </p:spPr>
        <p:txBody>
          <a:bodyPr wrap="square" rtlCol="0" anchor="t"/>
          <a:lstStyle/>
          <a:p>
            <a:pPr indent="0" marL="0">
              <a:buNone/>
            </a:pPr>
            <a:r>
              <a:rPr lang="en-US" sz="2100" dirty="0">
                <a:solidFill>
                  <a:srgbClr val="54685D"/>
                </a:solidFill>
                <a:latin typeface="Arial" pitchFamily="34" charset="0"/>
                <a:ea typeface="Arial" pitchFamily="34" charset="-122"/>
                <a:cs typeface="Arial" pitchFamily="34" charset="-120"/>
              </a:rPr>
              <a:t>storage.js handles persistence.</a:t>
            </a:r>
            <a:endParaRPr lang="en-US" sz="2100" dirty="0"/>
          </a:p>
          <a:p>
            <a:pPr indent="0" marL="0">
              <a:buNone/>
            </a:pPr>
            <a:r>
              <a:rPr lang="en-US" sz="2100" dirty="0">
                <a:solidFill>
                  <a:srgbClr val="54685D"/>
                </a:solidFill>
                <a:latin typeface="Arial" pitchFamily="34" charset="0"/>
                <a:ea typeface="Arial" pitchFamily="34" charset="-122"/>
                <a:cs typeface="Arial" pitchFamily="34" charset="-120"/>
              </a:rPr>
              <a:t>app.js handles interactions.</a:t>
            </a:r>
            <a:endParaRPr lang="en-US" sz="2100" dirty="0"/>
          </a:p>
          <a:p>
            <a:pPr indent="0" marL="0">
              <a:buNone/>
            </a:pPr>
            <a:r>
              <a:rPr lang="en-US" sz="2100" dirty="0">
                <a:solidFill>
                  <a:srgbClr val="54685D"/>
                </a:solidFill>
                <a:latin typeface="Arial" pitchFamily="34" charset="0"/>
                <a:ea typeface="Arial" pitchFamily="34" charset="-122"/>
                <a:cs typeface="Arial" pitchFamily="34" charset="-120"/>
              </a:rPr>
              <a:t>This is the current source revision.</a:t>
            </a:r>
            <a:endParaRPr lang="en-US" sz="2100" dirty="0"/>
          </a:p>
          <a:p>
            <a:pPr indent="0" marL="0">
              <a:buNone/>
            </a:pPr>
            <a:r>
              <a:rPr lang="en-US" sz="2100" dirty="0">
                <a:solidFill>
                  <a:srgbClr val="54685D"/>
                </a:solidFill>
                <a:latin typeface="Arial" pitchFamily="34" charset="0"/>
                <a:ea typeface="Arial" pitchFamily="34" charset="-122"/>
                <a:cs typeface="Arial" pitchFamily="34" charset="-120"/>
              </a:rPr>
              <a:t>The PN-142 ticket thread (v4).</a:t>
            </a:r>
            <a:endParaRPr lang="en-US" sz="2100" dirty="0"/>
          </a:p>
        </p:txBody>
      </p:sp>
      <p:sp>
        <p:nvSpPr>
          <p:cNvPr id="10" name="Text 7"/>
          <p:cNvSpPr txBox="1"/>
          <p:nvPr/>
        </p:nvSpPr>
        <p:spPr>
          <a:xfrm>
            <a:off x="666780" y="5524530"/>
            <a:ext cx="10668030" cy="523860"/>
          </a:xfrm>
          <a:prstGeom prst="rect">
            <a:avLst/>
          </a:prstGeom>
          <a:noFill/>
          <a:ln/>
        </p:spPr>
        <p:txBody>
          <a:bodyPr wrap="square" rtlCol="0" anchor="t"/>
          <a:lstStyle/>
          <a:p>
            <a:pPr indent="0" marL="0">
              <a:buNone/>
            </a:pPr>
            <a:r>
              <a:rPr lang="en-US" sz="2100" b="1" dirty="0">
                <a:solidFill>
                  <a:srgbClr val="E87924"/>
                </a:solidFill>
                <a:latin typeface="Arial" pitchFamily="34" charset="0"/>
                <a:ea typeface="Arial" pitchFamily="34" charset="-122"/>
                <a:cs typeface="Arial" pitchFamily="34" charset="-120"/>
              </a:rPr>
              <a:t>Supplying a rule does not prove the model followed it.</a:t>
            </a:r>
            <a:endParaRPr lang="en-US" sz="21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Context beyond a project map</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Load relevant information when needed</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Retrieve the file or document for the current decision.</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Keep large outputs outside the prompt</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Store artifacts and provide a useful summary or reference.</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Manage long conversations</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Compact carefully and preserve evidence needed for the next step.</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Memory &amp; state</a:t>
            </a:r>
            <a:endParaRPr lang="en-US" sz="3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19140" y="1733520"/>
          <a:ext cx="10953780" cy="914400"/>
        </p:xfrm>
        <a:graphic>
          <a:graphicData uri="http://schemas.openxmlformats.org/drawingml/2006/table">
            <a:tbl>
              <a:tblPr/>
              <a:tblGrid>
                <a:gridCol w="5810280"/>
                <a:gridCol w="2571750"/>
                <a:gridCol w="2571750"/>
              </a:tblGrid>
              <a:tr h="785835">
                <a:tc>
                  <a:txBody>
                    <a:bodyPr/>
                    <a:lstStyle/>
                    <a:p>
                      <a:pPr indent="0" marL="0">
                        <a:buNone/>
                      </a:pPr>
                      <a:r>
                        <a:rPr lang="en-US" sz="1875" b="1" dirty="0">
                          <a:solidFill>
                            <a:srgbClr val="FFFFFF"/>
                          </a:solidFill>
                          <a:latin typeface="Arial" pitchFamily="34" charset="0"/>
                          <a:ea typeface="Arial" pitchFamily="34" charset="-122"/>
                          <a:cs typeface="Arial" pitchFamily="34" charset="-120"/>
                        </a:rPr>
                        <a:t>State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75" b="1" dirty="0">
                          <a:solidFill>
                            <a:srgbClr val="FFFFFF"/>
                          </a:solidFill>
                          <a:latin typeface="Arial" pitchFamily="34" charset="0"/>
                          <a:ea typeface="Arial" pitchFamily="34" charset="-122"/>
                          <a:cs typeface="Arial" pitchFamily="34" charset="-120"/>
                        </a:rPr>
                        <a:t>Minimal</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75" b="1" dirty="0">
                          <a:solidFill>
                            <a:srgbClr val="FFFFFF"/>
                          </a:solidFill>
                          <a:latin typeface="Arial" pitchFamily="34" charset="0"/>
                          <a:ea typeface="Arial" pitchFamily="34" charset="-122"/>
                          <a:cs typeface="Arial" pitchFamily="34" charset="-120"/>
                        </a:rPr>
                        <a:t>Engineered</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r>
              <a:tr h="785835">
                <a:tc>
                  <a:txBody>
                    <a:bodyPr/>
                    <a:lstStyle/>
                    <a:p>
                      <a:pPr indent="0" marL="0">
                        <a:buNone/>
                      </a:pPr>
                      <a:r>
                        <a:rPr lang="en-US" sz="1875" dirty="0">
                          <a:solidFill>
                            <a:srgbClr val="174535"/>
                          </a:solidFill>
                          <a:latin typeface="Arial" pitchFamily="34" charset="0"/>
                          <a:ea typeface="Arial" pitchFamily="34" charset="-122"/>
                          <a:cs typeface="Arial" pitchFamily="34" charset="-120"/>
                        </a:rPr>
                        <a:t>Working files</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Remain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Remain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785835">
                <a:tc>
                  <a:txBody>
                    <a:bodyPr/>
                    <a:lstStyle/>
                    <a:p>
                      <a:pPr indent="0" marL="0">
                        <a:buNone/>
                      </a:pPr>
                      <a:r>
                        <a:rPr lang="en-US" sz="1875" dirty="0">
                          <a:solidFill>
                            <a:srgbClr val="174535"/>
                          </a:solidFill>
                          <a:latin typeface="Arial" pitchFamily="34" charset="0"/>
                          <a:ea typeface="Arial" pitchFamily="34" charset="-122"/>
                          <a:cs typeface="Arial" pitchFamily="34" charset="-120"/>
                        </a:rPr>
                        <a:t>Previous API conversation in a new session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Cleared</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Cleared</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r h="785835">
                <a:tc>
                  <a:txBody>
                    <a:bodyPr/>
                    <a:lstStyle/>
                    <a:p>
                      <a:pPr indent="0" marL="0">
                        <a:buNone/>
                      </a:pPr>
                      <a:r>
                        <a:rPr lang="en-US" sz="1875" dirty="0">
                          <a:solidFill>
                            <a:srgbClr val="174535"/>
                          </a:solidFill>
                          <a:latin typeface="Arial" pitchFamily="34" charset="0"/>
                          <a:ea typeface="Arial" pitchFamily="34" charset="-122"/>
                          <a:cs typeface="Arial" pitchFamily="34" charset="-120"/>
                        </a:rPr>
                        <a:t>Saved progress supplied to the new session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Off</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Enabled</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66780" y="5476890"/>
            <a:ext cx="10572750" cy="619140"/>
          </a:xfrm>
          <a:prstGeom prst="rect">
            <a:avLst/>
          </a:prstGeom>
          <a:noFill/>
          <a:ln/>
        </p:spPr>
        <p:txBody>
          <a:bodyPr wrap="square" rtlCol="0" anchor="t"/>
          <a:lstStyle/>
          <a:p>
            <a:pPr indent="0" marL="0">
              <a:buNone/>
            </a:pPr>
            <a:r>
              <a:rPr lang="en-US" sz="2100" dirty="0">
                <a:solidFill>
                  <a:srgbClr val="54685D"/>
                </a:solidFill>
                <a:latin typeface="Arial" pitchFamily="34" charset="0"/>
                <a:ea typeface="Arial" pitchFamily="34" charset="-122"/>
                <a:cs typeface="Arial" pitchFamily="34" charset="-120"/>
              </a:rPr>
              <a:t>Saved progress helps the next session understand what already happened.</a:t>
            </a:r>
            <a:endParaRPr lang="en-US" sz="21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Guardrails</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Permissions constrain available actions</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Use scoped tools, paths and credentials.</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Budgets bound continued execution</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Stop excessive calls or token use and preserve evidence.</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Approval controls application of a patch</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Require a human decision on the exact reviewed revision.</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Verification</a:t>
            </a:r>
            <a:endParaRPr lang="en-US" sz="3300" dirty="0"/>
          </a:p>
        </p:txBody>
      </p:sp>
      <p:sp>
        <p:nvSpPr>
          <p:cNvPr id="4" name="Text 1"/>
          <p:cNvSpPr txBox="1"/>
          <p:nvPr/>
        </p:nvSpPr>
        <p:spPr>
          <a:xfrm>
            <a:off x="666780" y="1809780"/>
            <a:ext cx="10477470" cy="761970"/>
          </a:xfrm>
          <a:prstGeom prst="rect">
            <a:avLst/>
          </a:prstGeom>
          <a:noFill/>
          <a:ln/>
        </p:spPr>
        <p:txBody>
          <a:bodyPr wrap="square" rtlCol="0" anchor="t"/>
          <a:lstStyle/>
          <a:p>
            <a:pPr indent="0" marL="0">
              <a:buNone/>
            </a:pPr>
            <a:r>
              <a:rPr lang="en-US" sz="2925" b="1" dirty="0">
                <a:solidFill>
                  <a:srgbClr val="174B91"/>
                </a:solidFill>
                <a:latin typeface="Arial" pitchFamily="34" charset="0"/>
                <a:ea typeface="Arial" pitchFamily="34" charset="-122"/>
                <a:cs typeface="Arial" pitchFamily="34" charset="-120"/>
              </a:rPr>
              <a:t>A completion claim needs evidence.</a:t>
            </a:r>
            <a:endParaRPr lang="en-US" sz="2925" dirty="0"/>
          </a:p>
        </p:txBody>
      </p:sp>
      <p:sp>
        <p:nvSpPr>
          <p:cNvPr id="5" name="Text 2"/>
          <p:cNvSpPr txBox="1"/>
          <p:nvPr/>
        </p:nvSpPr>
        <p:spPr>
          <a:xfrm>
            <a:off x="666780" y="2857500"/>
            <a:ext cx="10477470" cy="342900"/>
          </a:xfrm>
          <a:prstGeom prst="rect">
            <a:avLst/>
          </a:prstGeom>
          <a:noFill/>
          <a:ln/>
        </p:spPr>
        <p:txBody>
          <a:bodyPr wrap="square" rtlCol="0" anchor="t"/>
          <a:lstStyle/>
          <a:p>
            <a:pPr indent="0" marL="0">
              <a:buNone/>
            </a:pPr>
            <a:r>
              <a:rPr lang="en-US" sz="1950" b="1" dirty="0">
                <a:solidFill>
                  <a:srgbClr val="174B91"/>
                </a:solidFill>
                <a:latin typeface="Arial" pitchFamily="34" charset="0"/>
                <a:ea typeface="Arial" pitchFamily="34" charset="-122"/>
                <a:cs typeface="Arial" pitchFamily="34" charset="-120"/>
              </a:rPr>
              <a:t>Behavioral checks</a:t>
            </a:r>
            <a:endParaRPr lang="en-US" sz="1950" dirty="0"/>
          </a:p>
        </p:txBody>
      </p:sp>
      <p:sp>
        <p:nvSpPr>
          <p:cNvPr id="6" name="Text 3"/>
          <p:cNvSpPr txBox="1"/>
          <p:nvPr/>
        </p:nvSpPr>
        <p:spPr>
          <a:xfrm>
            <a:off x="666780" y="323853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Does the draft survive navigation and refresh? Does saving preserve text?</a:t>
            </a:r>
            <a:endParaRPr lang="en-US" sz="1800" dirty="0"/>
          </a:p>
        </p:txBody>
      </p:sp>
      <p:sp>
        <p:nvSpPr>
          <p:cNvPr id="7" name="Text 4"/>
          <p:cNvSpPr txBox="1"/>
          <p:nvPr/>
        </p:nvSpPr>
        <p:spPr>
          <a:xfrm>
            <a:off x="666780" y="3886200"/>
            <a:ext cx="10477470" cy="342900"/>
          </a:xfrm>
          <a:prstGeom prst="rect">
            <a:avLst/>
          </a:prstGeom>
          <a:noFill/>
          <a:ln/>
        </p:spPr>
        <p:txBody>
          <a:bodyPr wrap="square" rtlCol="0" anchor="t"/>
          <a:lstStyle/>
          <a:p>
            <a:pPr indent="0" marL="0">
              <a:buNone/>
            </a:pPr>
            <a:r>
              <a:rPr lang="en-US" sz="1950" b="1" dirty="0">
                <a:solidFill>
                  <a:srgbClr val="174B91"/>
                </a:solidFill>
                <a:latin typeface="Arial" pitchFamily="34" charset="0"/>
                <a:ea typeface="Arial" pitchFamily="34" charset="-122"/>
                <a:cs typeface="Arial" pitchFamily="34" charset="-120"/>
              </a:rPr>
              <a:t>Independent enforcement</a:t>
            </a:r>
            <a:endParaRPr lang="en-US" sz="1950" dirty="0"/>
          </a:p>
        </p:txBody>
      </p:sp>
      <p:sp>
        <p:nvSpPr>
          <p:cNvPr id="8" name="Text 5"/>
          <p:cNvSpPr txBox="1"/>
          <p:nvPr/>
        </p:nvSpPr>
        <p:spPr>
          <a:xfrm>
            <a:off x="666780" y="426723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A failing current revision cannot complete under Engineered.</a:t>
            </a:r>
            <a:endParaRPr lang="en-US" sz="1800" dirty="0"/>
          </a:p>
        </p:txBody>
      </p:sp>
      <p:sp>
        <p:nvSpPr>
          <p:cNvPr id="9" name="Text 6"/>
          <p:cNvSpPr txBox="1"/>
          <p:nvPr/>
        </p:nvSpPr>
        <p:spPr>
          <a:xfrm>
            <a:off x="666780" y="4914900"/>
            <a:ext cx="10477470" cy="342900"/>
          </a:xfrm>
          <a:prstGeom prst="rect">
            <a:avLst/>
          </a:prstGeom>
          <a:noFill/>
          <a:ln/>
        </p:spPr>
        <p:txBody>
          <a:bodyPr wrap="square" rtlCol="0" anchor="t"/>
          <a:lstStyle/>
          <a:p>
            <a:pPr indent="0" marL="0">
              <a:buNone/>
            </a:pPr>
            <a:r>
              <a:rPr lang="en-US" sz="1950" b="1" dirty="0">
                <a:solidFill>
                  <a:srgbClr val="174B91"/>
                </a:solidFill>
                <a:latin typeface="Arial" pitchFamily="34" charset="0"/>
                <a:ea typeface="Arial" pitchFamily="34" charset="-122"/>
                <a:cs typeface="Arial" pitchFamily="34" charset="-120"/>
              </a:rPr>
              <a:t>Two tiers in harness v4</a:t>
            </a:r>
            <a:endParaRPr lang="en-US" sz="1950" dirty="0"/>
          </a:p>
        </p:txBody>
      </p:sp>
      <p:sp>
        <p:nvSpPr>
          <p:cNvPr id="10" name="Text 7"/>
          <p:cNvSpPr txBox="1"/>
          <p:nvPr/>
        </p:nvSpPr>
        <p:spPr>
          <a:xfrm>
            <a:off x="666780" y="529593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Six visible checks the agent can run; five held-out checks only the presenter runs.</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Guides and sensors</a:t>
            </a:r>
            <a:endParaRPr lang="en-US" sz="3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9140" y="1733520"/>
          <a:ext cx="10953780" cy="914400"/>
        </p:xfrm>
        <a:graphic>
          <a:graphicData uri="http://schemas.openxmlformats.org/drawingml/2006/table">
            <a:tbl>
              <a:tblPr/>
              <a:tblGrid>
                <a:gridCol w="2857500"/>
                <a:gridCol w="4000500"/>
                <a:gridCol w="4095780"/>
              </a:tblGrid>
              <a:tr h="984260">
                <a:tc>
                  <a:txBody>
                    <a:bodyPr/>
                    <a:lstStyle/>
                    <a:p>
                      <a:pPr indent="0" marL="0">
                        <a:buNone/>
                      </a:pPr>
                      <a:r>
                        <a:rPr lang="en-US" sz="1875" b="1" dirty="0">
                          <a:solidFill>
                            <a:srgbClr val="FFFFFF"/>
                          </a:solidFill>
                          <a:latin typeface="Arial" pitchFamily="34" charset="0"/>
                          <a:ea typeface="Arial" pitchFamily="34" charset="-122"/>
                          <a:cs typeface="Arial" pitchFamily="34" charset="-120"/>
                        </a:rPr>
                        <a:t>Control</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75" b="1" dirty="0">
                          <a:solidFill>
                            <a:srgbClr val="FFFFFF"/>
                          </a:solidFill>
                          <a:latin typeface="Arial" pitchFamily="34" charset="0"/>
                          <a:ea typeface="Arial" pitchFamily="34" charset="-122"/>
                          <a:cs typeface="Arial" pitchFamily="34" charset="-120"/>
                        </a:rPr>
                        <a:t>Deterministic example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75" b="1" dirty="0">
                          <a:solidFill>
                            <a:srgbClr val="FFFFFF"/>
                          </a:solidFill>
                          <a:latin typeface="Arial" pitchFamily="34" charset="0"/>
                          <a:ea typeface="Arial" pitchFamily="34" charset="-122"/>
                          <a:cs typeface="Arial" pitchFamily="34" charset="-120"/>
                        </a:rPr>
                        <a:t>Model-based example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r>
              <a:tr h="984260">
                <a:tc>
                  <a:txBody>
                    <a:bodyPr/>
                    <a:lstStyle/>
                    <a:p>
                      <a:pPr indent="0" marL="0">
                        <a:buNone/>
                      </a:pPr>
                      <a:r>
                        <a:rPr lang="en-US" sz="1875" dirty="0">
                          <a:solidFill>
                            <a:srgbClr val="174535"/>
                          </a:solidFill>
                          <a:latin typeface="Arial" pitchFamily="34" charset="0"/>
                          <a:ea typeface="Arial" pitchFamily="34" charset="-122"/>
                          <a:cs typeface="Arial" pitchFamily="34" charset="-120"/>
                        </a:rPr>
                        <a:t>Guide before action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Bootstrap script or allowed tool schema</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Project instructions or a skill</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984260">
                <a:tc>
                  <a:txBody>
                    <a:bodyPr/>
                    <a:lstStyle/>
                    <a:p>
                      <a:pPr indent="0" marL="0">
                        <a:buNone/>
                      </a:pPr>
                      <a:r>
                        <a:rPr lang="en-US" sz="1875" dirty="0">
                          <a:solidFill>
                            <a:srgbClr val="174535"/>
                          </a:solidFill>
                          <a:latin typeface="Arial" pitchFamily="34" charset="0"/>
                          <a:ea typeface="Arial" pitchFamily="34" charset="-122"/>
                          <a:cs typeface="Arial" pitchFamily="34" charset="-120"/>
                        </a:rPr>
                        <a:t>Sensor after action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Tests, type checks and linters</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Rubric review or LLM judge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bl>
          </a:graphicData>
        </a:graphic>
      </p:graphicFrame>
      <p:sp>
        <p:nvSpPr>
          <p:cNvPr id="5" name="Text 1"/>
          <p:cNvSpPr txBox="1"/>
          <p:nvPr/>
        </p:nvSpPr>
        <p:spPr>
          <a:xfrm>
            <a:off x="666780" y="5333970"/>
            <a:ext cx="10668030" cy="714421"/>
          </a:xfrm>
          <a:prstGeom prst="rect">
            <a:avLst/>
          </a:prstGeom>
          <a:noFill/>
          <a:ln/>
        </p:spPr>
        <p:txBody>
          <a:bodyPr wrap="square" rtlCol="0" anchor="t"/>
          <a:lstStyle/>
          <a:p>
            <a:pPr indent="0" marL="0">
              <a:buNone/>
            </a:pPr>
            <a:r>
              <a:rPr lang="en-US" sz="2175" dirty="0">
                <a:solidFill>
                  <a:srgbClr val="54685D"/>
                </a:solidFill>
                <a:latin typeface="Arial" pitchFamily="34" charset="0"/>
                <a:ea typeface="Arial" pitchFamily="34" charset="-122"/>
                <a:cs typeface="Arial" pitchFamily="34" charset="-120"/>
              </a:rPr>
              <a:t>Useful feedback tells the agent what failed and what evidence to inspect.</a:t>
            </a:r>
            <a:endParaRPr lang="en-US" sz="217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Observability and orchestration</a:t>
            </a:r>
            <a:endParaRPr lang="en-US" sz="3300" dirty="0"/>
          </a:p>
        </p:txBody>
      </p:sp>
      <p:sp>
        <p:nvSpPr>
          <p:cNvPr id="4" name="Text 1"/>
          <p:cNvSpPr txBox="1"/>
          <p:nvPr/>
        </p:nvSpPr>
        <p:spPr>
          <a:xfrm>
            <a:off x="666780" y="1904970"/>
            <a:ext cx="5095860" cy="523860"/>
          </a:xfrm>
          <a:prstGeom prst="rect">
            <a:avLst/>
          </a:prstGeom>
          <a:noFill/>
          <a:ln/>
        </p:spPr>
        <p:txBody>
          <a:bodyPr wrap="square" rtlCol="0" anchor="t"/>
          <a:lstStyle/>
          <a:p>
            <a:pPr indent="0" marL="0">
              <a:buNone/>
            </a:pPr>
            <a:r>
              <a:rPr lang="en-US" sz="2475" b="1" dirty="0">
                <a:solidFill>
                  <a:srgbClr val="174B91"/>
                </a:solidFill>
                <a:latin typeface="Arial" pitchFamily="34" charset="0"/>
                <a:ea typeface="Arial" pitchFamily="34" charset="-122"/>
                <a:cs typeface="Arial" pitchFamily="34" charset="-120"/>
              </a:rPr>
              <a:t>Observability and evals</a:t>
            </a:r>
            <a:endParaRPr lang="en-US" sz="2475" dirty="0"/>
          </a:p>
        </p:txBody>
      </p:sp>
      <p:sp>
        <p:nvSpPr>
          <p:cNvPr id="5" name="Text 2"/>
          <p:cNvSpPr txBox="1"/>
          <p:nvPr/>
        </p:nvSpPr>
        <p:spPr>
          <a:xfrm>
            <a:off x="666780" y="2667030"/>
            <a:ext cx="4953030" cy="2428921"/>
          </a:xfrm>
          <a:prstGeom prst="rect">
            <a:avLst/>
          </a:prstGeom>
          <a:noFill/>
          <a:ln/>
        </p:spPr>
        <p:txBody>
          <a:bodyPr wrap="square" rtlCol="0" anchor="t"/>
          <a:lstStyle/>
          <a:p>
            <a:pPr indent="0" marL="0">
              <a:buNone/>
            </a:pPr>
            <a:r>
              <a:rPr lang="en-US" sz="2100" dirty="0">
                <a:solidFill>
                  <a:srgbClr val="174535"/>
                </a:solidFill>
                <a:latin typeface="Arial" pitchFamily="34" charset="0"/>
                <a:ea typeface="Arial" pitchFamily="34" charset="-122"/>
                <a:cs typeface="Arial" pitchFamily="34" charset="-120"/>
              </a:rPr>
              <a:t>Record requests, tool results, checks and failures.</a:t>
            </a:r>
            <a:endParaRPr lang="en-US" sz="2100" dirty="0"/>
          </a:p>
          <a:p>
            <a:pPr indent="0" marL="0">
              <a:buNone/>
            </a:pPr>
            <a:endParaRPr lang="en-US" sz="2100" dirty="0"/>
          </a:p>
          <a:p>
            <a:pPr indent="0" marL="0">
              <a:buNone/>
            </a:pPr>
            <a:r>
              <a:rPr lang="en-US" sz="2100" dirty="0">
                <a:solidFill>
                  <a:srgbClr val="174535"/>
                </a:solidFill>
                <a:latin typeface="Arial" pitchFamily="34" charset="0"/>
                <a:ea typeface="Arial" pitchFamily="34" charset="-122"/>
                <a:cs typeface="Arial" pitchFamily="34" charset="-120"/>
              </a:rPr>
              <a:t>Compare outcome, steps, tokens and time across repeated tasks.</a:t>
            </a:r>
            <a:endParaRPr lang="en-US" sz="2100" dirty="0"/>
          </a:p>
        </p:txBody>
      </p:sp>
      <p:sp>
        <p:nvSpPr>
          <p:cNvPr id="6" name="Text 3"/>
          <p:cNvSpPr txBox="1"/>
          <p:nvPr/>
        </p:nvSpPr>
        <p:spPr>
          <a:xfrm>
            <a:off x="6476970" y="1904970"/>
            <a:ext cx="5048220" cy="523860"/>
          </a:xfrm>
          <a:prstGeom prst="rect">
            <a:avLst/>
          </a:prstGeom>
          <a:noFill/>
          <a:ln/>
        </p:spPr>
        <p:txBody>
          <a:bodyPr wrap="square" rtlCol="0" anchor="t"/>
          <a:lstStyle/>
          <a:p>
            <a:pPr indent="0" marL="0">
              <a:buNone/>
            </a:pPr>
            <a:r>
              <a:rPr lang="en-US" sz="2475" b="1" dirty="0">
                <a:solidFill>
                  <a:srgbClr val="174B91"/>
                </a:solidFill>
                <a:latin typeface="Arial" pitchFamily="34" charset="0"/>
                <a:ea typeface="Arial" pitchFamily="34" charset="-122"/>
                <a:cs typeface="Arial" pitchFamily="34" charset="-120"/>
              </a:rPr>
              <a:t>Orchestration</a:t>
            </a:r>
            <a:endParaRPr lang="en-US" sz="2475" dirty="0"/>
          </a:p>
        </p:txBody>
      </p:sp>
      <p:sp>
        <p:nvSpPr>
          <p:cNvPr id="7" name="Text 4"/>
          <p:cNvSpPr txBox="1"/>
          <p:nvPr/>
        </p:nvSpPr>
        <p:spPr>
          <a:xfrm>
            <a:off x="6476970" y="2667030"/>
            <a:ext cx="4857750" cy="2428921"/>
          </a:xfrm>
          <a:prstGeom prst="rect">
            <a:avLst/>
          </a:prstGeom>
          <a:noFill/>
          <a:ln/>
        </p:spPr>
        <p:txBody>
          <a:bodyPr wrap="square" rtlCol="0" anchor="t"/>
          <a:lstStyle/>
          <a:p>
            <a:pPr indent="0" marL="0">
              <a:buNone/>
            </a:pPr>
            <a:r>
              <a:rPr lang="en-US" sz="2100" dirty="0">
                <a:solidFill>
                  <a:srgbClr val="174535"/>
                </a:solidFill>
                <a:latin typeface="Arial" pitchFamily="34" charset="0"/>
                <a:ea typeface="Arial" pitchFamily="34" charset="-122"/>
                <a:cs typeface="Arial" pitchFamily="34" charset="-120"/>
              </a:rPr>
              <a:t>Split work when roles or isolation help.</a:t>
            </a:r>
            <a:endParaRPr lang="en-US" sz="2100" dirty="0"/>
          </a:p>
          <a:p>
            <a:pPr indent="0" marL="0">
              <a:buNone/>
            </a:pPr>
            <a:endParaRPr lang="en-US" sz="2100" dirty="0"/>
          </a:p>
          <a:p>
            <a:pPr indent="0" marL="0">
              <a:buNone/>
            </a:pPr>
            <a:r>
              <a:rPr lang="en-US" sz="2100" dirty="0">
                <a:solidFill>
                  <a:srgbClr val="174535"/>
                </a:solidFill>
                <a:latin typeface="Arial" pitchFamily="34" charset="0"/>
                <a:ea typeface="Arial" pitchFamily="34" charset="-122"/>
                <a:cs typeface="Arial" pitchFamily="34" charset="-120"/>
              </a:rPr>
              <a:t>Use clear ownership, handoffs and shared-state rules.</a:t>
            </a:r>
            <a:endParaRPr lang="en-US" sz="2100" dirty="0"/>
          </a:p>
        </p:txBody>
      </p:sp>
      <p:sp>
        <p:nvSpPr>
          <p:cNvPr id="8" name="Text 5"/>
          <p:cNvSpPr txBox="1"/>
          <p:nvPr/>
        </p:nvSpPr>
        <p:spPr>
          <a:xfrm>
            <a:off x="666780" y="5667360"/>
            <a:ext cx="10668030" cy="523860"/>
          </a:xfrm>
          <a:prstGeom prst="rect">
            <a:avLst/>
          </a:prstGeom>
          <a:noFill/>
          <a:ln/>
        </p:spPr>
        <p:txBody>
          <a:bodyPr wrap="square" rtlCol="0" anchor="t"/>
          <a:lstStyle/>
          <a:p>
            <a:pPr indent="0" marL="0">
              <a:buNone/>
            </a:pPr>
            <a:r>
              <a:rPr lang="en-US" sz="2025" dirty="0">
                <a:solidFill>
                  <a:srgbClr val="54685D"/>
                </a:solidFill>
                <a:latin typeface="Arial" pitchFamily="34" charset="0"/>
                <a:ea typeface="Arial" pitchFamily="34" charset="-122"/>
                <a:cs typeface="Arial" pitchFamily="34" charset="-120"/>
              </a:rPr>
              <a:t>This demo records both runs and uses one coding agent per run.</a:t>
            </a:r>
            <a:endParaRPr lang="en-US" sz="20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Harness engineering as a practice</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Observe and diagnose</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Read the trace and identify the missing information, action or check.</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Encode a durable change</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Update a rule, tool, project document, test or runtime control.</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Measure and revise</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Re-run comparable tasks and check quality, overhead and new failure modes.</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Examples from engineering teams</a:t>
            </a:r>
            <a:endParaRPr lang="en-US" sz="3300" dirty="0"/>
          </a:p>
        </p:txBody>
      </p:sp>
      <p:sp>
        <p:nvSpPr>
          <p:cNvPr id="4" name="Text 1"/>
          <p:cNvSpPr txBox="1"/>
          <p:nvPr/>
        </p:nvSpPr>
        <p:spPr>
          <a:xfrm>
            <a:off x="666780" y="1828800"/>
            <a:ext cx="4857750" cy="476220"/>
          </a:xfrm>
          <a:prstGeom prst="rect">
            <a:avLst/>
          </a:prstGeom>
          <a:noFill/>
          <a:ln/>
        </p:spPr>
        <p:txBody>
          <a:bodyPr wrap="square" rtlCol="0" anchor="t"/>
          <a:lstStyle/>
          <a:p>
            <a:pPr indent="0" marL="0">
              <a:buNone/>
            </a:pPr>
            <a:r>
              <a:rPr lang="en-US" sz="2550" b="1" dirty="0">
                <a:solidFill>
                  <a:srgbClr val="174B91"/>
                </a:solidFill>
                <a:latin typeface="Arial" pitchFamily="34" charset="0"/>
                <a:ea typeface="Arial" pitchFamily="34" charset="-122"/>
                <a:cs typeface="Arial" pitchFamily="34" charset="-120"/>
              </a:rPr>
              <a:t>Anthropic</a:t>
            </a:r>
            <a:endParaRPr lang="en-US" sz="2550" dirty="0"/>
          </a:p>
        </p:txBody>
      </p:sp>
      <p:sp>
        <p:nvSpPr>
          <p:cNvPr id="5" name="Text 2"/>
          <p:cNvSpPr txBox="1"/>
          <p:nvPr/>
        </p:nvSpPr>
        <p:spPr>
          <a:xfrm>
            <a:off x="666780" y="2571750"/>
            <a:ext cx="4857750" cy="200025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An initializer prepares the environment. Coding sessions leave progress artifacts and Git history for the next session.</a:t>
            </a:r>
            <a:endParaRPr lang="en-US" sz="2175" dirty="0"/>
          </a:p>
        </p:txBody>
      </p:sp>
      <p:sp>
        <p:nvSpPr>
          <p:cNvPr id="6" name="Text 3"/>
          <p:cNvSpPr txBox="1"/>
          <p:nvPr/>
        </p:nvSpPr>
        <p:spPr>
          <a:xfrm>
            <a:off x="6476970" y="1828800"/>
            <a:ext cx="4857750" cy="476220"/>
          </a:xfrm>
          <a:prstGeom prst="rect">
            <a:avLst/>
          </a:prstGeom>
          <a:noFill/>
          <a:ln/>
        </p:spPr>
        <p:txBody>
          <a:bodyPr wrap="square" rtlCol="0" anchor="t"/>
          <a:lstStyle/>
          <a:p>
            <a:pPr indent="0" marL="0">
              <a:buNone/>
            </a:pPr>
            <a:r>
              <a:rPr lang="en-US" sz="2550" b="1" dirty="0">
                <a:solidFill>
                  <a:srgbClr val="174B91"/>
                </a:solidFill>
                <a:latin typeface="Arial" pitchFamily="34" charset="0"/>
                <a:ea typeface="Arial" pitchFamily="34" charset="-122"/>
                <a:cs typeface="Arial" pitchFamily="34" charset="-120"/>
              </a:rPr>
              <a:t>OpenAI</a:t>
            </a:r>
            <a:endParaRPr lang="en-US" sz="2550" dirty="0"/>
          </a:p>
        </p:txBody>
      </p:sp>
      <p:sp>
        <p:nvSpPr>
          <p:cNvPr id="7" name="Text 4"/>
          <p:cNvSpPr txBox="1"/>
          <p:nvPr/>
        </p:nvSpPr>
        <p:spPr>
          <a:xfrm>
            <a:off x="6476970" y="2571750"/>
            <a:ext cx="4857750" cy="219072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An internal project used repository documentation, enforced architecture and agent-accessible feedback to support coding work.</a:t>
            </a:r>
            <a:endParaRPr lang="en-US" sz="2175" dirty="0"/>
          </a:p>
        </p:txBody>
      </p:sp>
      <p:sp>
        <p:nvSpPr>
          <p:cNvPr id="8" name="Text 5"/>
          <p:cNvSpPr txBox="1"/>
          <p:nvPr/>
        </p:nvSpPr>
        <p:spPr>
          <a:xfrm>
            <a:off x="666780" y="5524530"/>
            <a:ext cx="10572750" cy="666780"/>
          </a:xfrm>
          <a:prstGeom prst="rect">
            <a:avLst/>
          </a:prstGeom>
          <a:noFill/>
          <a:ln/>
        </p:spPr>
        <p:txBody>
          <a:bodyPr wrap="square" rtlCol="0" anchor="t"/>
          <a:lstStyle/>
          <a:p>
            <a:pPr indent="0" marL="0">
              <a:buNone/>
            </a:pPr>
            <a:r>
              <a:rPr lang="en-US" sz="2100" dirty="0">
                <a:solidFill>
                  <a:srgbClr val="54685D"/>
                </a:solidFill>
                <a:latin typeface="Arial" pitchFamily="34" charset="0"/>
                <a:ea typeface="Arial" pitchFamily="34" charset="-122"/>
                <a:cs typeface="Arial" pitchFamily="34" charset="-120"/>
              </a:rPr>
              <a:t>Shared lesson: the working environment needs deliberate engineering.</a:t>
            </a:r>
            <a:endParaRPr lang="en-US" sz="21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Failures and useful controls</a:t>
            </a:r>
            <a:endParaRPr lang="en-US" sz="3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19140" y="1733520"/>
          <a:ext cx="10953780" cy="914400"/>
        </p:xfrm>
        <a:graphic>
          <a:graphicData uri="http://schemas.openxmlformats.org/drawingml/2006/table">
            <a:tbl>
              <a:tblPr/>
              <a:tblGrid>
                <a:gridCol w="5476890"/>
                <a:gridCol w="5476890"/>
              </a:tblGrid>
              <a:tr h="666780">
                <a:tc>
                  <a:txBody>
                    <a:bodyPr/>
                    <a:lstStyle/>
                    <a:p>
                      <a:pPr indent="0" marL="0">
                        <a:buNone/>
                      </a:pPr>
                      <a:r>
                        <a:rPr lang="en-US" sz="1875" b="1" dirty="0">
                          <a:solidFill>
                            <a:srgbClr val="FFFFFF"/>
                          </a:solidFill>
                          <a:latin typeface="Arial" pitchFamily="34" charset="0"/>
                          <a:ea typeface="Arial" pitchFamily="34" charset="-122"/>
                          <a:cs typeface="Arial" pitchFamily="34" charset="-120"/>
                        </a:rPr>
                        <a:t>Observed failure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75" b="1" dirty="0">
                          <a:solidFill>
                            <a:srgbClr val="FFFFFF"/>
                          </a:solidFill>
                          <a:latin typeface="Arial" pitchFamily="34" charset="0"/>
                          <a:ea typeface="Arial" pitchFamily="34" charset="-122"/>
                          <a:cs typeface="Arial" pitchFamily="34" charset="-120"/>
                        </a:rPr>
                        <a:t>Candidate control</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r>
              <a:tr h="666780">
                <a:tc>
                  <a:txBody>
                    <a:bodyPr/>
                    <a:lstStyle/>
                    <a:p>
                      <a:pPr indent="0" marL="0">
                        <a:buNone/>
                      </a:pPr>
                      <a:r>
                        <a:rPr lang="en-US" sz="1875" dirty="0">
                          <a:solidFill>
                            <a:srgbClr val="174535"/>
                          </a:solidFill>
                          <a:latin typeface="Arial" pitchFamily="34" charset="0"/>
                          <a:ea typeface="Arial" pitchFamily="34" charset="-122"/>
                          <a:cs typeface="Arial" pitchFamily="34" charset="-120"/>
                        </a:rPr>
                        <a:t>Repeated investigation after restart</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Saved progress and revision evidence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666780">
                <a:tc>
                  <a:txBody>
                    <a:bodyPr/>
                    <a:lstStyle/>
                    <a:p>
                      <a:pPr indent="0" marL="0">
                        <a:buNone/>
                      </a:pPr>
                      <a:r>
                        <a:rPr lang="en-US" sz="1875" dirty="0">
                          <a:solidFill>
                            <a:srgbClr val="174535"/>
                          </a:solidFill>
                          <a:latin typeface="Arial" pitchFamily="34" charset="0"/>
                          <a:ea typeface="Arial" pitchFamily="34" charset="-122"/>
                          <a:cs typeface="Arial" pitchFamily="34" charset="-120"/>
                        </a:rPr>
                        <a:t>Completion with a broken behavior</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Protected tests and a completion gate</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r h="666780">
                <a:tc>
                  <a:txBody>
                    <a:bodyPr/>
                    <a:lstStyle/>
                    <a:p>
                      <a:pPr indent="0" marL="0">
                        <a:buNone/>
                      </a:pPr>
                      <a:r>
                        <a:rPr lang="en-US" sz="1875" dirty="0">
                          <a:solidFill>
                            <a:srgbClr val="174535"/>
                          </a:solidFill>
                          <a:latin typeface="Arial" pitchFamily="34" charset="0"/>
                          <a:ea typeface="Arial" pitchFamily="34" charset="-122"/>
                          <a:cs typeface="Arial" pitchFamily="34" charset="-120"/>
                        </a:rPr>
                        <a:t>Too much irrelevant context</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Selective loading and compact tool output</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666780">
                <a:tc>
                  <a:txBody>
                    <a:bodyPr/>
                    <a:lstStyle/>
                    <a:p>
                      <a:pPr indent="0" marL="0">
                        <a:buNone/>
                      </a:pPr>
                      <a:r>
                        <a:rPr lang="en-US" sz="1875" dirty="0">
                          <a:solidFill>
                            <a:srgbClr val="174535"/>
                          </a:solidFill>
                          <a:latin typeface="Arial" pitchFamily="34" charset="0"/>
                          <a:ea typeface="Arial" pitchFamily="34" charset="-122"/>
                          <a:cs typeface="Arial" pitchFamily="34" charset="-120"/>
                        </a:rPr>
                        <a:t>Unwanted publication</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Revision-bound approval</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r h="666780">
                <a:tc>
                  <a:txBody>
                    <a:bodyPr/>
                    <a:lstStyle/>
                    <a:p>
                      <a:pPr indent="0" marL="0">
                        <a:buNone/>
                      </a:pPr>
                      <a:r>
                        <a:rPr lang="en-US" sz="1875" dirty="0">
                          <a:solidFill>
                            <a:srgbClr val="174535"/>
                          </a:solidFill>
                          <a:latin typeface="Arial" pitchFamily="34" charset="0"/>
                          <a:ea typeface="Arial" pitchFamily="34" charset="-122"/>
                          <a:cs typeface="Arial" pitchFamily="34" charset="-120"/>
                        </a:rPr>
                        <a:t>Conflicting changes across agents</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75" dirty="0">
                          <a:solidFill>
                            <a:srgbClr val="174535"/>
                          </a:solidFill>
                          <a:latin typeface="Arial" pitchFamily="34" charset="0"/>
                          <a:ea typeface="Arial" pitchFamily="34" charset="-122"/>
                          <a:cs typeface="Arial" pitchFamily="34" charset="-120"/>
                        </a:rPr>
                        <a:t>Ownership and handoff rules</a:t>
                      </a:r>
                      <a:endParaRPr lang="en-US" sz="1875"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Design principles</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Start with a useful, small workflow</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Add components in response to observed needs.</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Make knowledge and acceptance explicit</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Keep project rules accessible and checks executable.</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Keep feedback actionable and review changes</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Measure overhead and re-audit scaffolding as models improve.</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The disappearing draft and four traps</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sp>
        <p:nvSpPr>
          <p:cNvPr id="5" name="Text 2"/>
          <p:cNvSpPr txBox="1"/>
          <p:nvPr/>
        </p:nvSpPr>
        <p:spPr>
          <a:xfrm>
            <a:off x="666780" y="1428750"/>
            <a:ext cx="7429500" cy="428671"/>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Three screens: Draft, My notes and Backup.</a:t>
            </a:r>
            <a:endParaRPr lang="en-US" sz="2100" dirty="0"/>
          </a:p>
        </p:txBody>
      </p:sp>
      <p:sp>
        <p:nvSpPr>
          <p:cNvPr id="6" name="Text 3"/>
          <p:cNvSpPr txBox="1"/>
          <p:nvPr/>
        </p:nvSpPr>
        <p:spPr>
          <a:xfrm>
            <a:off x="666780" y="1904970"/>
            <a:ext cx="7429500" cy="1000171"/>
          </a:xfrm>
          <a:prstGeom prst="rect">
            <a:avLst/>
          </a:prstGeom>
          <a:noFill/>
          <a:ln/>
        </p:spPr>
        <p:txBody>
          <a:bodyPr wrap="square" rtlCol="0" anchor="t"/>
          <a:lstStyle/>
          <a:p>
            <a:pPr indent="0" marL="0">
              <a:buNone/>
            </a:pPr>
            <a:r>
              <a:rPr lang="en-US" sz="1950" dirty="0">
                <a:solidFill>
                  <a:srgbClr val="174535"/>
                </a:solidFill>
                <a:latin typeface="Arial" pitchFamily="34" charset="0"/>
                <a:ea typeface="Arial" pitchFamily="34" charset="-122"/>
                <a:cs typeface="Arial" pitchFamily="34" charset="-120"/>
              </a:rPr>
              <a:t>Type a draft, switch to My notes and back: it is gone. Refresh: gone again. Backup lists saved notes as JSON and says unsaved drafts are never included.</a:t>
            </a:r>
            <a:endParaRPr lang="en-US" sz="1950" dirty="0"/>
          </a:p>
        </p:txBody>
      </p:sp>
      <p:sp>
        <p:nvSpPr>
          <p:cNvPr id="7" name="Text 4"/>
          <p:cNvSpPr txBox="1"/>
          <p:nvPr/>
        </p:nvSpPr>
        <p:spPr>
          <a:xfrm>
            <a:off x="666780" y="3028950"/>
            <a:ext cx="7429500" cy="381030"/>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Four ways a correct-looking patch is wrong</a:t>
            </a:r>
            <a:endParaRPr lang="en-US" sz="2100" dirty="0"/>
          </a:p>
        </p:txBody>
      </p:sp>
      <p:sp>
        <p:nvSpPr>
          <p:cNvPr id="8" name="Text 5"/>
          <p:cNvSpPr txBox="1"/>
          <p:nvPr/>
        </p:nvSpPr>
        <p:spPr>
          <a:xfrm>
            <a:off x="714421" y="3476640"/>
            <a:ext cx="571500" cy="38103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01</a:t>
            </a:r>
            <a:endParaRPr lang="en-US" sz="2025" dirty="0"/>
          </a:p>
        </p:txBody>
      </p:sp>
      <p:sp>
        <p:nvSpPr>
          <p:cNvPr id="9" name="Text 6"/>
          <p:cNvSpPr txBox="1"/>
          <p:nvPr/>
        </p:nvSpPr>
        <p:spPr>
          <a:xfrm>
            <a:off x="1285921" y="3476640"/>
            <a:ext cx="6096030" cy="381030"/>
          </a:xfrm>
          <a:prstGeom prst="rect">
            <a:avLst/>
          </a:prstGeom>
          <a:noFill/>
          <a:ln/>
        </p:spPr>
        <p:txBody>
          <a:bodyPr wrap="square" rtlCol="0" anchor="t"/>
          <a:lstStyle/>
          <a:p>
            <a:pPr indent="0" marL="0">
              <a:buNone/>
            </a:pPr>
            <a:r>
              <a:rPr lang="en-US" sz="2250" b="1" dirty="0">
                <a:solidFill>
                  <a:srgbClr val="174535"/>
                </a:solidFill>
                <a:latin typeface="Arial" pitchFamily="34" charset="0"/>
                <a:ea typeface="Arial" pitchFamily="34" charset="-122"/>
                <a:cs typeface="Arial" pitchFamily="34" charset="-120"/>
              </a:rPr>
              <a:t>The backup leaks the draft</a:t>
            </a:r>
            <a:endParaRPr lang="en-US" sz="2250" dirty="0"/>
          </a:p>
        </p:txBody>
      </p:sp>
      <p:sp>
        <p:nvSpPr>
          <p:cNvPr id="10" name="Text 7"/>
          <p:cNvSpPr txBox="1"/>
          <p:nvPr/>
        </p:nvSpPr>
        <p:spPr>
          <a:xfrm>
            <a:off x="714421" y="4029121"/>
            <a:ext cx="571500" cy="38103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02</a:t>
            </a:r>
            <a:endParaRPr lang="en-US" sz="2025" dirty="0"/>
          </a:p>
        </p:txBody>
      </p:sp>
      <p:sp>
        <p:nvSpPr>
          <p:cNvPr id="11" name="Text 8"/>
          <p:cNvSpPr txBox="1"/>
          <p:nvPr/>
        </p:nvSpPr>
        <p:spPr>
          <a:xfrm>
            <a:off x="1285921" y="4029121"/>
            <a:ext cx="6096030" cy="381030"/>
          </a:xfrm>
          <a:prstGeom prst="rect">
            <a:avLst/>
          </a:prstGeom>
          <a:noFill/>
          <a:ln/>
        </p:spPr>
        <p:txBody>
          <a:bodyPr wrap="square" rtlCol="0" anchor="t"/>
          <a:lstStyle/>
          <a:p>
            <a:pPr indent="0" marL="0">
              <a:buNone/>
            </a:pPr>
            <a:r>
              <a:rPr lang="en-US" sz="2250" b="1" dirty="0">
                <a:solidFill>
                  <a:srgbClr val="174535"/>
                </a:solidFill>
                <a:latin typeface="Arial" pitchFamily="34" charset="0"/>
                <a:ea typeface="Arial" pitchFamily="34" charset="-122"/>
                <a:cs typeface="Arial" pitchFamily="34" charset="-120"/>
              </a:rPr>
              <a:t>Existing users lose their notes</a:t>
            </a:r>
            <a:endParaRPr lang="en-US" sz="2250" dirty="0"/>
          </a:p>
        </p:txBody>
      </p:sp>
      <p:sp>
        <p:nvSpPr>
          <p:cNvPr id="12" name="Text 9"/>
          <p:cNvSpPr txBox="1"/>
          <p:nvPr/>
        </p:nvSpPr>
        <p:spPr>
          <a:xfrm>
            <a:off x="714421" y="4581510"/>
            <a:ext cx="571500" cy="38103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03</a:t>
            </a:r>
            <a:endParaRPr lang="en-US" sz="2025" dirty="0"/>
          </a:p>
        </p:txBody>
      </p:sp>
      <p:sp>
        <p:nvSpPr>
          <p:cNvPr id="13" name="Text 10"/>
          <p:cNvSpPr txBox="1"/>
          <p:nvPr/>
        </p:nvSpPr>
        <p:spPr>
          <a:xfrm>
            <a:off x="1285921" y="4581510"/>
            <a:ext cx="6096030" cy="381030"/>
          </a:xfrm>
          <a:prstGeom prst="rect">
            <a:avLst/>
          </a:prstGeom>
          <a:noFill/>
          <a:ln/>
        </p:spPr>
        <p:txBody>
          <a:bodyPr wrap="square" rtlCol="0" anchor="t"/>
          <a:lstStyle/>
          <a:p>
            <a:pPr indent="0" marL="0">
              <a:buNone/>
            </a:pPr>
            <a:r>
              <a:rPr lang="en-US" sz="2250" b="1" dirty="0">
                <a:solidFill>
                  <a:srgbClr val="174535"/>
                </a:solidFill>
                <a:latin typeface="Arial" pitchFamily="34" charset="0"/>
                <a:ea typeface="Arial" pitchFamily="34" charset="-122"/>
                <a:cs typeface="Arial" pitchFamily="34" charset="-120"/>
              </a:rPr>
              <a:t>Restored text becomes markup</a:t>
            </a:r>
            <a:endParaRPr lang="en-US" sz="2250" dirty="0"/>
          </a:p>
        </p:txBody>
      </p:sp>
      <p:sp>
        <p:nvSpPr>
          <p:cNvPr id="14" name="Text 11"/>
          <p:cNvSpPr txBox="1"/>
          <p:nvPr/>
        </p:nvSpPr>
        <p:spPr>
          <a:xfrm>
            <a:off x="714421" y="5133990"/>
            <a:ext cx="571500" cy="381030"/>
          </a:xfrm>
          <a:prstGeom prst="rect">
            <a:avLst/>
          </a:prstGeom>
          <a:noFill/>
          <a:ln/>
        </p:spPr>
        <p:txBody>
          <a:bodyPr wrap="square" rtlCol="0" anchor="t"/>
          <a:lstStyle/>
          <a:p>
            <a:pPr indent="0" marL="0">
              <a:buNone/>
            </a:pPr>
            <a:r>
              <a:rPr lang="en-US" sz="2025" b="1" dirty="0">
                <a:solidFill>
                  <a:srgbClr val="E87924"/>
                </a:solidFill>
                <a:latin typeface="Arial" pitchFamily="34" charset="0"/>
                <a:ea typeface="Arial" pitchFamily="34" charset="-122"/>
                <a:cs typeface="Arial" pitchFamily="34" charset="-120"/>
              </a:rPr>
              <a:t>04</a:t>
            </a:r>
            <a:endParaRPr lang="en-US" sz="2025" dirty="0"/>
          </a:p>
        </p:txBody>
      </p:sp>
      <p:sp>
        <p:nvSpPr>
          <p:cNvPr id="15" name="Text 12"/>
          <p:cNvSpPr txBox="1"/>
          <p:nvPr/>
        </p:nvSpPr>
        <p:spPr>
          <a:xfrm>
            <a:off x="1285921" y="5133990"/>
            <a:ext cx="6096030" cy="381030"/>
          </a:xfrm>
          <a:prstGeom prst="rect">
            <a:avLst/>
          </a:prstGeom>
          <a:noFill/>
          <a:ln/>
        </p:spPr>
        <p:txBody>
          <a:bodyPr wrap="square" rtlCol="0" anchor="t"/>
          <a:lstStyle/>
          <a:p>
            <a:pPr indent="0" marL="0">
              <a:buNone/>
            </a:pPr>
            <a:r>
              <a:rPr lang="en-US" sz="2250" b="1" dirty="0">
                <a:solidFill>
                  <a:srgbClr val="174535"/>
                </a:solidFill>
                <a:latin typeface="Arial" pitchFamily="34" charset="0"/>
                <a:ea typeface="Arial" pitchFamily="34" charset="-122"/>
                <a:cs typeface="Arial" pitchFamily="34" charset="-120"/>
              </a:rPr>
              <a:t>Automation test ids disappear</a:t>
            </a:r>
            <a:endParaRPr lang="en-US" sz="2250" dirty="0"/>
          </a:p>
        </p:txBody>
      </p:sp>
      <p:sp>
        <p:nvSpPr>
          <p:cNvPr id="16" name="Text 13"/>
          <p:cNvSpPr txBox="1"/>
          <p:nvPr/>
        </p:nvSpPr>
        <p:spPr>
          <a:xfrm>
            <a:off x="666780" y="5715000"/>
            <a:ext cx="7429500" cy="38103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Four of the five held-out checks. No agent ever sees them.</a:t>
            </a:r>
            <a:endParaRPr lang="en-US" sz="1800" dirty="0"/>
          </a:p>
        </p:txBody>
      </p:sp>
      <p:pic>
        <p:nvPicPr>
          <p:cNvPr id="17" name="Image 0" descr="fixture backup production">    </p:cNvPr>
          <p:cNvPicPr>
            <a:picLocks noChangeAspect="1"/>
          </p:cNvPicPr>
          <p:nvPr/>
        </p:nvPicPr>
        <p:blipFill>
          <a:blip r:embed="rId1"/>
          <a:stretch>
            <a:fillRect/>
          </a:stretch>
        </p:blipFill>
        <p:spPr>
          <a:xfrm>
            <a:off x="8961852" y="1428750"/>
            <a:ext cx="2040666" cy="4286250"/>
          </a:xfrm>
          <a:prstGeom prst="rect">
            <a:avLst/>
          </a:prstGeom>
        </p:spPr>
      </p:pic>
      <p:sp>
        <p:nvSpPr>
          <p:cNvPr id="18" name="Text 14"/>
          <p:cNvSpPr txBox="1"/>
          <p:nvPr/>
        </p:nvSpPr>
        <p:spPr>
          <a:xfrm>
            <a:off x="8382030" y="5772150"/>
            <a:ext cx="3200400" cy="57150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Starting app on the production phone of run d13b50fa (original build) · 26 Oct 2026 · dashboard screenshot 27 Oct 2026</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Minimal: two components and what it was told</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minimal anatomy">    </p:cNvPr>
          <p:cNvPicPr>
            <a:picLocks noChangeAspect="1"/>
          </p:cNvPicPr>
          <p:nvPr/>
        </p:nvPicPr>
        <p:blipFill>
          <a:blip r:embed="rId1"/>
          <a:stretch>
            <a:fillRect/>
          </a:stretch>
        </p:blipFill>
        <p:spPr>
          <a:xfrm>
            <a:off x="609630" y="1428750"/>
            <a:ext cx="6572250" cy="1897380"/>
          </a:xfrm>
          <a:prstGeom prst="rect">
            <a:avLst/>
          </a:prstGeom>
        </p:spPr>
      </p:pic>
      <p:sp>
        <p:nvSpPr>
          <p:cNvPr id="6" name="Text 2"/>
          <p:cNvSpPr txBox="1"/>
          <p:nvPr/>
        </p:nvSpPr>
        <p:spPr>
          <a:xfrm>
            <a:off x="666780" y="3543300"/>
            <a:ext cx="6572250" cy="342900"/>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Blue means enabled. Gray means off.</a:t>
            </a:r>
            <a:endParaRPr lang="en-US" sz="2100" dirty="0"/>
          </a:p>
        </p:txBody>
      </p:sp>
      <p:sp>
        <p:nvSpPr>
          <p:cNvPr id="7" name="Text 3"/>
          <p:cNvSpPr txBox="1"/>
          <p:nvPr/>
        </p:nvSpPr>
        <p:spPr>
          <a:xfrm>
            <a:off x="666780" y="3924330"/>
            <a:ext cx="6572250" cy="666780"/>
          </a:xfrm>
          <a:prstGeom prst="rect">
            <a:avLst/>
          </a:prstGeom>
          <a:noFill/>
          <a:ln/>
        </p:spPr>
        <p:txBody>
          <a:bodyPr wrap="square" rtlCol="0" anchor="t"/>
          <a:lstStyle/>
          <a:p>
            <a:pPr indent="0" marL="0">
              <a:buNone/>
            </a:pPr>
            <a:r>
              <a:rPr lang="en-US" sz="1800" dirty="0">
                <a:solidFill>
                  <a:srgbClr val="174535"/>
                </a:solidFill>
                <a:latin typeface="Arial" pitchFamily="34" charset="0"/>
                <a:ea typeface="Arial" pitchFamily="34" charset="-122"/>
                <a:cs typeface="Arial" pitchFamily="34" charset="-120"/>
              </a:rPr>
              <a:t>Agent loop and Tools &amp; sandbox are on. Same task text, starting files, tool schemas and budgets as Engineered.</a:t>
            </a:r>
            <a:endParaRPr lang="en-US" sz="1800" dirty="0"/>
          </a:p>
        </p:txBody>
      </p:sp>
      <p:sp>
        <p:nvSpPr>
          <p:cNvPr id="8" name="Text 4"/>
          <p:cNvSpPr txBox="1"/>
          <p:nvPr/>
        </p:nvSpPr>
        <p:spPr>
          <a:xfrm>
            <a:off x="666780" y="4686300"/>
            <a:ext cx="6572250" cy="761970"/>
          </a:xfrm>
          <a:prstGeom prst="rect">
            <a:avLst/>
          </a:prstGeom>
          <a:noFill/>
          <a:ln/>
        </p:spPr>
        <p:txBody>
          <a:bodyPr wrap="square" rtlCol="0" anchor="t"/>
          <a:lstStyle/>
          <a:p>
            <a:pPr indent="0" marL="0">
              <a:buNone/>
            </a:pPr>
            <a:r>
              <a:rPr lang="en-US" sz="1800" b="1" dirty="0">
                <a:solidFill>
                  <a:srgbClr val="E87924"/>
                </a:solidFill>
                <a:latin typeface="Arial" pitchFamily="34" charset="0"/>
                <a:ea typeface="Arial" pitchFamily="34" charset="-122"/>
                <a:cs typeface="Arial" pitchFamily="34" charset="-120"/>
              </a:rPr>
              <a:t>Recorded outcome: Budget reached after 24 model calls. A patch that passed every check, never submitted. Nothing published.</a:t>
            </a:r>
            <a:endParaRPr lang="en-US" sz="1800" dirty="0"/>
          </a:p>
        </p:txBody>
      </p:sp>
      <p:pic>
        <p:nvPicPr>
          <p:cNvPr id="9" name="Image 1" descr="inputs minimal column">    </p:cNvPr>
          <p:cNvPicPr>
            <a:picLocks noChangeAspect="1"/>
          </p:cNvPicPr>
          <p:nvPr/>
        </p:nvPicPr>
        <p:blipFill>
          <a:blip r:embed="rId2"/>
          <a:stretch>
            <a:fillRect/>
          </a:stretch>
        </p:blipFill>
        <p:spPr>
          <a:xfrm>
            <a:off x="7524780" y="1428750"/>
            <a:ext cx="4026469" cy="3333720"/>
          </a:xfrm>
          <a:prstGeom prst="rect">
            <a:avLst/>
          </a:prstGeom>
        </p:spPr>
      </p:pic>
      <p:sp>
        <p:nvSpPr>
          <p:cNvPr id="10" name="Text 5"/>
          <p:cNvSpPr txBox="1"/>
          <p:nvPr/>
        </p:nvSpPr>
        <p:spPr>
          <a:xfrm>
            <a:off x="7524780" y="4838730"/>
            <a:ext cx="4057650" cy="857250"/>
          </a:xfrm>
          <a:prstGeom prst="rect">
            <a:avLst/>
          </a:prstGeom>
          <a:noFill/>
          <a:ln/>
        </p:spPr>
        <p:txBody>
          <a:bodyPr wrap="square" rtlCol="0" anchor="t"/>
          <a:lstStyle/>
          <a:p>
            <a:pPr indent="0" marL="0">
              <a:buNone/>
            </a:pPr>
            <a:r>
              <a:rPr lang="en-US" sz="1350" dirty="0">
                <a:solidFill>
                  <a:srgbClr val="174535"/>
                </a:solidFill>
                <a:latin typeface="Arial" pitchFamily="34" charset="0"/>
                <a:ea typeface="Arial" pitchFamily="34" charset="-122"/>
                <a:cs typeface="Arial" pitchFamily="34" charset="-120"/>
              </a:rPr>
              <a:t>What the Minimal agent was told: 1,102 characters of instructions and 331 of task. It may read PROJECT.md with a tool. It cannot read the PN-142 ticket.</a:t>
            </a:r>
            <a:endParaRPr lang="en-US" sz="1350" dirty="0"/>
          </a:p>
        </p:txBody>
      </p:sp>
      <p:sp>
        <p:nvSpPr>
          <p:cNvPr id="11" name="Text 6"/>
          <p:cNvSpPr txBox="1"/>
          <p:nvPr/>
        </p:nvSpPr>
        <p:spPr>
          <a:xfrm>
            <a:off x="666780" y="5857921"/>
            <a:ext cx="10287000" cy="28575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Run d13b50fa · Minimal · draft scenario · 26 Oct 2026 · dashboard screenshots 27 Oct 2026</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Production updates by itself</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minimal phones">    </p:cNvPr>
          <p:cNvPicPr>
            <a:picLocks noChangeAspect="1"/>
          </p:cNvPicPr>
          <p:nvPr/>
        </p:nvPicPr>
        <p:blipFill>
          <a:blip r:embed="rId1"/>
          <a:stretch>
            <a:fillRect/>
          </a:stretch>
        </p:blipFill>
        <p:spPr>
          <a:xfrm>
            <a:off x="609630" y="1428750"/>
            <a:ext cx="3705240" cy="3810030"/>
          </a:xfrm>
          <a:prstGeom prst="rect">
            <a:avLst/>
          </a:prstGeom>
        </p:spPr>
      </p:pic>
      <p:pic>
        <p:nvPicPr>
          <p:cNvPr id="6" name="Image 1" descr="verification phones">    </p:cNvPr>
          <p:cNvPicPr>
            <a:picLocks noChangeAspect="1"/>
          </p:cNvPicPr>
          <p:nvPr/>
        </p:nvPicPr>
        <p:blipFill>
          <a:blip r:embed="rId2"/>
          <a:stretch>
            <a:fillRect/>
          </a:stretch>
        </p:blipFill>
        <p:spPr>
          <a:xfrm>
            <a:off x="4476720" y="1428750"/>
            <a:ext cx="3612886" cy="3810030"/>
          </a:xfrm>
          <a:prstGeom prst="rect">
            <a:avLst/>
          </a:prstGeom>
        </p:spPr>
      </p:pic>
      <p:sp>
        <p:nvSpPr>
          <p:cNvPr id="7" name="Text 2"/>
          <p:cNvSpPr txBox="1"/>
          <p:nvPr/>
        </p:nvSpPr>
        <p:spPr>
          <a:xfrm>
            <a:off x="666780" y="5314950"/>
            <a:ext cx="3733770" cy="285750"/>
          </a:xfrm>
          <a:prstGeom prst="rect">
            <a:avLst/>
          </a:prstGeom>
          <a:noFill/>
          <a:ln/>
        </p:spPr>
        <p:txBody>
          <a:bodyPr wrap="square" rtlCol="0" anchor="t"/>
          <a:lstStyle/>
          <a:p>
            <a:pPr indent="0" marL="0">
              <a:buNone/>
            </a:pPr>
            <a:r>
              <a:rPr lang="en-US" sz="1425" b="1" dirty="0">
                <a:solidFill>
                  <a:srgbClr val="174B91"/>
                </a:solidFill>
                <a:latin typeface="Arial" pitchFamily="34" charset="0"/>
                <a:ea typeface="Arial" pitchFamily="34" charset="-122"/>
                <a:cs typeface="Arial" pitchFamily="34" charset="-120"/>
              </a:rPr>
              <a:t>Minimal · d13b50fa</a:t>
            </a:r>
            <a:endParaRPr lang="en-US" sz="1425" dirty="0"/>
          </a:p>
        </p:txBody>
      </p:sp>
      <p:sp>
        <p:nvSpPr>
          <p:cNvPr id="8" name="Text 3"/>
          <p:cNvSpPr txBox="1"/>
          <p:nvPr/>
        </p:nvSpPr>
        <p:spPr>
          <a:xfrm>
            <a:off x="666780" y="5581680"/>
            <a:ext cx="3733770" cy="571500"/>
          </a:xfrm>
          <a:prstGeom prst="rect">
            <a:avLst/>
          </a:prstGeom>
          <a:noFill/>
          <a:ln/>
        </p:spPr>
        <p:txBody>
          <a:bodyPr wrap="square" rtlCol="0" anchor="t"/>
          <a:lstStyle/>
          <a:p>
            <a:pPr indent="0" marL="0">
              <a:buNone/>
            </a:pPr>
            <a:r>
              <a:rPr lang="en-US" sz="1275" dirty="0">
                <a:solidFill>
                  <a:srgbClr val="174535"/>
                </a:solidFill>
                <a:latin typeface="Arial" pitchFamily="34" charset="0"/>
                <a:ea typeface="Arial" pitchFamily="34" charset="-122"/>
                <a:cs typeface="Arial" pitchFamily="34" charset="-120"/>
              </a:rPr>
              <a:t>Budget reached. Nothing published. Production still runs the original build.</a:t>
            </a:r>
            <a:endParaRPr lang="en-US" sz="1275" dirty="0"/>
          </a:p>
        </p:txBody>
      </p:sp>
      <p:sp>
        <p:nvSpPr>
          <p:cNvPr id="9" name="Text 4"/>
          <p:cNvSpPr txBox="1"/>
          <p:nvPr/>
        </p:nvSpPr>
        <p:spPr>
          <a:xfrm>
            <a:off x="4533870" y="5314950"/>
            <a:ext cx="3733770" cy="285750"/>
          </a:xfrm>
          <a:prstGeom prst="rect">
            <a:avLst/>
          </a:prstGeom>
          <a:noFill/>
          <a:ln/>
        </p:spPr>
        <p:txBody>
          <a:bodyPr wrap="square" rtlCol="0" anchor="t"/>
          <a:lstStyle/>
          <a:p>
            <a:pPr indent="0" marL="0">
              <a:buNone/>
            </a:pPr>
            <a:r>
              <a:rPr lang="en-US" sz="1425" b="1" dirty="0">
                <a:solidFill>
                  <a:srgbClr val="174B91"/>
                </a:solidFill>
                <a:latin typeface="Arial" pitchFamily="34" charset="0"/>
                <a:ea typeface="Arial" pitchFamily="34" charset="-122"/>
                <a:cs typeface="Arial" pitchFamily="34" charset="-120"/>
              </a:rPr>
              <a:t>+Verification · d017cd57</a:t>
            </a:r>
            <a:endParaRPr lang="en-US" sz="1425" dirty="0"/>
          </a:p>
        </p:txBody>
      </p:sp>
      <p:sp>
        <p:nvSpPr>
          <p:cNvPr id="10" name="Text 5"/>
          <p:cNvSpPr txBox="1"/>
          <p:nvPr/>
        </p:nvSpPr>
        <p:spPr>
          <a:xfrm>
            <a:off x="4533870" y="5581680"/>
            <a:ext cx="3733770" cy="571500"/>
          </a:xfrm>
          <a:prstGeom prst="rect">
            <a:avLst/>
          </a:prstGeom>
          <a:noFill/>
          <a:ln/>
        </p:spPr>
        <p:txBody>
          <a:bodyPr wrap="square" rtlCol="0" anchor="t"/>
          <a:lstStyle/>
          <a:p>
            <a:pPr indent="0" marL="0">
              <a:buNone/>
            </a:pPr>
            <a:r>
              <a:rPr lang="en-US" sz="1275" dirty="0">
                <a:solidFill>
                  <a:srgbClr val="174535"/>
                </a:solidFill>
                <a:latin typeface="Arial" pitchFamily="34" charset="0"/>
                <a:ea typeface="Arial" pitchFamily="34" charset="-122"/>
                <a:cs typeface="Arial" pitchFamily="34" charset="-120"/>
              </a:rPr>
              <a:t>The first rung that finished. Published automatically. No review.</a:t>
            </a:r>
            <a:endParaRPr lang="en-US" sz="1275" dirty="0"/>
          </a:p>
        </p:txBody>
      </p:sp>
      <p:sp>
        <p:nvSpPr>
          <p:cNvPr id="11" name="Text 6"/>
          <p:cNvSpPr txBox="1"/>
          <p:nvPr/>
        </p:nvSpPr>
        <p:spPr>
          <a:xfrm>
            <a:off x="8477220" y="1428750"/>
            <a:ext cx="3105120" cy="11430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Nothing stands between completion and production.</a:t>
            </a:r>
            <a:endParaRPr lang="en-US" sz="2025" dirty="0"/>
          </a:p>
        </p:txBody>
      </p:sp>
      <p:sp>
        <p:nvSpPr>
          <p:cNvPr id="12" name="Text 7"/>
          <p:cNvSpPr txBox="1"/>
          <p:nvPr/>
        </p:nvSpPr>
        <p:spPr>
          <a:xfrm>
            <a:off x="8477220" y="2686050"/>
            <a:ext cx="3105120" cy="1476390"/>
          </a:xfrm>
          <a:prstGeom prst="rect">
            <a:avLst/>
          </a:prstGeom>
          <a:noFill/>
          <a:ln/>
        </p:spPr>
        <p:txBody>
          <a:bodyPr wrap="square" rtlCol="0" anchor="t"/>
          <a:lstStyle/>
          <a:p>
            <a:pPr indent="0" marL="0">
              <a:buNone/>
            </a:pPr>
            <a:r>
              <a:rPr lang="en-US" sz="1650" dirty="0">
                <a:solidFill>
                  <a:srgbClr val="174535"/>
                </a:solidFill>
                <a:latin typeface="Arial" pitchFamily="34" charset="0"/>
                <a:ea typeface="Arial" pitchFamily="34" charset="-122"/>
                <a:cs typeface="Arial" pitchFamily="34" charset="-120"/>
              </a:rPr>
              <a:t>Without the approval gate, a completion request publishes at once. No check was required and nobody approved it.</a:t>
            </a:r>
            <a:endParaRPr lang="en-US" sz="1650" dirty="0"/>
          </a:p>
        </p:txBody>
      </p:sp>
      <p:sp>
        <p:nvSpPr>
          <p:cNvPr id="13" name="Text 8"/>
          <p:cNvSpPr txBox="1"/>
          <p:nvPr/>
        </p:nvSpPr>
        <p:spPr>
          <a:xfrm>
            <a:off x="8477220" y="4238610"/>
            <a:ext cx="3105120" cy="1476390"/>
          </a:xfrm>
          <a:prstGeom prst="rect">
            <a:avLst/>
          </a:prstGeom>
          <a:noFill/>
          <a:ln/>
        </p:spPr>
        <p:txBody>
          <a:bodyPr wrap="square" rtlCol="0" anchor="t"/>
          <a:lstStyle/>
          <a:p>
            <a:pPr indent="0" marL="0">
              <a:buNone/>
            </a:pPr>
            <a:r>
              <a:rPr lang="en-US" sz="1650" b="1" dirty="0">
                <a:solidFill>
                  <a:srgbClr val="E87924"/>
                </a:solidFill>
                <a:latin typeface="Arial" pitchFamily="34" charset="0"/>
                <a:ea typeface="Arial" pitchFamily="34" charset="-122"/>
                <a:cs typeface="Arial" pitchFamily="34" charset="-120"/>
              </a:rPr>
              <a:t>In this ladder no Minimal run finished. The first run that did shipped straight to production.</a:t>
            </a:r>
            <a:endParaRPr lang="en-US" sz="1650" dirty="0"/>
          </a:p>
        </p:txBody>
      </p:sp>
      <p:sp>
        <p:nvSpPr>
          <p:cNvPr id="14" name="Text 9"/>
          <p:cNvSpPr txBox="1"/>
          <p:nvPr/>
        </p:nvSpPr>
        <p:spPr>
          <a:xfrm>
            <a:off x="8477220" y="5762640"/>
            <a:ext cx="3105120" cy="61914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Draft scenario · 26 Oct 2026 · dashboard screenshots 27 Oct 2026 · production is the run's isolated published copy</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Try the traps on production</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verification production draft after switch">    </p:cNvPr>
          <p:cNvPicPr>
            <a:picLocks noChangeAspect="1"/>
          </p:cNvPicPr>
          <p:nvPr/>
        </p:nvPicPr>
        <p:blipFill>
          <a:blip r:embed="rId1"/>
          <a:stretch>
            <a:fillRect/>
          </a:stretch>
        </p:blipFill>
        <p:spPr>
          <a:xfrm>
            <a:off x="609630" y="1428750"/>
            <a:ext cx="1898660" cy="4095780"/>
          </a:xfrm>
          <a:prstGeom prst="rect">
            <a:avLst/>
          </a:prstGeom>
        </p:spPr>
      </p:pic>
      <p:pic>
        <p:nvPicPr>
          <p:cNvPr id="6" name="Image 1" descr="verification production backup">    </p:cNvPr>
          <p:cNvPicPr>
            <a:picLocks noChangeAspect="1"/>
          </p:cNvPicPr>
          <p:nvPr/>
        </p:nvPicPr>
        <p:blipFill>
          <a:blip r:embed="rId2"/>
          <a:stretch>
            <a:fillRect/>
          </a:stretch>
        </p:blipFill>
        <p:spPr>
          <a:xfrm>
            <a:off x="2762220" y="1428750"/>
            <a:ext cx="1898660" cy="4095780"/>
          </a:xfrm>
          <a:prstGeom prst="rect">
            <a:avLst/>
          </a:prstGeom>
        </p:spPr>
      </p:pic>
      <p:pic>
        <p:nvPicPr>
          <p:cNvPr id="7" name="Image 2" descr="verification production literal">    </p:cNvPr>
          <p:cNvPicPr>
            <a:picLocks noChangeAspect="1"/>
          </p:cNvPicPr>
          <p:nvPr/>
        </p:nvPicPr>
        <p:blipFill>
          <a:blip r:embed="rId3"/>
          <a:stretch>
            <a:fillRect/>
          </a:stretch>
        </p:blipFill>
        <p:spPr>
          <a:xfrm>
            <a:off x="4914900" y="1428750"/>
            <a:ext cx="1898660" cy="4095780"/>
          </a:xfrm>
          <a:prstGeom prst="rect">
            <a:avLst/>
          </a:prstGeom>
        </p:spPr>
      </p:pic>
      <p:sp>
        <p:nvSpPr>
          <p:cNvPr id="8" name="Text 2"/>
          <p:cNvSpPr txBox="1"/>
          <p:nvPr/>
        </p:nvSpPr>
        <p:spPr>
          <a:xfrm>
            <a:off x="609630" y="5600700"/>
            <a:ext cx="1904970" cy="571500"/>
          </a:xfrm>
          <a:prstGeom prst="rect">
            <a:avLst/>
          </a:prstGeom>
          <a:noFill/>
          <a:ln/>
        </p:spPr>
        <p:txBody>
          <a:bodyPr wrap="square" rtlCol="0" anchor="t"/>
          <a:lstStyle/>
          <a:p>
            <a:pPr indent="0" marL="0">
              <a:buNone/>
            </a:pPr>
            <a:r>
              <a:rPr lang="en-US" sz="1200" b="1" dirty="0">
                <a:solidFill>
                  <a:srgbClr val="174535"/>
                </a:solidFill>
                <a:latin typeface="Arial" pitchFamily="34" charset="0"/>
                <a:ea typeface="Arial" pitchFamily="34" charset="-122"/>
                <a:cs typeface="Arial" pitchFamily="34" charset="-120"/>
              </a:rPr>
              <a:t>1 · Draft typed, screens switched: still there</a:t>
            </a:r>
            <a:endParaRPr lang="en-US" sz="1200" dirty="0"/>
          </a:p>
        </p:txBody>
      </p:sp>
      <p:sp>
        <p:nvSpPr>
          <p:cNvPr id="9" name="Text 3"/>
          <p:cNvSpPr txBox="1"/>
          <p:nvPr/>
        </p:nvSpPr>
        <p:spPr>
          <a:xfrm>
            <a:off x="2762220" y="5600700"/>
            <a:ext cx="1904970" cy="571500"/>
          </a:xfrm>
          <a:prstGeom prst="rect">
            <a:avLst/>
          </a:prstGeom>
          <a:noFill/>
          <a:ln/>
        </p:spPr>
        <p:txBody>
          <a:bodyPr wrap="square" rtlCol="0" anchor="t"/>
          <a:lstStyle/>
          <a:p>
            <a:pPr indent="0" marL="0">
              <a:buNone/>
            </a:pPr>
            <a:r>
              <a:rPr lang="en-US" sz="1200" b="1" dirty="0">
                <a:solidFill>
                  <a:srgbClr val="174535"/>
                </a:solidFill>
                <a:latin typeface="Arial" pitchFamily="34" charset="0"/>
                <a:ea typeface="Arial" pitchFamily="34" charset="-122"/>
                <a:cs typeface="Arial" pitchFamily="34" charset="-120"/>
              </a:rPr>
              <a:t>2 · Backup: 2 notes, no draft in the JSON</a:t>
            </a:r>
            <a:endParaRPr lang="en-US" sz="1200" dirty="0"/>
          </a:p>
        </p:txBody>
      </p:sp>
      <p:sp>
        <p:nvSpPr>
          <p:cNvPr id="10" name="Text 4"/>
          <p:cNvSpPr txBox="1"/>
          <p:nvPr/>
        </p:nvSpPr>
        <p:spPr>
          <a:xfrm>
            <a:off x="4914900" y="5600700"/>
            <a:ext cx="1904970" cy="571500"/>
          </a:xfrm>
          <a:prstGeom prst="rect">
            <a:avLst/>
          </a:prstGeom>
          <a:noFill/>
          <a:ln/>
        </p:spPr>
        <p:txBody>
          <a:bodyPr wrap="square" rtlCol="0" anchor="t"/>
          <a:lstStyle/>
          <a:p>
            <a:pPr indent="0" marL="0">
              <a:buNone/>
            </a:pPr>
            <a:r>
              <a:rPr lang="en-US" sz="1200" b="1" dirty="0">
                <a:solidFill>
                  <a:srgbClr val="174535"/>
                </a:solidFill>
                <a:latin typeface="Arial" pitchFamily="34" charset="0"/>
                <a:ea typeface="Arial" pitchFamily="34" charset="-122"/>
                <a:cs typeface="Arial" pitchFamily="34" charset="-120"/>
              </a:rPr>
              <a:t>3 · &lt;b&gt;bold&lt;/b&gt; &amp; co stays literal, 16 characters</a:t>
            </a:r>
            <a:endParaRPr lang="en-US" sz="1200" dirty="0"/>
          </a:p>
        </p:txBody>
      </p:sp>
      <p:sp>
        <p:nvSpPr>
          <p:cNvPr id="11" name="Text 5"/>
          <p:cNvSpPr txBox="1"/>
          <p:nvPr/>
        </p:nvSpPr>
        <p:spPr>
          <a:xfrm>
            <a:off x="7239030" y="1428750"/>
            <a:ext cx="4343400" cy="761970"/>
          </a:xfrm>
          <a:prstGeom prst="rect">
            <a:avLst/>
          </a:prstGeom>
          <a:noFill/>
          <a:ln/>
        </p:spPr>
        <p:txBody>
          <a:bodyPr wrap="square" rtlCol="0" anchor="t"/>
          <a:lstStyle/>
          <a:p>
            <a:pPr indent="0" marL="0">
              <a:buNone/>
            </a:pPr>
            <a:r>
              <a:rPr lang="en-US" sz="2250" b="1" dirty="0">
                <a:solidFill>
                  <a:srgbClr val="174B91"/>
                </a:solidFill>
                <a:latin typeface="Arial" pitchFamily="34" charset="0"/>
                <a:ea typeface="Arial" pitchFamily="34" charset="-122"/>
                <a:cs typeface="Arial" pitchFamily="34" charset="-120"/>
              </a:rPr>
              <a:t>Try the traps yourself on production.</a:t>
            </a:r>
            <a:endParaRPr lang="en-US" sz="2250" dirty="0"/>
          </a:p>
        </p:txBody>
      </p:sp>
      <p:sp>
        <p:nvSpPr>
          <p:cNvPr id="12" name="Text 6"/>
          <p:cNvSpPr txBox="1"/>
          <p:nvPr/>
        </p:nvSpPr>
        <p:spPr>
          <a:xfrm>
            <a:off x="7239030" y="2286000"/>
            <a:ext cx="4343400" cy="2143171"/>
          </a:xfrm>
          <a:prstGeom prst="rect">
            <a:avLst/>
          </a:prstGeom>
          <a:noFill/>
          <a:ln/>
        </p:spPr>
        <p:txBody>
          <a:bodyPr wrap="square" rtlCol="0" anchor="t"/>
          <a:lstStyle/>
          <a:p>
            <a:pPr indent="0" marL="0">
              <a:buNone/>
            </a:pPr>
            <a:r>
              <a:rPr lang="en-US" sz="1650" dirty="0">
                <a:solidFill>
                  <a:srgbClr val="174535"/>
                </a:solidFill>
                <a:latin typeface="Arial" pitchFamily="34" charset="0"/>
                <a:ea typeface="Arial" pitchFamily="34" charset="-122"/>
                <a:cs typeface="Arial" pitchFamily="34" charset="-120"/>
              </a:rPr>
              <a:t>Is the note you saved still listed after a refresh?</a:t>
            </a:r>
            <a:endParaRPr lang="en-US" sz="1650" dirty="0"/>
          </a:p>
          <a:p>
            <a:pPr indent="0" marL="0">
              <a:buNone/>
            </a:pPr>
            <a:endParaRPr lang="en-US" sz="1650" dirty="0"/>
          </a:p>
          <a:p>
            <a:pPr indent="0" marL="0">
              <a:buNone/>
            </a:pPr>
            <a:r>
              <a:rPr lang="en-US" sz="1650" dirty="0">
                <a:solidFill>
                  <a:srgbClr val="174535"/>
                </a:solidFill>
                <a:latin typeface="Arial" pitchFamily="34" charset="0"/>
                <a:ea typeface="Arial" pitchFamily="34" charset="-122"/>
                <a:cs typeface="Arial" pitchFamily="34" charset="-120"/>
              </a:rPr>
              <a:t>Type a draft, open Backup: is it in the JSON?</a:t>
            </a:r>
            <a:endParaRPr lang="en-US" sz="1650" dirty="0"/>
          </a:p>
          <a:p>
            <a:pPr indent="0" marL="0">
              <a:buNone/>
            </a:pPr>
            <a:endParaRPr lang="en-US" sz="1650" dirty="0"/>
          </a:p>
          <a:p>
            <a:pPr indent="0" marL="0">
              <a:buNone/>
            </a:pPr>
            <a:r>
              <a:rPr lang="en-US" sz="1650" dirty="0">
                <a:solidFill>
                  <a:srgbClr val="174535"/>
                </a:solidFill>
                <a:latin typeface="Arial" pitchFamily="34" charset="0"/>
                <a:ea typeface="Arial" pitchFamily="34" charset="-122"/>
                <a:cs typeface="Arial" pitchFamily="34" charset="-120"/>
              </a:rPr>
              <a:t>Type &lt;b&gt;bold&lt;/b&gt; &amp; co, switch screens: still literal?</a:t>
            </a:r>
            <a:endParaRPr lang="en-US" sz="1650" dirty="0"/>
          </a:p>
        </p:txBody>
      </p:sp>
      <p:sp>
        <p:nvSpPr>
          <p:cNvPr id="13" name="Text 7"/>
          <p:cNvSpPr txBox="1"/>
          <p:nvPr/>
        </p:nvSpPr>
        <p:spPr>
          <a:xfrm>
            <a:off x="7239030" y="4524360"/>
            <a:ext cx="4343400" cy="761970"/>
          </a:xfrm>
          <a:prstGeom prst="rect">
            <a:avLst/>
          </a:prstGeom>
          <a:noFill/>
          <a:ln/>
        </p:spPr>
        <p:txBody>
          <a:bodyPr wrap="square" rtlCol="0" anchor="t"/>
          <a:lstStyle/>
          <a:p>
            <a:pPr indent="0" marL="0">
              <a:buNone/>
            </a:pPr>
            <a:r>
              <a:rPr lang="en-US" sz="1725" b="1" dirty="0">
                <a:solidFill>
                  <a:srgbClr val="E87924"/>
                </a:solidFill>
                <a:latin typeface="Arial" pitchFamily="34" charset="0"/>
                <a:ea typeface="Arial" pitchFamily="34" charset="-122"/>
                <a:cs typeface="Arial" pitchFamily="34" charset="-120"/>
              </a:rPr>
              <a:t>Describe only what you see. This model handled all three.</a:t>
            </a:r>
            <a:endParaRPr lang="en-US" sz="1725" dirty="0"/>
          </a:p>
        </p:txBody>
      </p:sp>
      <p:sp>
        <p:nvSpPr>
          <p:cNvPr id="14" name="Text 8"/>
          <p:cNvSpPr txBox="1"/>
          <p:nvPr/>
        </p:nvSpPr>
        <p:spPr>
          <a:xfrm>
            <a:off x="7239030" y="5381610"/>
            <a:ext cx="4343400" cy="57150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Presenter actions on the production copy of run d017cd57 (+Verification, draft, 26 Oct 2026) · screenshots 27 Oct 2026</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Claims versus evidence</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verification claims">    </p:cNvPr>
          <p:cNvPicPr>
            <a:picLocks noChangeAspect="1"/>
          </p:cNvPicPr>
          <p:nvPr/>
        </p:nvPicPr>
        <p:blipFill>
          <a:blip r:embed="rId1"/>
          <a:stretch>
            <a:fillRect/>
          </a:stretch>
        </p:blipFill>
        <p:spPr>
          <a:xfrm>
            <a:off x="609630" y="1381110"/>
            <a:ext cx="4164178" cy="4905390"/>
          </a:xfrm>
          <a:prstGeom prst="rect">
            <a:avLst/>
          </a:prstGeom>
        </p:spPr>
      </p:pic>
      <p:sp>
        <p:nvSpPr>
          <p:cNvPr id="6" name="Text 2"/>
          <p:cNvSpPr txBox="1"/>
          <p:nvPr/>
        </p:nvSpPr>
        <p:spPr>
          <a:xfrm>
            <a:off x="5143500" y="1428750"/>
            <a:ext cx="6438930" cy="38103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Left: the completion summary, verbatim.</a:t>
            </a:r>
            <a:endParaRPr lang="en-US" sz="2025" dirty="0"/>
          </a:p>
        </p:txBody>
      </p:sp>
      <p:sp>
        <p:nvSpPr>
          <p:cNvPr id="7" name="Text 3"/>
          <p:cNvSpPr txBox="1"/>
          <p:nvPr/>
        </p:nvSpPr>
        <p:spPr>
          <a:xfrm>
            <a:off x="5143500" y="1857421"/>
            <a:ext cx="6438930" cy="904890"/>
          </a:xfrm>
          <a:prstGeom prst="rect">
            <a:avLst/>
          </a:prstGeom>
          <a:noFill/>
          <a:ln/>
        </p:spPr>
        <p:txBody>
          <a:bodyPr wrap="square" rtlCol="0" anchor="t"/>
          <a:lstStyle/>
          <a:p>
            <a:pPr indent="0" marL="0">
              <a:buNone/>
            </a:pPr>
            <a:r>
              <a:rPr lang="en-US" sz="1725" dirty="0">
                <a:solidFill>
                  <a:srgbClr val="174535"/>
                </a:solidFill>
                <a:latin typeface="Arial" pitchFamily="34" charset="0"/>
                <a:ea typeface="Arial" pitchFamily="34" charset="-122"/>
                <a:cs typeface="Arial" pitchFamily="34" charset="-120"/>
              </a:rPr>
              <a:t>Right: per behavior, what the agent exercised in the browser after its last edit, whether it ran acceptance checks, and the harness result.</a:t>
            </a:r>
            <a:endParaRPr lang="en-US" sz="1725" dirty="0"/>
          </a:p>
        </p:txBody>
      </p:sp>
      <p:sp>
        <p:nvSpPr>
          <p:cNvPr id="8" name="Text 4"/>
          <p:cNvSpPr txBox="1"/>
          <p:nvPr/>
        </p:nvSpPr>
        <p:spPr>
          <a:xfrm>
            <a:off x="5143500" y="2857500"/>
            <a:ext cx="6438930" cy="381030"/>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d017cd57 claimed: draft survives page refresh.</a:t>
            </a:r>
            <a:endParaRPr lang="en-US" sz="1875" dirty="0"/>
          </a:p>
        </p:txBody>
      </p:sp>
      <p:sp>
        <p:nvSpPr>
          <p:cNvPr id="9" name="Text 5"/>
          <p:cNvSpPr txBox="1"/>
          <p:nvPr/>
        </p:nvSpPr>
        <p:spPr>
          <a:xfrm>
            <a:off x="5143500" y="3286171"/>
            <a:ext cx="6438930" cy="714421"/>
          </a:xfrm>
          <a:prstGeom prst="rect">
            <a:avLst/>
          </a:prstGeom>
          <a:noFill/>
          <a:ln/>
        </p:spPr>
        <p:txBody>
          <a:bodyPr wrap="square" rtlCol="0" anchor="t"/>
          <a:lstStyle/>
          <a:p>
            <a:pPr indent="0" marL="0">
              <a:buNone/>
            </a:pPr>
            <a:r>
              <a:rPr lang="en-US" sz="1725" dirty="0">
                <a:solidFill>
                  <a:srgbClr val="174535"/>
                </a:solidFill>
                <a:latin typeface="Arial" pitchFamily="34" charset="0"/>
                <a:ea typeface="Arial" pitchFamily="34" charset="-122"/>
                <a:cs typeface="Arial" pitchFamily="34" charset="-120"/>
              </a:rPr>
              <a:t>Browser action after the last edit: No.   run_checks after the last edit: 1.   Harness result: Pass.</a:t>
            </a:r>
            <a:endParaRPr lang="en-US" sz="1725" dirty="0"/>
          </a:p>
        </p:txBody>
      </p:sp>
      <p:sp>
        <p:nvSpPr>
          <p:cNvPr id="10" name="Text 6"/>
          <p:cNvSpPr txBox="1"/>
          <p:nvPr/>
        </p:nvSpPr>
        <p:spPr>
          <a:xfrm>
            <a:off x="5143500" y="4095780"/>
            <a:ext cx="6438930" cy="904890"/>
          </a:xfrm>
          <a:prstGeom prst="rect">
            <a:avLst/>
          </a:prstGeom>
          <a:noFill/>
          <a:ln/>
        </p:spPr>
        <p:txBody>
          <a:bodyPr wrap="square" rtlCol="0" anchor="t"/>
          <a:lstStyle/>
          <a:p>
            <a:pPr indent="0" marL="0">
              <a:buNone/>
            </a:pPr>
            <a:r>
              <a:rPr lang="en-US" sz="1725" b="1" dirty="0">
                <a:solidFill>
                  <a:srgbClr val="E87924"/>
                </a:solidFill>
                <a:latin typeface="Arial" pitchFamily="34" charset="0"/>
                <a:ea typeface="Arial" pitchFamily="34" charset="-122"/>
                <a:cs typeface="Arial" pitchFamily="34" charset="-120"/>
              </a:rPr>
              <a:t>Claims are the model's words. Observations are recorded tool actions. The panel does not interpret reasoning.</a:t>
            </a:r>
            <a:endParaRPr lang="en-US" sz="1725" dirty="0"/>
          </a:p>
        </p:txBody>
      </p:sp>
      <p:sp>
        <p:nvSpPr>
          <p:cNvPr id="11" name="Text 7"/>
          <p:cNvSpPr txBox="1"/>
          <p:nvPr/>
        </p:nvSpPr>
        <p:spPr>
          <a:xfrm>
            <a:off x="5143500" y="5048220"/>
            <a:ext cx="6438930" cy="523860"/>
          </a:xfrm>
          <a:prstGeom prst="rect">
            <a:avLst/>
          </a:prstGeom>
          <a:noFill/>
          <a:ln/>
        </p:spPr>
        <p:txBody>
          <a:bodyPr wrap="square" rtlCol="0" anchor="t"/>
          <a:lstStyle/>
          <a:p>
            <a:pPr indent="0" marL="0">
              <a:buNone/>
            </a:pPr>
            <a:r>
              <a:rPr lang="en-US" sz="1575" dirty="0">
                <a:solidFill>
                  <a:srgbClr val="54685D"/>
                </a:solidFill>
                <a:latin typeface="Arial" pitchFamily="34" charset="0"/>
                <a:ea typeface="Arial" pitchFamily="34" charset="-122"/>
                <a:cs typeface="Arial" pitchFamily="34" charset="-120"/>
              </a:rPr>
              <a:t>Minimal runs never requested completion, so their panel stays empty.</a:t>
            </a:r>
            <a:endParaRPr lang="en-US" sz="1575" dirty="0"/>
          </a:p>
        </p:txBody>
      </p:sp>
      <p:sp>
        <p:nvSpPr>
          <p:cNvPr id="12" name="Text 8"/>
          <p:cNvSpPr txBox="1"/>
          <p:nvPr/>
        </p:nvSpPr>
        <p:spPr>
          <a:xfrm>
            <a:off x="5143500" y="5715000"/>
            <a:ext cx="6438930" cy="47622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Run d017cd57 · +Verification · draft scenario · 26 Oct 2026 · dashboard screenshot 27 Oct 2026</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Engineered: knowledge it cannot know</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inputs ticket">    </p:cNvPr>
          <p:cNvPicPr>
            <a:picLocks noChangeAspect="1"/>
          </p:cNvPicPr>
          <p:nvPr/>
        </p:nvPicPr>
        <p:blipFill>
          <a:blip r:embed="rId1"/>
          <a:stretch>
            <a:fillRect/>
          </a:stretch>
        </p:blipFill>
        <p:spPr>
          <a:xfrm>
            <a:off x="609630" y="1428750"/>
            <a:ext cx="6667530" cy="2719243"/>
          </a:xfrm>
          <a:prstGeom prst="rect">
            <a:avLst/>
          </a:prstGeom>
        </p:spPr>
      </p:pic>
      <p:sp>
        <p:nvSpPr>
          <p:cNvPr id="6" name="Text 2"/>
          <p:cNvSpPr txBox="1"/>
          <p:nvPr/>
        </p:nvSpPr>
        <p:spPr>
          <a:xfrm>
            <a:off x="609630" y="4210080"/>
            <a:ext cx="6667530" cy="38103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What each agent was told · Minimal d13b50fa (1,102 characters of instructions) and Engineered 5794a37d (5,646), the same 331-character task · Engineered column scrolled to the ticket</a:t>
            </a:r>
            <a:endParaRPr lang="en-US" sz="1050" dirty="0"/>
          </a:p>
        </p:txBody>
      </p:sp>
      <p:pic>
        <p:nvPicPr>
          <p:cNvPr id="7" name="Image 1" descr="engineered anatomy">    </p:cNvPr>
          <p:cNvPicPr>
            <a:picLocks noChangeAspect="1"/>
          </p:cNvPicPr>
          <p:nvPr/>
        </p:nvPicPr>
        <p:blipFill>
          <a:blip r:embed="rId2"/>
          <a:stretch>
            <a:fillRect/>
          </a:stretch>
        </p:blipFill>
        <p:spPr>
          <a:xfrm>
            <a:off x="609630" y="4629150"/>
            <a:ext cx="5905470" cy="1704899"/>
          </a:xfrm>
          <a:prstGeom prst="rect">
            <a:avLst/>
          </a:prstGeom>
        </p:spPr>
      </p:pic>
      <p:pic>
        <p:nvPicPr>
          <p:cNvPr id="8" name="Image 2" descr="engineered context evidence ticket">    </p:cNvPr>
          <p:cNvPicPr>
            <a:picLocks noChangeAspect="1"/>
          </p:cNvPicPr>
          <p:nvPr/>
        </p:nvPicPr>
        <p:blipFill>
          <a:blip r:embed="rId3"/>
          <a:stretch>
            <a:fillRect/>
          </a:stretch>
        </p:blipFill>
        <p:spPr>
          <a:xfrm>
            <a:off x="7844638" y="1428750"/>
            <a:ext cx="3513033" cy="3619470"/>
          </a:xfrm>
          <a:prstGeom prst="rect">
            <a:avLst/>
          </a:prstGeom>
        </p:spPr>
      </p:pic>
      <p:sp>
        <p:nvSpPr>
          <p:cNvPr id="9" name="Text 3"/>
          <p:cNvSpPr txBox="1"/>
          <p:nvPr/>
        </p:nvSpPr>
        <p:spPr>
          <a:xfrm>
            <a:off x="7619970" y="5124480"/>
            <a:ext cx="3962370" cy="714421"/>
          </a:xfrm>
          <a:prstGeom prst="rect">
            <a:avLst/>
          </a:prstGeom>
          <a:noFill/>
          <a:ln/>
        </p:spPr>
        <p:txBody>
          <a:bodyPr wrap="square" rtlCol="0" anchor="t"/>
          <a:lstStyle/>
          <a:p>
            <a:pPr indent="0" marL="0">
              <a:buNone/>
            </a:pPr>
            <a:r>
              <a:rPr lang="en-US" sz="1425" b="1" dirty="0">
                <a:solidFill>
                  <a:srgbClr val="174B91"/>
                </a:solidFill>
                <a:latin typeface="Arial" pitchFamily="34" charset="0"/>
                <a:ea typeface="Arial" pitchFamily="34" charset="-122"/>
                <a:cs typeface="Arial" pitchFamily="34" charset="-120"/>
              </a:rPr>
              <a:t>The PN-142 ticket thread reaches the model only through Context management. No tool can read it.</a:t>
            </a:r>
            <a:endParaRPr lang="en-US" sz="1425" dirty="0"/>
          </a:p>
        </p:txBody>
      </p:sp>
      <p:sp>
        <p:nvSpPr>
          <p:cNvPr id="10" name="Text 4"/>
          <p:cNvSpPr txBox="1"/>
          <p:nvPr/>
        </p:nvSpPr>
        <p:spPr>
          <a:xfrm>
            <a:off x="7619970" y="5886450"/>
            <a:ext cx="3962370" cy="47622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Run 5794a37d · Engineered · draft scenario · 26 Oct 2026 · dashboard screenshots 27 Oct 2026</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The gate and the repair loop</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verification activity run checks">    </p:cNvPr>
          <p:cNvPicPr>
            <a:picLocks noChangeAspect="1"/>
          </p:cNvPicPr>
          <p:nvPr/>
        </p:nvPicPr>
        <p:blipFill>
          <a:blip r:embed="rId1"/>
          <a:stretch>
            <a:fillRect/>
          </a:stretch>
        </p:blipFill>
        <p:spPr>
          <a:xfrm>
            <a:off x="609630" y="1428750"/>
            <a:ext cx="5810280" cy="4214744"/>
          </a:xfrm>
          <a:prstGeom prst="rect">
            <a:avLst/>
          </a:prstGeom>
        </p:spPr>
      </p:pic>
      <p:sp>
        <p:nvSpPr>
          <p:cNvPr id="6" name="Text 2"/>
          <p:cNvSpPr txBox="1"/>
          <p:nvPr/>
        </p:nvSpPr>
        <p:spPr>
          <a:xfrm>
            <a:off x="6858000" y="1428750"/>
            <a:ext cx="4724430" cy="714421"/>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Six visible checks. Completion needs 6/6 on the current revision.</a:t>
            </a:r>
            <a:endParaRPr lang="en-US" sz="1875" dirty="0"/>
          </a:p>
        </p:txBody>
      </p:sp>
      <p:sp>
        <p:nvSpPr>
          <p:cNvPr id="7" name="Text 3"/>
          <p:cNvSpPr txBox="1"/>
          <p:nvPr/>
        </p:nvSpPr>
        <p:spPr>
          <a:xfrm>
            <a:off x="6858000" y="2209830"/>
            <a:ext cx="4724430" cy="1857421"/>
          </a:xfrm>
          <a:prstGeom prst="rect">
            <a:avLst/>
          </a:prstGeom>
          <a:noFill/>
          <a:ln/>
        </p:spPr>
        <p:txBody>
          <a:bodyPr wrap="square" rtlCol="0" anchor="t"/>
          <a:lstStyle/>
          <a:p>
            <a:pPr indent="0" marL="0">
              <a:buNone/>
            </a:pPr>
            <a:r>
              <a:rPr lang="en-US" sz="1575" dirty="0">
                <a:solidFill>
                  <a:srgbClr val="174535"/>
                </a:solidFill>
                <a:latin typeface="Arial" pitchFamily="34" charset="0"/>
                <a:ea typeface="Arial" pitchFamily="34" charset="-122"/>
                <a:cs typeface="Arial" pitchFamily="34" charset="-120"/>
              </a:rPr>
              <a:t>run_checks before editing: 4/6, the unfixed baseline</a:t>
            </a:r>
            <a:endParaRPr lang="en-US" sz="1575" dirty="0"/>
          </a:p>
          <a:p>
            <a:pPr indent="0" marL="0">
              <a:buNone/>
            </a:pPr>
            <a:endParaRPr lang="en-US" sz="1575" dirty="0"/>
          </a:p>
          <a:p>
            <a:pPr indent="0" marL="0">
              <a:buNone/>
            </a:pPr>
            <a:r>
              <a:rPr lang="en-US" sz="1575" dirty="0">
                <a:solidFill>
                  <a:srgbClr val="174535"/>
                </a:solidFill>
                <a:latin typeface="Arial" pitchFamily="34" charset="0"/>
                <a:ea typeface="Arial" pitchFamily="34" charset="-122"/>
                <a:cs typeface="Arial" pitchFamily="34" charset="-120"/>
              </a:rPr>
              <a:t>Edit src/storage.js, run_checks again: 6/6</a:t>
            </a:r>
            <a:endParaRPr lang="en-US" sz="1575" dirty="0"/>
          </a:p>
          <a:p>
            <a:pPr indent="0" marL="0">
              <a:buNone/>
            </a:pPr>
            <a:endParaRPr lang="en-US" sz="1575" dirty="0"/>
          </a:p>
          <a:p>
            <a:pPr indent="0" marL="0">
              <a:buNone/>
            </a:pPr>
            <a:r>
              <a:rPr lang="en-US" sz="1575" dirty="0">
                <a:solidFill>
                  <a:srgbClr val="174535"/>
                </a:solidFill>
                <a:latin typeface="Arial" pitchFamily="34" charset="0"/>
                <a:ea typeface="Arial" pitchFamily="34" charset="-122"/>
                <a:cs typeface="Arial" pitchFamily="34" charset="-120"/>
              </a:rPr>
              <a:t>request_completion: independent assessment 6/6, then published</a:t>
            </a:r>
            <a:endParaRPr lang="en-US" sz="1575" dirty="0"/>
          </a:p>
        </p:txBody>
      </p:sp>
      <p:sp>
        <p:nvSpPr>
          <p:cNvPr id="8" name="Text 4"/>
          <p:cNvSpPr txBox="1"/>
          <p:nvPr/>
        </p:nvSpPr>
        <p:spPr>
          <a:xfrm>
            <a:off x="6858000" y="4143421"/>
            <a:ext cx="4724430" cy="1333470"/>
          </a:xfrm>
          <a:prstGeom prst="rect">
            <a:avLst/>
          </a:prstGeom>
          <a:noFill/>
          <a:ln/>
        </p:spPr>
        <p:txBody>
          <a:bodyPr wrap="square" rtlCol="0" anchor="t"/>
          <a:lstStyle/>
          <a:p>
            <a:pPr indent="0" marL="0">
              <a:buNone/>
            </a:pPr>
            <a:r>
              <a:rPr lang="en-US" sz="1500" b="1" dirty="0">
                <a:solidFill>
                  <a:srgbClr val="E87924"/>
                </a:solidFill>
                <a:latin typeface="Arial" pitchFamily="34" charset="0"/>
                <a:ea typeface="Arial" pitchFamily="34" charset="-122"/>
                <a:cs typeface="Arial" pitchFamily="34" charset="-120"/>
              </a:rPr>
              <a:t>A failing result goes back to the model for another attempt within the budget. No completion was rejected in these runs; automated tests cover that path. Show a repair loop only if one appears.</a:t>
            </a:r>
            <a:endParaRPr lang="en-US" sz="1500" dirty="0"/>
          </a:p>
        </p:txBody>
      </p:sp>
      <p:sp>
        <p:nvSpPr>
          <p:cNvPr id="9" name="Text 5"/>
          <p:cNvSpPr txBox="1"/>
          <p:nvPr/>
        </p:nvSpPr>
        <p:spPr>
          <a:xfrm>
            <a:off x="6858000" y="5572171"/>
            <a:ext cx="4724430" cy="66678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Run d017cd57 · +Verification · draft scenario · 26 Oct 2026 · dashboard screenshot 27 Oct 2026 · held-out checks are never part of this gate</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Approval</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engineered phones">    </p:cNvPr>
          <p:cNvPicPr>
            <a:picLocks noChangeAspect="1"/>
          </p:cNvPicPr>
          <p:nvPr/>
        </p:nvPicPr>
        <p:blipFill>
          <a:blip r:embed="rId1"/>
          <a:stretch>
            <a:fillRect/>
          </a:stretch>
        </p:blipFill>
        <p:spPr>
          <a:xfrm>
            <a:off x="609630" y="1428750"/>
            <a:ext cx="4000500" cy="4113611"/>
          </a:xfrm>
          <a:prstGeom prst="rect">
            <a:avLst/>
          </a:prstGeom>
        </p:spPr>
      </p:pic>
      <p:pic>
        <p:nvPicPr>
          <p:cNvPr id="6" name="Image 1" descr="engineered activity approval">    </p:cNvPr>
          <p:cNvPicPr>
            <a:picLocks noChangeAspect="1"/>
          </p:cNvPicPr>
          <p:nvPr/>
        </p:nvPicPr>
        <p:blipFill>
          <a:blip r:embed="rId2"/>
          <a:stretch>
            <a:fillRect/>
          </a:stretch>
        </p:blipFill>
        <p:spPr>
          <a:xfrm>
            <a:off x="4857750" y="1428750"/>
            <a:ext cx="3619470" cy="2625608"/>
          </a:xfrm>
          <a:prstGeom prst="rect">
            <a:avLst/>
          </a:prstGeom>
        </p:spPr>
      </p:pic>
      <p:pic>
        <p:nvPicPr>
          <p:cNvPr id="7" name="Image 2" descr="engineered diff after">    </p:cNvPr>
          <p:cNvPicPr>
            <a:picLocks noChangeAspect="1"/>
          </p:cNvPicPr>
          <p:nvPr/>
        </p:nvPicPr>
        <p:blipFill>
          <a:blip r:embed="rId3"/>
          <a:stretch>
            <a:fillRect/>
          </a:stretch>
        </p:blipFill>
        <p:spPr>
          <a:xfrm>
            <a:off x="4857750" y="4190970"/>
            <a:ext cx="3619470" cy="2007199"/>
          </a:xfrm>
          <a:prstGeom prst="rect">
            <a:avLst/>
          </a:prstGeom>
        </p:spPr>
      </p:pic>
      <p:sp>
        <p:nvSpPr>
          <p:cNvPr id="8" name="Text 2"/>
          <p:cNvSpPr txBox="1"/>
          <p:nvPr/>
        </p:nvSpPr>
        <p:spPr>
          <a:xfrm>
            <a:off x="8762970" y="1428750"/>
            <a:ext cx="2819370" cy="1000171"/>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Engineered stops at the approval boundary.</a:t>
            </a:r>
            <a:endParaRPr lang="en-US" sz="1875" dirty="0"/>
          </a:p>
        </p:txBody>
      </p:sp>
      <p:sp>
        <p:nvSpPr>
          <p:cNvPr id="9" name="Text 3"/>
          <p:cNvSpPr txBox="1"/>
          <p:nvPr/>
        </p:nvSpPr>
        <p:spPr>
          <a:xfrm>
            <a:off x="8762970" y="2495580"/>
            <a:ext cx="2819370" cy="1238280"/>
          </a:xfrm>
          <a:prstGeom prst="rect">
            <a:avLst/>
          </a:prstGeom>
          <a:noFill/>
          <a:ln/>
        </p:spPr>
        <p:txBody>
          <a:bodyPr wrap="square" rtlCol="0" anchor="t"/>
          <a:lstStyle/>
          <a:p>
            <a:pPr indent="0" marL="0">
              <a:buNone/>
            </a:pPr>
            <a:r>
              <a:rPr lang="en-US" sz="1500" dirty="0">
                <a:solidFill>
                  <a:srgbClr val="174535"/>
                </a:solidFill>
                <a:latin typeface="Arial" pitchFamily="34" charset="0"/>
                <a:ea typeface="Arial" pitchFamily="34" charset="-122"/>
                <a:cs typeface="Arial" pitchFamily="34" charset="-120"/>
              </a:rPr>
              <a:t>Production stayed on the original build until a human approved revision 367e4adf43ac after reading the diff.</a:t>
            </a:r>
            <a:endParaRPr lang="en-US" sz="1500" dirty="0"/>
          </a:p>
        </p:txBody>
      </p:sp>
      <p:sp>
        <p:nvSpPr>
          <p:cNvPr id="10" name="Text 4"/>
          <p:cNvSpPr txBox="1"/>
          <p:nvPr/>
        </p:nvSpPr>
        <p:spPr>
          <a:xfrm>
            <a:off x="8762970" y="3790920"/>
            <a:ext cx="2819370" cy="523860"/>
          </a:xfrm>
          <a:prstGeom prst="rect">
            <a:avLst/>
          </a:prstGeom>
          <a:noFill/>
          <a:ln/>
        </p:spPr>
        <p:txBody>
          <a:bodyPr wrap="square" rtlCol="0" anchor="t"/>
          <a:lstStyle/>
          <a:p>
            <a:pPr indent="0" marL="0">
              <a:buNone/>
            </a:pPr>
            <a:r>
              <a:rPr lang="en-US" sz="1500" dirty="0">
                <a:solidFill>
                  <a:srgbClr val="174535"/>
                </a:solidFill>
                <a:latin typeface="Arial" pitchFamily="34" charset="0"/>
                <a:ea typeface="Arial" pitchFamily="34" charset="-122"/>
                <a:cs typeface="Arial" pitchFamily="34" charset="-120"/>
              </a:rPr>
              <a:t>The reviewed diff changed only src/storage.js.</a:t>
            </a:r>
            <a:endParaRPr lang="en-US" sz="1500" dirty="0"/>
          </a:p>
        </p:txBody>
      </p:sp>
      <p:sp>
        <p:nvSpPr>
          <p:cNvPr id="11" name="Text 5"/>
          <p:cNvSpPr txBox="1"/>
          <p:nvPr/>
        </p:nvSpPr>
        <p:spPr>
          <a:xfrm>
            <a:off x="8762970" y="4362420"/>
            <a:ext cx="2819370" cy="809610"/>
          </a:xfrm>
          <a:prstGeom prst="rect">
            <a:avLst/>
          </a:prstGeom>
          <a:noFill/>
          <a:ln/>
        </p:spPr>
        <p:txBody>
          <a:bodyPr wrap="square" rtlCol="0" anchor="t"/>
          <a:lstStyle/>
          <a:p>
            <a:pPr indent="0" marL="0">
              <a:buNone/>
            </a:pPr>
            <a:r>
              <a:rPr lang="en-US" sz="1500" b="1" dirty="0">
                <a:solidFill>
                  <a:srgbClr val="E87924"/>
                </a:solidFill>
                <a:latin typeface="Arial" pitchFamily="34" charset="0"/>
                <a:ea typeface="Arial" pitchFamily="34" charset="-122"/>
                <a:cs typeface="Arial" pitchFamily="34" charset="-120"/>
              </a:rPr>
              <a:t>Banner after approval: Updated after your approval at 22:45:01.</a:t>
            </a:r>
            <a:endParaRPr lang="en-US" sz="1500" dirty="0"/>
          </a:p>
        </p:txBody>
      </p:sp>
      <p:sp>
        <p:nvSpPr>
          <p:cNvPr id="12" name="Text 6"/>
          <p:cNvSpPr txBox="1"/>
          <p:nvPr/>
        </p:nvSpPr>
        <p:spPr>
          <a:xfrm>
            <a:off x="8762970" y="5238780"/>
            <a:ext cx="2819370" cy="104772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Run 5794a37d · Engineered · draft scenario · 26 Oct 2026 · dashboard screenshots 27 Oct 2026 · phones, activity list at the approval boundary, diff AFTER panel</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Held-out grading</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engineered verification">    </p:cNvPr>
          <p:cNvPicPr>
            <a:picLocks noChangeAspect="1"/>
          </p:cNvPicPr>
          <p:nvPr/>
        </p:nvPicPr>
        <p:blipFill>
          <a:blip r:embed="rId1"/>
          <a:stretch>
            <a:fillRect/>
          </a:stretch>
        </p:blipFill>
        <p:spPr>
          <a:xfrm>
            <a:off x="609630" y="1428750"/>
            <a:ext cx="10324216" cy="3905220"/>
          </a:xfrm>
          <a:prstGeom prst="rect">
            <a:avLst/>
          </a:prstGeom>
        </p:spPr>
      </p:pic>
      <p:sp>
        <p:nvSpPr>
          <p:cNvPr id="6" name="Text 2"/>
          <p:cNvSpPr txBox="1"/>
          <p:nvPr/>
        </p:nvSpPr>
        <p:spPr>
          <a:xfrm>
            <a:off x="666780" y="5410230"/>
            <a:ext cx="10287000" cy="323880"/>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Both tiers on the applied revision of run 5794a37d: 6/6 visible · 5/5 held-out.</a:t>
            </a:r>
            <a:endParaRPr lang="en-US" sz="1875" dirty="0"/>
          </a:p>
        </p:txBody>
      </p:sp>
      <p:sp>
        <p:nvSpPr>
          <p:cNvPr id="7" name="Text 3"/>
          <p:cNvSpPr txBox="1"/>
          <p:nvPr/>
        </p:nvSpPr>
        <p:spPr>
          <a:xfrm>
            <a:off x="666780" y="5753130"/>
            <a:ext cx="10287000" cy="438180"/>
          </a:xfrm>
          <a:prstGeom prst="rect">
            <a:avLst/>
          </a:prstGeom>
          <a:noFill/>
          <a:ln/>
        </p:spPr>
        <p:txBody>
          <a:bodyPr wrap="square" rtlCol="0" anchor="t"/>
          <a:lstStyle/>
          <a:p>
            <a:pPr indent="0" marL="0">
              <a:buNone/>
            </a:pPr>
            <a:r>
              <a:rPr lang="en-US" sz="1425" dirty="0">
                <a:solidFill>
                  <a:srgbClr val="174535"/>
                </a:solidFill>
                <a:latin typeface="Arial" pitchFamily="34" charset="0"/>
                <a:ea typeface="Arial" pitchFamily="34" charset="-122"/>
                <a:cs typeface="Arial" pitchFamily="34" charset="-120"/>
              </a:rPr>
              <a:t>Presenter evaluation, outside the agent workflow. Minimal d13b50fa also passed 5/5 held-out on its unpublished patch. The unfixed starter app scores 4/6 visible and 3/5 held-out.</a:t>
            </a:r>
            <a:endParaRPr lang="en-US" sz="1425" dirty="0"/>
          </a:p>
        </p:txBody>
      </p:sp>
      <p:sp>
        <p:nvSpPr>
          <p:cNvPr id="8" name="Text 4"/>
          <p:cNvSpPr txBox="1"/>
          <p:nvPr/>
        </p:nvSpPr>
        <p:spPr>
          <a:xfrm>
            <a:off x="666780" y="6191220"/>
            <a:ext cx="10287000" cy="22860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Run 5794a37d · Engineered · draft scenario · 26 Oct 2026 · dashboard screenshot 27 Oct 2026 · Engineered can fail a held-out check too; read the actual results</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Optional: forced session reset</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reset memory activity">    </p:cNvPr>
          <p:cNvPicPr>
            <a:picLocks noChangeAspect="1"/>
          </p:cNvPicPr>
          <p:nvPr/>
        </p:nvPicPr>
        <p:blipFill>
          <a:blip r:embed="rId1"/>
          <a:stretch>
            <a:fillRect/>
          </a:stretch>
        </p:blipFill>
        <p:spPr>
          <a:xfrm>
            <a:off x="609630" y="1428750"/>
            <a:ext cx="5331043" cy="3867180"/>
          </a:xfrm>
          <a:prstGeom prst="rect">
            <a:avLst/>
          </a:prstGeom>
        </p:spPr>
      </p:pic>
      <p:pic>
        <p:nvPicPr>
          <p:cNvPr id="6" name="Image 1" descr="reset memory handoff session2">    </p:cNvPr>
          <p:cNvPicPr>
            <a:picLocks noChangeAspect="1"/>
          </p:cNvPicPr>
          <p:nvPr/>
        </p:nvPicPr>
        <p:blipFill>
          <a:blip r:embed="rId2"/>
          <a:stretch>
            <a:fillRect/>
          </a:stretch>
        </p:blipFill>
        <p:spPr>
          <a:xfrm>
            <a:off x="6191220" y="1428750"/>
            <a:ext cx="5383621" cy="3905220"/>
          </a:xfrm>
          <a:prstGeom prst="rect">
            <a:avLst/>
          </a:prstGeom>
        </p:spPr>
      </p:pic>
      <p:sp>
        <p:nvSpPr>
          <p:cNvPr id="7" name="Text 2"/>
          <p:cNvSpPr txBox="1"/>
          <p:nvPr/>
        </p:nvSpPr>
        <p:spPr>
          <a:xfrm>
            <a:off x="609630" y="5353080"/>
            <a:ext cx="5333970" cy="285750"/>
          </a:xfrm>
          <a:prstGeom prst="rect">
            <a:avLst/>
          </a:prstGeom>
          <a:noFill/>
          <a:ln/>
        </p:spPr>
        <p:txBody>
          <a:bodyPr wrap="square" rtlCol="0" anchor="t"/>
          <a:lstStyle/>
          <a:p>
            <a:pPr indent="0" marL="0">
              <a:buNone/>
            </a:pPr>
            <a:r>
              <a:rPr lang="en-US" sz="1350" b="1" dirty="0">
                <a:solidFill>
                  <a:srgbClr val="174B91"/>
                </a:solidFill>
                <a:latin typeface="Arial" pitchFamily="34" charset="0"/>
                <a:ea typeface="Arial" pitchFamily="34" charset="-122"/>
                <a:cs typeface="Arial" pitchFamily="34" charset="-120"/>
              </a:rPr>
              <a:t>The reset event and the next prompt · b4feef72 (+Memory)</a:t>
            </a:r>
            <a:endParaRPr lang="en-US" sz="1350" dirty="0"/>
          </a:p>
        </p:txBody>
      </p:sp>
      <p:sp>
        <p:nvSpPr>
          <p:cNvPr id="8" name="Text 3"/>
          <p:cNvSpPr txBox="1"/>
          <p:nvPr/>
        </p:nvSpPr>
        <p:spPr>
          <a:xfrm>
            <a:off x="6191220" y="5353080"/>
            <a:ext cx="5391120" cy="285750"/>
          </a:xfrm>
          <a:prstGeom prst="rect">
            <a:avLst/>
          </a:prstGeom>
          <a:noFill/>
          <a:ln/>
        </p:spPr>
        <p:txBody>
          <a:bodyPr wrap="square" rtlCol="0" anchor="t"/>
          <a:lstStyle/>
          <a:p>
            <a:pPr indent="0" marL="0">
              <a:buNone/>
            </a:pPr>
            <a:r>
              <a:rPr lang="en-US" sz="1350" b="1" dirty="0">
                <a:solidFill>
                  <a:srgbClr val="174B91"/>
                </a:solidFill>
                <a:latin typeface="Arial" pitchFamily="34" charset="0"/>
                <a:ea typeface="Arial" pitchFamily="34" charset="-122"/>
                <a:cs typeface="Arial" pitchFamily="34" charset="-120"/>
              </a:rPr>
              <a:t>The frozen handoff supplied to session 2 · b4feef72</a:t>
            </a:r>
            <a:endParaRPr lang="en-US" sz="1350" dirty="0"/>
          </a:p>
        </p:txBody>
      </p:sp>
      <p:sp>
        <p:nvSpPr>
          <p:cNvPr id="9" name="Text 4"/>
          <p:cNvSpPr txBox="1"/>
          <p:nvPr/>
        </p:nvSpPr>
        <p:spPr>
          <a:xfrm>
            <a:off x="666780" y="5667360"/>
            <a:ext cx="10287000" cy="523860"/>
          </a:xfrm>
          <a:prstGeom prst="rect">
            <a:avLst/>
          </a:prstGeom>
          <a:noFill/>
          <a:ln/>
        </p:spPr>
        <p:txBody>
          <a:bodyPr wrap="square" rtlCol="0" anchor="t"/>
          <a:lstStyle/>
          <a:p>
            <a:pPr indent="0" marL="0">
              <a:buNone/>
            </a:pPr>
            <a:r>
              <a:rPr lang="en-US" sz="1425" dirty="0">
                <a:solidFill>
                  <a:srgbClr val="174535"/>
                </a:solidFill>
                <a:latin typeface="Arial" pitchFamily="34" charset="0"/>
                <a:ea typeface="Arial" pitchFamily="34" charset="-122"/>
                <a:cs typeface="Arial" pitchFamily="34" charset="-120"/>
              </a:rPr>
              <a:t>b4feef72 restored the handoff, passed the checks within seven calls of session 2 and still stopped at its 24-call budget. b1f14631 (+Verification, no Memory, same reset) re-read every file in session 2 and also stopped at its budget.</a:t>
            </a:r>
            <a:endParaRPr lang="en-US" sz="1425" dirty="0"/>
          </a:p>
        </p:txBody>
      </p:sp>
      <p:sp>
        <p:nvSpPr>
          <p:cNvPr id="10" name="Text 5"/>
          <p:cNvSpPr txBox="1"/>
          <p:nvPr/>
        </p:nvSpPr>
        <p:spPr>
          <a:xfrm>
            <a:off x="666780" y="6172200"/>
            <a:ext cx="10287000" cy="23811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Draft scenario · forced reset after model call 8 · 26 Oct 2026 · dashboard screenshots 27 Oct 2026 · restored state did not produce completion</a:t>
            </a:r>
            <a:endParaRPr lang="en-US" sz="10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The ladder</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pic>
        <p:nvPicPr>
          <p:cNvPr id="5" name="Image 0" descr="ladder draft">    </p:cNvPr>
          <p:cNvPicPr>
            <a:picLocks noChangeAspect="1"/>
          </p:cNvPicPr>
          <p:nvPr/>
        </p:nvPicPr>
        <p:blipFill>
          <a:blip r:embed="rId1"/>
          <a:stretch>
            <a:fillRect/>
          </a:stretch>
        </p:blipFill>
        <p:spPr>
          <a:xfrm>
            <a:off x="609630" y="1428750"/>
            <a:ext cx="7239030" cy="3298424"/>
          </a:xfrm>
          <a:prstGeom prst="rect">
            <a:avLst/>
          </a:prstGeom>
        </p:spPr>
      </p:pic>
      <p:sp>
        <p:nvSpPr>
          <p:cNvPr id="6" name="Text 2"/>
          <p:cNvSpPr txBox="1"/>
          <p:nvPr/>
        </p:nvSpPr>
        <p:spPr>
          <a:xfrm>
            <a:off x="609630" y="4810110"/>
            <a:ext cx="7239030" cy="714421"/>
          </a:xfrm>
          <a:prstGeom prst="rect">
            <a:avLst/>
          </a:prstGeom>
          <a:noFill/>
          <a:ln/>
        </p:spPr>
        <p:txBody>
          <a:bodyPr wrap="square" rtlCol="0" anchor="t"/>
          <a:lstStyle/>
          <a:p>
            <a:pPr indent="0" marL="0">
              <a:buNone/>
            </a:pPr>
            <a:r>
              <a:rPr lang="en-US" sz="1425" dirty="0">
                <a:solidFill>
                  <a:srgbClr val="174535"/>
                </a:solidFill>
                <a:latin typeface="Arial" pitchFamily="34" charset="0"/>
                <a:ea typeface="Arial" pitchFamily="34" charset="-122"/>
                <a:cs typeface="Arial" pitchFamily="34" charset="-120"/>
              </a:rPr>
              <a:t>Each rung adds one component. Empty cells mean nothing was measured. The dashboard filters per model, scenario, harness version and reset setting; the forced-reset ladder is a separate filter.</a:t>
            </a:r>
            <a:endParaRPr lang="en-US" sz="1425" dirty="0"/>
          </a:p>
        </p:txBody>
      </p:sp>
      <p:sp>
        <p:nvSpPr>
          <p:cNvPr id="7" name="Text 3"/>
          <p:cNvSpPr txBox="1"/>
          <p:nvPr/>
        </p:nvSpPr>
        <p:spPr>
          <a:xfrm>
            <a:off x="609630" y="5600700"/>
            <a:ext cx="7239030" cy="571500"/>
          </a:xfrm>
          <a:prstGeom prst="rect">
            <a:avLst/>
          </a:prstGeom>
          <a:noFill/>
          <a:ln/>
        </p:spPr>
        <p:txBody>
          <a:bodyPr wrap="square" rtlCol="0" anchor="t"/>
          <a:lstStyle/>
          <a:p>
            <a:pPr indent="0" marL="0">
              <a:buNone/>
            </a:pPr>
            <a:r>
              <a:rPr lang="en-US" sz="1050" dirty="0">
                <a:solidFill>
                  <a:srgbClr val="54685D"/>
                </a:solidFill>
                <a:latin typeface="Arial" pitchFamily="34" charset="0"/>
                <a:ea typeface="Arial" pitchFamily="34" charset="-122"/>
                <a:cs typeface="Arial" pitchFamily="34" charset="-120"/>
              </a:rPr>
              <a:t>Ladder scoreboard · cohere/north-mini-code:free · draft scenario · harness v4 · no forced reset · runs of 26 Oct 2026 · dashboard screenshot 27 Oct 2026 · three-scenario totals from live-validation/v4/RESULTS.md</a:t>
            </a:r>
            <a:endParaRPr lang="en-US" sz="1050" dirty="0"/>
          </a:p>
        </p:txBody>
      </p:sp>
      <p:sp>
        <p:nvSpPr>
          <p:cNvPr id="8" name="Text 4"/>
          <p:cNvSpPr txBox="1"/>
          <p:nvPr/>
        </p:nvSpPr>
        <p:spPr>
          <a:xfrm>
            <a:off x="8096280" y="1428750"/>
            <a:ext cx="3486150" cy="857250"/>
          </a:xfrm>
          <a:prstGeom prst="rect">
            <a:avLst/>
          </a:prstGeom>
          <a:noFill/>
          <a:ln/>
        </p:spPr>
        <p:txBody>
          <a:bodyPr wrap="square" rtlCol="0" anchor="t"/>
          <a:lstStyle/>
          <a:p>
            <a:pPr indent="0" marL="0">
              <a:buNone/>
            </a:pPr>
            <a:r>
              <a:rPr lang="en-US" sz="1650" b="1" dirty="0">
                <a:solidFill>
                  <a:srgbClr val="174B91"/>
                </a:solidFill>
                <a:latin typeface="Arial" pitchFamily="34" charset="0"/>
                <a:ea typeface="Arial" pitchFamily="34" charset="-122"/>
                <a:cs typeface="Arial" pitchFamily="34" charset="-120"/>
              </a:rPr>
              <a:t>Across three scenarios, 15 runs, one per rung and scenario:</a:t>
            </a:r>
            <a:endParaRPr lang="en-US" sz="1650" dirty="0"/>
          </a:p>
        </p:txBody>
      </p:sp>
      <p:sp>
        <p:nvSpPr>
          <p:cNvPr id="9" name="Text 5"/>
          <p:cNvSpPr txBox="1"/>
          <p:nvPr/>
        </p:nvSpPr>
        <p:spPr>
          <a:xfrm>
            <a:off x="8096280" y="2333640"/>
            <a:ext cx="3486150" cy="2857500"/>
          </a:xfrm>
          <a:prstGeom prst="rect">
            <a:avLst/>
          </a:prstGeom>
          <a:noFill/>
          <a:ln/>
        </p:spPr>
        <p:txBody>
          <a:bodyPr wrap="square" rtlCol="0" anchor="t"/>
          <a:lstStyle/>
          <a:p>
            <a:pPr indent="0" marL="0">
              <a:buNone/>
            </a:pPr>
            <a:r>
              <a:rPr lang="en-US" sz="1350" dirty="0">
                <a:solidFill>
                  <a:srgbClr val="174535"/>
                </a:solidFill>
                <a:latin typeface="Arial" pitchFamily="34" charset="0"/>
                <a:ea typeface="Arial" pitchFamily="34" charset="-122"/>
                <a:cs typeface="Arial" pitchFamily="34" charset="-120"/>
              </a:rPr>
              <a:t>Minimal: 0/3 completed · 3/3 held-out pass · 24 calls each</a:t>
            </a:r>
            <a:endParaRPr lang="en-US" sz="1350" dirty="0"/>
          </a:p>
          <a:p>
            <a:pPr indent="0" marL="0">
              <a:buNone/>
            </a:pPr>
            <a:endParaRPr lang="en-US" sz="1350" dirty="0"/>
          </a:p>
          <a:p>
            <a:pPr indent="0" marL="0">
              <a:buNone/>
            </a:pPr>
            <a:r>
              <a:rPr lang="en-US" sz="1350" dirty="0">
                <a:solidFill>
                  <a:srgbClr val="174535"/>
                </a:solidFill>
                <a:latin typeface="Arial" pitchFamily="34" charset="0"/>
                <a:ea typeface="Arial" pitchFamily="34" charset="-122"/>
                <a:cs typeface="Arial" pitchFamily="34" charset="-120"/>
              </a:rPr>
              <a:t>+Verification, +Instructions &amp; context, +Memory: 3/3 completed · 3/3 applied without review</a:t>
            </a:r>
            <a:endParaRPr lang="en-US" sz="1350" dirty="0"/>
          </a:p>
          <a:p>
            <a:pPr indent="0" marL="0">
              <a:buNone/>
            </a:pPr>
            <a:endParaRPr lang="en-US" sz="1350" dirty="0"/>
          </a:p>
          <a:p>
            <a:pPr indent="0" marL="0">
              <a:buNone/>
            </a:pPr>
            <a:r>
              <a:rPr lang="en-US" sz="1350" dirty="0">
                <a:solidFill>
                  <a:srgbClr val="174535"/>
                </a:solidFill>
                <a:latin typeface="Arial" pitchFamily="34" charset="0"/>
                <a:ea typeface="Arial" pitchFamily="34" charset="-122"/>
                <a:cs typeface="Arial" pitchFamily="34" charset="-120"/>
              </a:rPr>
              <a:t>Engineered: 3/3 waited for approval · 0/3 applied without review</a:t>
            </a:r>
            <a:endParaRPr lang="en-US" sz="1350" dirty="0"/>
          </a:p>
          <a:p>
            <a:pPr indent="0" marL="0">
              <a:buNone/>
            </a:pPr>
            <a:endParaRPr lang="en-US" sz="1350" dirty="0"/>
          </a:p>
          <a:p>
            <a:pPr indent="0" marL="0">
              <a:buNone/>
            </a:pPr>
            <a:r>
              <a:rPr lang="en-US" sz="1350" dirty="0">
                <a:solidFill>
                  <a:srgbClr val="174535"/>
                </a:solidFill>
                <a:latin typeface="Arial" pitchFamily="34" charset="0"/>
                <a:ea typeface="Arial" pitchFamily="34" charset="-122"/>
                <a:cs typeface="Arial" pitchFamily="34" charset="-120"/>
              </a:rPr>
              <a:t>Claimed without a refresh test: 0 in every row · 5/5 held-out on every applied patch</a:t>
            </a:r>
            <a:endParaRPr lang="en-US" sz="1350" dirty="0"/>
          </a:p>
        </p:txBody>
      </p:sp>
      <p:sp>
        <p:nvSpPr>
          <p:cNvPr id="10" name="Text 6"/>
          <p:cNvSpPr txBox="1"/>
          <p:nvPr/>
        </p:nvSpPr>
        <p:spPr>
          <a:xfrm>
            <a:off x="8096280" y="5286421"/>
            <a:ext cx="3486150" cy="761970"/>
          </a:xfrm>
          <a:prstGeom prst="rect">
            <a:avLst/>
          </a:prstGeom>
          <a:noFill/>
          <a:ln/>
        </p:spPr>
        <p:txBody>
          <a:bodyPr wrap="square" rtlCol="0" anchor="t"/>
          <a:lstStyle/>
          <a:p>
            <a:pPr indent="0" marL="0">
              <a:buNone/>
            </a:pPr>
            <a:r>
              <a:rPr lang="en-US" sz="1425" b="1" dirty="0">
                <a:solidFill>
                  <a:srgbClr val="E87924"/>
                </a:solidFill>
                <a:latin typeface="Arial" pitchFamily="34" charset="0"/>
                <a:ea typeface="Arial" pitchFamily="34" charset="-122"/>
                <a:cs typeface="Arial" pitchFamily="34" charset="-120"/>
              </a:rPr>
              <a:t>One trial per cell with a free model. Illustrative, not a reliability rate.</a:t>
            </a:r>
            <a:endParaRPr lang="en-US" sz="14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What the demo establishes</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RECORDED V4 LADDER / 26 OCTOBER 2026 · DASHBOARD SCREENSHOTS 27 OCTOBER 2026</a:t>
            </a:r>
            <a:endParaRPr lang="en-US" sz="975" dirty="0"/>
          </a:p>
        </p:txBody>
      </p:sp>
      <p:sp>
        <p:nvSpPr>
          <p:cNvPr id="5" name="Text 2"/>
          <p:cNvSpPr txBox="1"/>
          <p:nvPr/>
        </p:nvSpPr>
        <p:spPr>
          <a:xfrm>
            <a:off x="666780" y="1381110"/>
            <a:ext cx="10477470" cy="342900"/>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The controls are visible and testable</a:t>
            </a:r>
            <a:endParaRPr lang="en-US" sz="2100" dirty="0"/>
          </a:p>
        </p:txBody>
      </p:sp>
      <p:sp>
        <p:nvSpPr>
          <p:cNvPr id="6" name="Text 3"/>
          <p:cNvSpPr txBox="1"/>
          <p:nvPr/>
        </p:nvSpPr>
        <p:spPr>
          <a:xfrm>
            <a:off x="666780" y="1762140"/>
            <a:ext cx="10477470" cy="838230"/>
          </a:xfrm>
          <a:prstGeom prst="rect">
            <a:avLst/>
          </a:prstGeom>
          <a:noFill/>
          <a:ln/>
        </p:spPr>
        <p:txBody>
          <a:bodyPr wrap="square" rtlCol="0" anchor="t"/>
          <a:lstStyle/>
          <a:p>
            <a:pPr indent="0" marL="0">
              <a:buNone/>
            </a:pPr>
            <a:r>
              <a:rPr lang="en-US" sz="1650" dirty="0">
                <a:solidFill>
                  <a:srgbClr val="174535"/>
                </a:solidFill>
                <a:latin typeface="Arial" pitchFamily="34" charset="0"/>
                <a:ea typeface="Arial" pitchFamily="34" charset="-122"/>
                <a:cs typeface="Arial" pitchFamily="34" charset="-120"/>
              </a:rPr>
              <a:t>Automated tests show the ticket reaches the model only through Context management, held-out checks never reach the agent, production changes only through publication, and a forced reset hits every preset at the same call.</a:t>
            </a:r>
            <a:endParaRPr lang="en-US" sz="1650" dirty="0"/>
          </a:p>
        </p:txBody>
      </p:sp>
      <p:sp>
        <p:nvSpPr>
          <p:cNvPr id="7" name="Text 4"/>
          <p:cNvSpPr txBox="1"/>
          <p:nvPr/>
        </p:nvSpPr>
        <p:spPr>
          <a:xfrm>
            <a:off x="666780" y="2619390"/>
            <a:ext cx="10477470" cy="342900"/>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A capable model can succeed with Minimal</a:t>
            </a:r>
            <a:endParaRPr lang="en-US" sz="2100" dirty="0"/>
          </a:p>
        </p:txBody>
      </p:sp>
      <p:sp>
        <p:nvSpPr>
          <p:cNvPr id="8" name="Text 5"/>
          <p:cNvSpPr txBox="1"/>
          <p:nvPr/>
        </p:nvSpPr>
        <p:spPr>
          <a:xfrm>
            <a:off x="666780" y="3000421"/>
            <a:ext cx="10477470" cy="838230"/>
          </a:xfrm>
          <a:prstGeom prst="rect">
            <a:avLst/>
          </a:prstGeom>
          <a:noFill/>
          <a:ln/>
        </p:spPr>
        <p:txBody>
          <a:bodyPr wrap="square" rtlCol="0" anchor="t"/>
          <a:lstStyle/>
          <a:p>
            <a:pPr indent="0" marL="0">
              <a:buNone/>
            </a:pPr>
            <a:r>
              <a:rPr lang="en-US" sz="1650" dirty="0">
                <a:solidFill>
                  <a:srgbClr val="174535"/>
                </a:solidFill>
                <a:latin typeface="Arial" pitchFamily="34" charset="0"/>
                <a:ea typeface="Arial" pitchFamily="34" charset="-122"/>
                <a:cs typeface="Arial" pitchFamily="34" charset="-120"/>
              </a:rPr>
              <a:t>In the first live ladder every Minimal run produced a correct patch and never finished. The first rung that finished shipped with no review. Engineered waited for approval every time.</a:t>
            </a:r>
            <a:endParaRPr lang="en-US" sz="1650" dirty="0"/>
          </a:p>
        </p:txBody>
      </p:sp>
      <p:sp>
        <p:nvSpPr>
          <p:cNvPr id="9" name="Text 6"/>
          <p:cNvSpPr txBox="1"/>
          <p:nvPr/>
        </p:nvSpPr>
        <p:spPr>
          <a:xfrm>
            <a:off x="666780" y="3857671"/>
            <a:ext cx="10477470" cy="342900"/>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Harnesses still have limits</a:t>
            </a:r>
            <a:endParaRPr lang="en-US" sz="2100" dirty="0"/>
          </a:p>
        </p:txBody>
      </p:sp>
      <p:sp>
        <p:nvSpPr>
          <p:cNvPr id="10" name="Text 7"/>
          <p:cNvSpPr txBox="1"/>
          <p:nvPr/>
        </p:nvSpPr>
        <p:spPr>
          <a:xfrm>
            <a:off x="666780" y="4238610"/>
            <a:ext cx="10477470" cy="838230"/>
          </a:xfrm>
          <a:prstGeom prst="rect">
            <a:avLst/>
          </a:prstGeom>
          <a:noFill/>
          <a:ln/>
        </p:spPr>
        <p:txBody>
          <a:bodyPr wrap="square" rtlCol="0" anchor="t"/>
          <a:lstStyle/>
          <a:p>
            <a:pPr indent="0" marL="0">
              <a:buNone/>
            </a:pPr>
            <a:r>
              <a:rPr lang="en-US" sz="1650" dirty="0">
                <a:solidFill>
                  <a:srgbClr val="174535"/>
                </a:solidFill>
                <a:latin typeface="Arial" pitchFamily="34" charset="0"/>
                <a:ea typeface="Arial" pitchFamily="34" charset="-122"/>
                <a:cs typeface="Arial" pitchFamily="34" charset="-120"/>
              </a:rPr>
              <a:t>One trial per cell, a free model and provider rate limits. No reliability claim. The traps were measured, not demonstrated.</a:t>
            </a:r>
            <a:endParaRPr lang="en-US" sz="1650" dirty="0"/>
          </a:p>
        </p:txBody>
      </p:sp>
      <p:sp>
        <p:nvSpPr>
          <p:cNvPr id="11" name="Text 8"/>
          <p:cNvSpPr txBox="1"/>
          <p:nvPr/>
        </p:nvSpPr>
        <p:spPr>
          <a:xfrm>
            <a:off x="666780" y="5219670"/>
            <a:ext cx="10477470" cy="904890"/>
          </a:xfrm>
          <a:prstGeom prst="rect">
            <a:avLst/>
          </a:prstGeom>
          <a:noFill/>
          <a:ln/>
        </p:spPr>
        <p:txBody>
          <a:bodyPr wrap="square" rtlCol="0" anchor="t"/>
          <a:lstStyle/>
          <a:p>
            <a:pPr indent="0" marL="0">
              <a:buNone/>
            </a:pPr>
            <a:r>
              <a:rPr lang="en-US" sz="1875" b="1" dirty="0">
                <a:solidFill>
                  <a:srgbClr val="E87924"/>
                </a:solidFill>
                <a:latin typeface="Arial" pitchFamily="34" charset="0"/>
                <a:ea typeface="Arial" pitchFamily="34" charset="-122"/>
                <a:cs typeface="Arial" pitchFamily="34" charset="-120"/>
              </a:rPr>
              <a:t>The model did not get smarter. The harness supplied what it could not know, checked what it did not look at, kept what it would forget, and held back what it should not decide alone.</a:t>
            </a:r>
            <a:endParaRPr lang="en-US" sz="187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Applying this to existing coding agents</a:t>
            </a:r>
            <a:endParaRPr lang="en-US" sz="3300" dirty="0"/>
          </a:p>
        </p:txBody>
      </p:sp>
      <p:sp>
        <p:nvSpPr>
          <p:cNvPr id="4" name="Text 1"/>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Project knowledge</a:t>
            </a:r>
            <a:endParaRPr lang="en-US" sz="2025" dirty="0"/>
          </a:p>
        </p:txBody>
      </p:sp>
      <p:sp>
        <p:nvSpPr>
          <p:cNvPr id="5" name="Text 2"/>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A concise AGENTS.md or equivalent points to current setup and design docs.</a:t>
            </a:r>
            <a:endParaRPr lang="en-US" sz="1800" dirty="0"/>
          </a:p>
        </p:txBody>
      </p:sp>
      <p:sp>
        <p:nvSpPr>
          <p:cNvPr id="6" name="Text 3"/>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Executable feedback</a:t>
            </a:r>
            <a:endParaRPr lang="en-US" sz="2025" dirty="0"/>
          </a:p>
        </p:txBody>
      </p:sp>
      <p:sp>
        <p:nvSpPr>
          <p:cNvPr id="7" name="Text 4"/>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Tests, builds and architectural checks explain failures clearly.</a:t>
            </a:r>
            <a:endParaRPr lang="en-US" sz="1800" dirty="0"/>
          </a:p>
        </p:txBody>
      </p:sp>
      <p:sp>
        <p:nvSpPr>
          <p:cNvPr id="8" name="Text 5"/>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Measured workflow changes</a:t>
            </a:r>
            <a:endParaRPr lang="en-US" sz="2025" dirty="0"/>
          </a:p>
        </p:txBody>
      </p:sp>
      <p:sp>
        <p:nvSpPr>
          <p:cNvPr id="9" name="Text 6"/>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Use representative bug fixes, review evidence and remove unnecessary scaffolding.</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Discussion</a:t>
            </a:r>
            <a:endParaRPr lang="en-US" sz="3300" dirty="0"/>
          </a:p>
        </p:txBody>
      </p:sp>
      <p:sp>
        <p:nvSpPr>
          <p:cNvPr id="4" name="Text 1"/>
          <p:cNvSpPr txBox="1"/>
          <p:nvPr/>
        </p:nvSpPr>
        <p:spPr>
          <a:xfrm>
            <a:off x="666780" y="2000250"/>
            <a:ext cx="10572750" cy="1809780"/>
          </a:xfrm>
          <a:prstGeom prst="rect">
            <a:avLst/>
          </a:prstGeom>
          <a:noFill/>
          <a:ln/>
        </p:spPr>
        <p:txBody>
          <a:bodyPr wrap="square" rtlCol="0" anchor="t"/>
          <a:lstStyle/>
          <a:p>
            <a:pPr indent="0" marL="0">
              <a:buNone/>
            </a:pPr>
            <a:r>
              <a:rPr lang="en-US" sz="3300" b="1" dirty="0">
                <a:solidFill>
                  <a:srgbClr val="174B91"/>
                </a:solidFill>
                <a:latin typeface="Arial" pitchFamily="34" charset="0"/>
                <a:ea typeface="Arial" pitchFamily="34" charset="-122"/>
                <a:cs typeface="Arial" pitchFamily="34" charset="-120"/>
              </a:rPr>
              <a:t>Which recurring failure in our bug-fixing work could we address with a better harness?</a:t>
            </a:r>
            <a:endParaRPr lang="en-US" sz="3300" dirty="0"/>
          </a:p>
        </p:txBody>
      </p:sp>
      <p:sp>
        <p:nvSpPr>
          <p:cNvPr id="5" name="Text 2"/>
          <p:cNvSpPr txBox="1"/>
          <p:nvPr/>
        </p:nvSpPr>
        <p:spPr>
          <a:xfrm>
            <a:off x="666780" y="4429171"/>
            <a:ext cx="10477470" cy="1095360"/>
          </a:xfrm>
          <a:prstGeom prst="rect">
            <a:avLst/>
          </a:prstGeom>
          <a:noFill/>
          <a:ln/>
        </p:spPr>
        <p:txBody>
          <a:bodyPr wrap="square" rtlCol="0" anchor="t"/>
          <a:lstStyle/>
          <a:p>
            <a:pPr indent="0" marL="0">
              <a:buNone/>
            </a:pPr>
            <a:r>
              <a:rPr lang="en-US" sz="2400" dirty="0">
                <a:solidFill>
                  <a:srgbClr val="174535"/>
                </a:solidFill>
                <a:latin typeface="Arial" pitchFamily="34" charset="0"/>
                <a:ea typeface="Arial" pitchFamily="34" charset="-122"/>
                <a:cs typeface="Arial" pitchFamily="34" charset="-120"/>
              </a:rPr>
              <a:t>What input, tool, check or approval would change the outcome?</a:t>
            </a:r>
            <a:endParaRPr lang="en-US" sz="24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Sources and further reading</a:t>
            </a:r>
            <a:endParaRPr lang="en-US" sz="3300" dirty="0"/>
          </a:p>
        </p:txBody>
      </p:sp>
      <p:sp>
        <p:nvSpPr>
          <p:cNvPr id="4" name="Text 1"/>
          <p:cNvSpPr txBox="1"/>
          <p:nvPr/>
        </p:nvSpPr>
        <p:spPr>
          <a:xfrm>
            <a:off x="666780" y="1666860"/>
            <a:ext cx="10477470" cy="342900"/>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Anthropic: Effective harnesses for long-running agents</a:t>
            </a:r>
            <a:endParaRPr lang="en-US" sz="1875" dirty="0"/>
          </a:p>
        </p:txBody>
      </p:sp>
      <p:sp>
        <p:nvSpPr>
          <p:cNvPr id="5" name="Text 2"/>
          <p:cNvSpPr txBox="1"/>
          <p:nvPr/>
        </p:nvSpPr>
        <p:spPr>
          <a:xfrm>
            <a:off x="666780" y="204789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anthropic.com/research/effective-harnesses-for-long-running-agents</a:t>
            </a:r>
            <a:endParaRPr lang="en-US" sz="1800" dirty="0"/>
          </a:p>
        </p:txBody>
      </p:sp>
      <p:sp>
        <p:nvSpPr>
          <p:cNvPr id="6" name="Text 3"/>
          <p:cNvSpPr txBox="1"/>
          <p:nvPr/>
        </p:nvSpPr>
        <p:spPr>
          <a:xfrm>
            <a:off x="666780" y="2762220"/>
            <a:ext cx="10477470" cy="342900"/>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Birgitta Böckeler: Harness engineering for coding agent users</a:t>
            </a:r>
            <a:endParaRPr lang="en-US" sz="1875" dirty="0"/>
          </a:p>
        </p:txBody>
      </p:sp>
      <p:sp>
        <p:nvSpPr>
          <p:cNvPr id="7" name="Text 4"/>
          <p:cNvSpPr txBox="1"/>
          <p:nvPr/>
        </p:nvSpPr>
        <p:spPr>
          <a:xfrm>
            <a:off x="666780" y="314325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martinfowler.com/articles/harness-engineering.html</a:t>
            </a:r>
            <a:endParaRPr lang="en-US" sz="1800" dirty="0"/>
          </a:p>
        </p:txBody>
      </p:sp>
      <p:sp>
        <p:nvSpPr>
          <p:cNvPr id="8" name="Text 5"/>
          <p:cNvSpPr txBox="1"/>
          <p:nvPr/>
        </p:nvSpPr>
        <p:spPr>
          <a:xfrm>
            <a:off x="666780" y="3857671"/>
            <a:ext cx="10477470" cy="342900"/>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OpenAI: Harness engineering</a:t>
            </a:r>
            <a:endParaRPr lang="en-US" sz="1875" dirty="0"/>
          </a:p>
        </p:txBody>
      </p:sp>
      <p:sp>
        <p:nvSpPr>
          <p:cNvPr id="9" name="Text 6"/>
          <p:cNvSpPr txBox="1"/>
          <p:nvPr/>
        </p:nvSpPr>
        <p:spPr>
          <a:xfrm>
            <a:off x="666780" y="423861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openai.com/index/harness-engineering/</a:t>
            </a:r>
            <a:endParaRPr lang="en-US" sz="1800" dirty="0"/>
          </a:p>
        </p:txBody>
      </p:sp>
      <p:sp>
        <p:nvSpPr>
          <p:cNvPr id="10" name="Text 7"/>
          <p:cNvSpPr txBox="1"/>
          <p:nvPr/>
        </p:nvSpPr>
        <p:spPr>
          <a:xfrm>
            <a:off x="666780" y="4953030"/>
            <a:ext cx="10477470" cy="342900"/>
          </a:xfrm>
          <a:prstGeom prst="rect">
            <a:avLst/>
          </a:prstGeom>
          <a:noFill/>
          <a:ln/>
        </p:spPr>
        <p:txBody>
          <a:bodyPr wrap="square" rtlCol="0" anchor="t"/>
          <a:lstStyle/>
          <a:p>
            <a:pPr indent="0" marL="0">
              <a:buNone/>
            </a:pPr>
            <a:r>
              <a:rPr lang="en-US" sz="1875" b="1" dirty="0">
                <a:solidFill>
                  <a:srgbClr val="174B91"/>
                </a:solidFill>
                <a:latin typeface="Arial" pitchFamily="34" charset="0"/>
                <a:ea typeface="Arial" pitchFamily="34" charset="-122"/>
                <a:cs typeface="Arial" pitchFamily="34" charset="-120"/>
              </a:rPr>
              <a:t>Harness Lab: real run traces and screenshots</a:t>
            </a:r>
            <a:endParaRPr lang="en-US" sz="1875" dirty="0"/>
          </a:p>
        </p:txBody>
      </p:sp>
      <p:sp>
        <p:nvSpPr>
          <p:cNvPr id="11" name="Text 8"/>
          <p:cNvSpPr txBox="1"/>
          <p:nvPr/>
        </p:nvSpPr>
        <p:spPr>
          <a:xfrm>
            <a:off x="666780" y="53339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live-validation/ in the repository: v2, v3 and v4 evidence kept separately</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1904970"/>
          </a:xfrm>
          <a:prstGeom prst="rect">
            <a:avLst/>
          </a:prstGeom>
          <a:noFill/>
          <a:ln/>
        </p:spPr>
        <p:txBody>
          <a:bodyPr wrap="square"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Appendix:</a:t>
            </a:r>
            <a:endParaRPr lang="en-US" sz="4800" dirty="0"/>
          </a:p>
          <a:p>
            <a:pPr algn="l" indent="0" marL="0">
              <a:buNone/>
            </a:pPr>
            <a:r>
              <a:rPr lang="en-US" sz="4800" b="1" dirty="0">
                <a:solidFill>
                  <a:srgbClr val="FFFFFF"/>
                </a:solidFill>
                <a:latin typeface="Arial" pitchFamily="34" charset="0"/>
                <a:ea typeface="Arial" pitchFamily="34" charset="-122"/>
                <a:cs typeface="Arial" pitchFamily="34" charset="-120"/>
              </a:rPr>
              <a:t>historical v2 and v3 evidence</a:t>
            </a:r>
            <a:endParaRPr lang="en-US" sz="4800" dirty="0"/>
          </a:p>
        </p:txBody>
      </p:sp>
      <p:sp>
        <p:nvSpPr>
          <p:cNvPr id="4" name="Text 1"/>
          <p:cNvSpPr txBox="1"/>
          <p:nvPr/>
        </p:nvSpPr>
        <p:spPr>
          <a:xfrm>
            <a:off x="647670" y="2762220"/>
            <a:ext cx="9525030" cy="1047720"/>
          </a:xfrm>
          <a:prstGeom prst="rect">
            <a:avLst/>
          </a:prstGeom>
          <a:noFill/>
          <a:ln/>
        </p:spPr>
        <p:txBody>
          <a:bodyPr wrap="square" rtlCol="0" anchor="t"/>
          <a:lstStyle/>
          <a:p>
            <a:pPr indent="0" marL="0">
              <a:buNone/>
            </a:pPr>
            <a:r>
              <a:rPr lang="en-US" sz="2400" dirty="0">
                <a:solidFill>
                  <a:srgbClr val="FFFFFF"/>
                </a:solidFill>
                <a:latin typeface="Arial" pitchFamily="34" charset="0"/>
                <a:ea typeface="Arial" pitchFamily="34" charset="-122"/>
                <a:cs typeface="Arial" pitchFamily="34" charset="-120"/>
              </a:rPr>
              <a:t>Earlier fixture, a single check tier, no production phone, different models.</a:t>
            </a:r>
            <a:endParaRPr lang="en-US" sz="2400" dirty="0"/>
          </a:p>
        </p:txBody>
      </p:sp>
      <p:sp>
        <p:nvSpPr>
          <p:cNvPr id="5" name="Text 2"/>
          <p:cNvSpPr txBox="1"/>
          <p:nvPr/>
        </p:nvSpPr>
        <p:spPr>
          <a:xfrm>
            <a:off x="666780" y="4000500"/>
            <a:ext cx="9905970" cy="714421"/>
          </a:xfrm>
          <a:prstGeom prst="rect">
            <a:avLst/>
          </a:prstGeom>
          <a:noFill/>
          <a:ln/>
        </p:spPr>
        <p:txBody>
          <a:bodyPr wrap="square" rtlCol="0" anchor="t"/>
          <a:lstStyle/>
          <a:p>
            <a:pPr indent="0" marL="0">
              <a:buNone/>
            </a:pPr>
            <a:r>
              <a:rPr lang="en-US" sz="1875" dirty="0">
                <a:solidFill>
                  <a:srgbClr val="D9E7FA"/>
                </a:solidFill>
                <a:latin typeface="Arial" pitchFamily="34" charset="0"/>
                <a:ea typeface="Arial" pitchFamily="34" charset="-122"/>
                <a:cs typeface="Arial" pitchFamily="34" charset="-120"/>
              </a:rPr>
              <a:t>Kept for the record. Not comparable with harness v4.</a:t>
            </a:r>
            <a:endParaRPr lang="en-US" sz="1875" dirty="0"/>
          </a:p>
        </p:txBody>
      </p:sp>
      <p:sp>
        <p:nvSpPr>
          <p:cNvPr id="6" name="Text 3"/>
          <p:cNvSpPr txBox="1"/>
          <p:nvPr/>
        </p:nvSpPr>
        <p:spPr>
          <a:xfrm>
            <a:off x="666780" y="5857921"/>
            <a:ext cx="9525030" cy="266730"/>
          </a:xfrm>
          <a:prstGeom prst="rect">
            <a:avLst/>
          </a:prstGeom>
          <a:noFill/>
          <a:ln/>
        </p:spPr>
        <p:txBody>
          <a:bodyPr wrap="square" rtlCol="0" anchor="t"/>
          <a:lstStyle/>
          <a:p>
            <a:pPr indent="0" marL="0">
              <a:buNone/>
            </a:pPr>
            <a:r>
              <a:rPr lang="en-US" sz="1350" b="1" dirty="0">
                <a:solidFill>
                  <a:srgbClr val="FFB454"/>
                </a:solidFill>
                <a:latin typeface="Arial" pitchFamily="34" charset="0"/>
                <a:ea typeface="Arial" pitchFamily="34" charset="-122"/>
                <a:cs typeface="Arial" pitchFamily="34" charset="-120"/>
              </a:rPr>
              <a:t>HARNESS LAB</a:t>
            </a:r>
            <a:endParaRPr lang="en-US" sz="135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D9E7FA"/>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Demo: the disappearing draft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sp>
        <p:nvSpPr>
          <p:cNvPr id="5" name="Text 2"/>
          <p:cNvSpPr txBox="1"/>
          <p:nvPr/>
        </p:nvSpPr>
        <p:spPr>
          <a:xfrm>
            <a:off x="666780" y="1809780"/>
            <a:ext cx="6191220" cy="619140"/>
          </a:xfrm>
          <a:prstGeom prst="rect">
            <a:avLst/>
          </a:prstGeom>
          <a:noFill/>
          <a:ln/>
        </p:spPr>
        <p:txBody>
          <a:bodyPr wrap="square" rtlCol="0" anchor="t"/>
          <a:lstStyle/>
          <a:p>
            <a:pPr indent="0" marL="0">
              <a:buNone/>
            </a:pPr>
            <a:r>
              <a:rPr lang="en-US" sz="2850" b="1" dirty="0">
                <a:solidFill>
                  <a:srgbClr val="174B91"/>
                </a:solidFill>
                <a:latin typeface="Arial" pitchFamily="34" charset="0"/>
                <a:ea typeface="Arial" pitchFamily="34" charset="-122"/>
                <a:cs typeface="Arial" pitchFamily="34" charset="-120"/>
              </a:rPr>
              <a:t>Pocket Notes</a:t>
            </a:r>
            <a:endParaRPr lang="en-US" sz="2850" dirty="0"/>
          </a:p>
        </p:txBody>
      </p:sp>
      <p:sp>
        <p:nvSpPr>
          <p:cNvPr id="6" name="Text 3"/>
          <p:cNvSpPr txBox="1"/>
          <p:nvPr/>
        </p:nvSpPr>
        <p:spPr>
          <a:xfrm>
            <a:off x="666780" y="2762220"/>
            <a:ext cx="6191220" cy="1333470"/>
          </a:xfrm>
          <a:prstGeom prst="rect">
            <a:avLst/>
          </a:prstGeom>
          <a:noFill/>
          <a:ln/>
        </p:spPr>
        <p:txBody>
          <a:bodyPr wrap="square" rtlCol="0" anchor="t"/>
          <a:lstStyle/>
          <a:p>
            <a:pPr indent="0" marL="0">
              <a:buNone/>
            </a:pPr>
            <a:r>
              <a:rPr lang="en-US" sz="2400" dirty="0">
                <a:solidFill>
                  <a:srgbClr val="174535"/>
                </a:solidFill>
                <a:latin typeface="Arial" pitchFamily="34" charset="0"/>
                <a:ea typeface="Arial" pitchFamily="34" charset="-122"/>
                <a:cs typeface="Arial" pitchFamily="34" charset="-120"/>
              </a:rPr>
              <a:t>An unfinished draft disappears when the user changes screens or refreshes.</a:t>
            </a:r>
            <a:endParaRPr lang="en-US" sz="2400" dirty="0"/>
          </a:p>
        </p:txBody>
      </p:sp>
      <p:sp>
        <p:nvSpPr>
          <p:cNvPr id="7" name="Text 4"/>
          <p:cNvSpPr txBox="1"/>
          <p:nvPr/>
        </p:nvSpPr>
        <p:spPr>
          <a:xfrm>
            <a:off x="666780" y="4524360"/>
            <a:ext cx="6191220" cy="1143000"/>
          </a:xfrm>
          <a:prstGeom prst="rect">
            <a:avLst/>
          </a:prstGeom>
          <a:noFill/>
          <a:ln/>
        </p:spPr>
        <p:txBody>
          <a:bodyPr wrap="square" rtlCol="0" anchor="t"/>
          <a:lstStyle/>
          <a:p>
            <a:pPr indent="0" marL="0">
              <a:buNone/>
            </a:pPr>
            <a:r>
              <a:rPr lang="en-US" sz="2100" dirty="0">
                <a:solidFill>
                  <a:srgbClr val="54685D"/>
                </a:solidFill>
                <a:latin typeface="Arial" pitchFamily="34" charset="0"/>
                <a:ea typeface="Arial" pitchFamily="34" charset="-122"/>
                <a:cs typeface="Arial" pitchFamily="34" charset="-120"/>
              </a:rPr>
              <a:t>The fix must preserve normal saving and existing notes.</a:t>
            </a:r>
            <a:endParaRPr lang="en-US" sz="2100" dirty="0"/>
          </a:p>
        </p:txBody>
      </p:sp>
      <p:pic>
        <p:nvPicPr>
          <p:cNvPr id="8" name="Image 0" descr="phone">    </p:cNvPr>
          <p:cNvPicPr>
            <a:picLocks noChangeAspect="1"/>
          </p:cNvPicPr>
          <p:nvPr/>
        </p:nvPicPr>
        <p:blipFill>
          <a:blip r:embed="rId1"/>
          <a:stretch>
            <a:fillRect/>
          </a:stretch>
        </p:blipFill>
        <p:spPr>
          <a:xfrm>
            <a:off x="8096280" y="1819199"/>
            <a:ext cx="2476470" cy="4172041"/>
          </a:xfrm>
          <a:prstGeom prst="rect">
            <a:avLst/>
          </a:prstGeom>
        </p:spPr>
      </p:pic>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Minimal: two enabled components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minimal components">    </p:cNvPr>
          <p:cNvPicPr>
            <a:picLocks noChangeAspect="1"/>
          </p:cNvPicPr>
          <p:nvPr/>
        </p:nvPicPr>
        <p:blipFill>
          <a:blip r:embed="rId1"/>
          <a:stretch>
            <a:fillRect/>
          </a:stretch>
        </p:blipFill>
        <p:spPr>
          <a:xfrm>
            <a:off x="609630" y="1755922"/>
            <a:ext cx="10972800" cy="1631747"/>
          </a:xfrm>
          <a:prstGeom prst="rect">
            <a:avLst/>
          </a:prstGeom>
        </p:spPr>
      </p:pic>
      <p:sp>
        <p:nvSpPr>
          <p:cNvPr id="6" name="Text 2"/>
          <p:cNvSpPr txBox="1"/>
          <p:nvPr/>
        </p:nvSpPr>
        <p:spPr>
          <a:xfrm>
            <a:off x="666780" y="3905220"/>
            <a:ext cx="10668030" cy="619140"/>
          </a:xfrm>
          <a:prstGeom prst="rect">
            <a:avLst/>
          </a:prstGeom>
          <a:noFill/>
          <a:ln/>
        </p:spPr>
        <p:txBody>
          <a:bodyPr wrap="square" rtlCol="0" anchor="t"/>
          <a:lstStyle/>
          <a:p>
            <a:pPr indent="0" marL="0">
              <a:buNone/>
            </a:pPr>
            <a:r>
              <a:rPr lang="en-US" sz="2475" b="1" dirty="0">
                <a:solidFill>
                  <a:srgbClr val="174B91"/>
                </a:solidFill>
                <a:latin typeface="Arial" pitchFamily="34" charset="0"/>
                <a:ea typeface="Arial" pitchFamily="34" charset="-122"/>
                <a:cs typeface="Arial" pitchFamily="34" charset="-120"/>
              </a:rPr>
              <a:t>The model can request actions and use real tools.</a:t>
            </a:r>
            <a:endParaRPr lang="en-US" sz="2475" dirty="0"/>
          </a:p>
        </p:txBody>
      </p:sp>
      <p:sp>
        <p:nvSpPr>
          <p:cNvPr id="7" name="Text 3"/>
          <p:cNvSpPr txBox="1"/>
          <p:nvPr/>
        </p:nvSpPr>
        <p:spPr>
          <a:xfrm>
            <a:off x="666780" y="4810110"/>
            <a:ext cx="10572750" cy="952530"/>
          </a:xfrm>
          <a:prstGeom prst="rect">
            <a:avLst/>
          </a:prstGeom>
          <a:noFill/>
          <a:ln/>
        </p:spPr>
        <p:txBody>
          <a:bodyPr wrap="square" rtlCol="0" anchor="t"/>
          <a:lstStyle/>
          <a:p>
            <a:pPr indent="0" marL="0">
              <a:buNone/>
            </a:pPr>
            <a:r>
              <a:rPr lang="en-US" sz="2100" dirty="0">
                <a:solidFill>
                  <a:srgbClr val="174535"/>
                </a:solidFill>
                <a:latin typeface="Arial" pitchFamily="34" charset="0"/>
                <a:ea typeface="Arial" pitchFamily="34" charset="-122"/>
                <a:cs typeface="Arial" pitchFamily="34" charset="-120"/>
              </a:rPr>
              <a:t>No automatic project inputs, saved handoff, acceptance checks or approval.</a:t>
            </a:r>
            <a:endParaRPr lang="en-US" sz="21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Engineered: inputs in a real request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engineered live">    </p:cNvPr>
          <p:cNvPicPr>
            <a:picLocks noChangeAspect="1"/>
          </p:cNvPicPr>
          <p:nvPr/>
        </p:nvPicPr>
        <p:blipFill>
          <a:blip r:embed="rId1"/>
          <a:srcRect l="1700" r="1700" t="10600" b="72100"/>
          <a:stretch/>
        </p:blipFill>
        <p:spPr>
          <a:xfrm>
            <a:off x="609630" y="1897837"/>
            <a:ext cx="10972800" cy="1633484"/>
          </a:xfrm>
          <a:prstGeom prst="rect">
            <a:avLst/>
          </a:prstGeom>
        </p:spPr>
      </p:pic>
      <p:sp>
        <p:nvSpPr>
          <p:cNvPr id="6" name="Text 2"/>
          <p:cNvSpPr txBox="1"/>
          <p:nvPr/>
        </p:nvSpPr>
        <p:spPr>
          <a:xfrm>
            <a:off x="666780" y="4333890"/>
            <a:ext cx="2857500" cy="1047720"/>
          </a:xfrm>
          <a:prstGeom prst="rect">
            <a:avLst/>
          </a:prstGeom>
          <a:noFill/>
          <a:ln/>
        </p:spPr>
        <p:txBody>
          <a:bodyPr wrap="square" rtlCol="0" anchor="t"/>
          <a:lstStyle/>
          <a:p>
            <a:pPr indent="0" marL="0">
              <a:buNone/>
            </a:pPr>
            <a:r>
              <a:rPr lang="en-US" sz="2400" b="1" dirty="0">
                <a:solidFill>
                  <a:srgbClr val="174B91"/>
                </a:solidFill>
                <a:latin typeface="Arial" pitchFamily="34" charset="0"/>
                <a:ea typeface="Arial" pitchFamily="34" charset="-122"/>
                <a:cs typeface="Arial" pitchFamily="34" charset="-120"/>
              </a:rPr>
              <a:t>Blue</a:t>
            </a:r>
            <a:endParaRPr lang="en-US" sz="2400" dirty="0"/>
          </a:p>
          <a:p>
            <a:pPr indent="0" marL="0">
              <a:buNone/>
            </a:pPr>
            <a:r>
              <a:rPr lang="en-US" sz="2400" b="1" dirty="0">
                <a:solidFill>
                  <a:srgbClr val="174B91"/>
                </a:solidFill>
                <a:latin typeface="Arial" pitchFamily="34" charset="0"/>
                <a:ea typeface="Arial" pitchFamily="34" charset="-122"/>
                <a:cs typeface="Arial" pitchFamily="34" charset="-120"/>
              </a:rPr>
              <a:t>Enabled</a:t>
            </a:r>
            <a:endParaRPr lang="en-US" sz="2400" dirty="0"/>
          </a:p>
        </p:txBody>
      </p:sp>
      <p:sp>
        <p:nvSpPr>
          <p:cNvPr id="7" name="Text 3"/>
          <p:cNvSpPr txBox="1"/>
          <p:nvPr/>
        </p:nvSpPr>
        <p:spPr>
          <a:xfrm>
            <a:off x="4476720" y="4333890"/>
            <a:ext cx="3333720" cy="1047720"/>
          </a:xfrm>
          <a:prstGeom prst="rect">
            <a:avLst/>
          </a:prstGeom>
          <a:noFill/>
          <a:ln/>
        </p:spPr>
        <p:txBody>
          <a:bodyPr wrap="square" rtlCol="0" anchor="t"/>
          <a:lstStyle/>
          <a:p>
            <a:pPr indent="0" marL="0">
              <a:buNone/>
            </a:pPr>
            <a:r>
              <a:rPr lang="en-US" sz="2250" b="1" dirty="0">
                <a:solidFill>
                  <a:srgbClr val="E87924"/>
                </a:solidFill>
                <a:latin typeface="Arial" pitchFamily="34" charset="0"/>
                <a:ea typeface="Arial" pitchFamily="34" charset="-122"/>
                <a:cs typeface="Arial" pitchFamily="34" charset="-120"/>
              </a:rPr>
              <a:t>Orange outline</a:t>
            </a:r>
            <a:endParaRPr lang="en-US" sz="2250" dirty="0"/>
          </a:p>
          <a:p>
            <a:pPr indent="0" marL="0">
              <a:buNone/>
            </a:pPr>
            <a:r>
              <a:rPr lang="en-US" sz="2250" b="1" dirty="0">
                <a:solidFill>
                  <a:srgbClr val="E87924"/>
                </a:solidFill>
                <a:latin typeface="Arial" pitchFamily="34" charset="0"/>
                <a:ea typeface="Arial" pitchFamily="34" charset="-122"/>
                <a:cs typeface="Arial" pitchFamily="34" charset="-120"/>
              </a:rPr>
              <a:t>Current action</a:t>
            </a:r>
            <a:endParaRPr lang="en-US" sz="2250" dirty="0"/>
          </a:p>
        </p:txBody>
      </p:sp>
      <p:sp>
        <p:nvSpPr>
          <p:cNvPr id="8" name="Text 4"/>
          <p:cNvSpPr txBox="1"/>
          <p:nvPr/>
        </p:nvSpPr>
        <p:spPr>
          <a:xfrm>
            <a:off x="8667780" y="4333890"/>
            <a:ext cx="2857500" cy="104772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Click a card</a:t>
            </a:r>
            <a:endParaRPr lang="en-US" sz="2175" dirty="0"/>
          </a:p>
          <a:p>
            <a:pPr indent="0" marL="0">
              <a:buNone/>
            </a:pPr>
            <a:r>
              <a:rPr lang="en-US" sz="2175" dirty="0">
                <a:solidFill>
                  <a:srgbClr val="174535"/>
                </a:solidFill>
                <a:latin typeface="Arial" pitchFamily="34" charset="0"/>
                <a:ea typeface="Arial" pitchFamily="34" charset="-122"/>
                <a:cs typeface="Arial" pitchFamily="34" charset="-120"/>
              </a:rPr>
              <a:t>Inspect evidence</a:t>
            </a:r>
            <a:endParaRPr lang="en-US" sz="217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Two different project inputs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instructions excerpt">    </p:cNvPr>
          <p:cNvPicPr>
            <a:picLocks noChangeAspect="1"/>
          </p:cNvPicPr>
          <p:nvPr/>
        </p:nvPicPr>
        <p:blipFill>
          <a:blip r:embed="rId1"/>
          <a:stretch>
            <a:fillRect/>
          </a:stretch>
        </p:blipFill>
        <p:spPr>
          <a:xfrm>
            <a:off x="609630" y="1909450"/>
            <a:ext cx="5286421" cy="2562880"/>
          </a:xfrm>
          <a:prstGeom prst="rect">
            <a:avLst/>
          </a:prstGeom>
        </p:spPr>
      </p:pic>
      <p:pic>
        <p:nvPicPr>
          <p:cNvPr id="6" name="Image 1" descr="context excerpt">    </p:cNvPr>
          <p:cNvPicPr>
            <a:picLocks noChangeAspect="1"/>
          </p:cNvPicPr>
          <p:nvPr/>
        </p:nvPicPr>
        <p:blipFill>
          <a:blip r:embed="rId2"/>
          <a:stretch>
            <a:fillRect/>
          </a:stretch>
        </p:blipFill>
        <p:spPr>
          <a:xfrm>
            <a:off x="6238860" y="2186605"/>
            <a:ext cx="5286421" cy="2008480"/>
          </a:xfrm>
          <a:prstGeom prst="rect">
            <a:avLst/>
          </a:prstGeom>
        </p:spPr>
      </p:pic>
      <p:sp>
        <p:nvSpPr>
          <p:cNvPr id="7" name="Text 2"/>
          <p:cNvSpPr txBox="1"/>
          <p:nvPr/>
        </p:nvSpPr>
        <p:spPr>
          <a:xfrm>
            <a:off x="666780" y="5095860"/>
            <a:ext cx="5238780" cy="428671"/>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Instructions &amp; policies</a:t>
            </a:r>
            <a:endParaRPr lang="en-US" sz="2100" dirty="0"/>
          </a:p>
        </p:txBody>
      </p:sp>
      <p:sp>
        <p:nvSpPr>
          <p:cNvPr id="8" name="Text 3"/>
          <p:cNvSpPr txBox="1"/>
          <p:nvPr/>
        </p:nvSpPr>
        <p:spPr>
          <a:xfrm>
            <a:off x="666780" y="5619720"/>
            <a:ext cx="5238780" cy="428671"/>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Rules for doing the work</a:t>
            </a:r>
            <a:endParaRPr lang="en-US" sz="1800" dirty="0"/>
          </a:p>
        </p:txBody>
      </p:sp>
      <p:sp>
        <p:nvSpPr>
          <p:cNvPr id="9" name="Text 4"/>
          <p:cNvSpPr txBox="1"/>
          <p:nvPr/>
        </p:nvSpPr>
        <p:spPr>
          <a:xfrm>
            <a:off x="6286500" y="5095860"/>
            <a:ext cx="5238780" cy="428671"/>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Context management</a:t>
            </a:r>
            <a:endParaRPr lang="en-US" sz="2100" dirty="0"/>
          </a:p>
        </p:txBody>
      </p:sp>
      <p:sp>
        <p:nvSpPr>
          <p:cNvPr id="10" name="Text 5"/>
          <p:cNvSpPr txBox="1"/>
          <p:nvPr/>
        </p:nvSpPr>
        <p:spPr>
          <a:xfrm>
            <a:off x="6286500" y="5619720"/>
            <a:ext cx="5238780" cy="428671"/>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Information about this project</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Evaluation after Minimal stops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minimal regression">    </p:cNvPr>
          <p:cNvPicPr>
            <a:picLocks noChangeAspect="1"/>
          </p:cNvPicPr>
          <p:nvPr/>
        </p:nvPicPr>
        <p:blipFill>
          <a:blip r:embed="rId1"/>
          <a:stretch>
            <a:fillRect/>
          </a:stretch>
        </p:blipFill>
        <p:spPr>
          <a:xfrm>
            <a:off x="609630" y="1948038"/>
            <a:ext cx="10972800" cy="2104674"/>
          </a:xfrm>
          <a:prstGeom prst="rect">
            <a:avLst/>
          </a:prstGeom>
        </p:spPr>
      </p:pic>
      <p:sp>
        <p:nvSpPr>
          <p:cNvPr id="6" name="Text 2"/>
          <p:cNvSpPr txBox="1"/>
          <p:nvPr/>
        </p:nvSpPr>
        <p:spPr>
          <a:xfrm>
            <a:off x="666780" y="4524360"/>
            <a:ext cx="10668030" cy="523860"/>
          </a:xfrm>
          <a:prstGeom prst="rect">
            <a:avLst/>
          </a:prstGeom>
          <a:noFill/>
          <a:ln/>
        </p:spPr>
        <p:txBody>
          <a:bodyPr wrap="square" rtlCol="0" anchor="t"/>
          <a:lstStyle/>
          <a:p>
            <a:pPr indent="0" marL="0">
              <a:buNone/>
            </a:pPr>
            <a:r>
              <a:rPr lang="en-US" sz="2325" b="1" dirty="0">
                <a:solidFill>
                  <a:srgbClr val="E87924"/>
                </a:solidFill>
                <a:latin typeface="Arial" pitchFamily="34" charset="0"/>
                <a:ea typeface="Arial" pitchFamily="34" charset="-122"/>
                <a:cs typeface="Arial" pitchFamily="34" charset="-120"/>
              </a:rPr>
              <a:t>Observed in the draft rehearsal: 5/6 checks passed</a:t>
            </a:r>
            <a:endParaRPr lang="en-US" sz="2325" dirty="0"/>
          </a:p>
        </p:txBody>
      </p:sp>
      <p:sp>
        <p:nvSpPr>
          <p:cNvPr id="7" name="Text 3"/>
          <p:cNvSpPr txBox="1"/>
          <p:nvPr/>
        </p:nvSpPr>
        <p:spPr>
          <a:xfrm>
            <a:off x="666780" y="5286421"/>
            <a:ext cx="10668030" cy="857250"/>
          </a:xfrm>
          <a:prstGeom prst="rect">
            <a:avLst/>
          </a:prstGeom>
          <a:noFill/>
          <a:ln/>
        </p:spPr>
        <p:txBody>
          <a:bodyPr wrap="square" rtlCol="0" anchor="t"/>
          <a:lstStyle/>
          <a:p>
            <a:pPr indent="0" marL="0">
              <a:buNone/>
            </a:pPr>
            <a:r>
              <a:rPr lang="en-US" sz="2025" dirty="0">
                <a:solidFill>
                  <a:srgbClr val="174535"/>
                </a:solidFill>
                <a:latin typeface="Arial" pitchFamily="34" charset="0"/>
                <a:ea typeface="Arial" pitchFamily="34" charset="-122"/>
                <a:cs typeface="Arial" pitchFamily="34" charset="-120"/>
              </a:rPr>
              <a:t>The model changed original note text and hit its budget. No patch was published.</a:t>
            </a:r>
            <a:endParaRPr lang="en-US" sz="20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Verification before Engineered completes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engineered verification event">    </p:cNvPr>
          <p:cNvPicPr>
            <a:picLocks noChangeAspect="1"/>
          </p:cNvPicPr>
          <p:nvPr/>
        </p:nvPicPr>
        <p:blipFill>
          <a:blip r:embed="rId1"/>
          <a:stretch>
            <a:fillRect/>
          </a:stretch>
        </p:blipFill>
        <p:spPr>
          <a:xfrm>
            <a:off x="1834104" y="1524030"/>
            <a:ext cx="8523762" cy="3238530"/>
          </a:xfrm>
          <a:prstGeom prst="rect">
            <a:avLst/>
          </a:prstGeom>
        </p:spPr>
      </p:pic>
      <p:sp>
        <p:nvSpPr>
          <p:cNvPr id="6" name="Text 2"/>
          <p:cNvSpPr txBox="1"/>
          <p:nvPr/>
        </p:nvSpPr>
        <p:spPr>
          <a:xfrm>
            <a:off x="666780" y="4953030"/>
            <a:ext cx="10668030" cy="571500"/>
          </a:xfrm>
          <a:prstGeom prst="rect">
            <a:avLst/>
          </a:prstGeom>
          <a:noFill/>
          <a:ln/>
        </p:spPr>
        <p:txBody>
          <a:bodyPr wrap="square" rtlCol="0" anchor="t"/>
          <a:lstStyle/>
          <a:p>
            <a:pPr indent="0" marL="0">
              <a:buNone/>
            </a:pPr>
            <a:r>
              <a:rPr lang="en-US" sz="2400" b="1" dirty="0">
                <a:solidFill>
                  <a:srgbClr val="174B91"/>
                </a:solidFill>
                <a:latin typeface="Arial" pitchFamily="34" charset="0"/>
                <a:ea typeface="Arial" pitchFamily="34" charset="-122"/>
                <a:cs typeface="Arial" pitchFamily="34" charset="-120"/>
              </a:rPr>
              <a:t>Passing checks are a required condition for completion.</a:t>
            </a:r>
            <a:endParaRPr lang="en-US" sz="2400" dirty="0"/>
          </a:p>
        </p:txBody>
      </p:sp>
      <p:sp>
        <p:nvSpPr>
          <p:cNvPr id="7" name="Text 3"/>
          <p:cNvSpPr txBox="1"/>
          <p:nvPr/>
        </p:nvSpPr>
        <p:spPr>
          <a:xfrm>
            <a:off x="666780" y="5715000"/>
            <a:ext cx="10572750" cy="619140"/>
          </a:xfrm>
          <a:prstGeom prst="rect">
            <a:avLst/>
          </a:prstGeom>
          <a:noFill/>
          <a:ln/>
        </p:spPr>
        <p:txBody>
          <a:bodyPr wrap="square" rtlCol="0" anchor="t"/>
          <a:lstStyle/>
          <a:p>
            <a:pPr indent="0" marL="0">
              <a:buNone/>
            </a:pPr>
            <a:r>
              <a:rPr lang="en-US" sz="2025" dirty="0">
                <a:solidFill>
                  <a:srgbClr val="174535"/>
                </a:solidFill>
                <a:latin typeface="Arial" pitchFamily="34" charset="0"/>
                <a:ea typeface="Arial" pitchFamily="34" charset="-122"/>
                <a:cs typeface="Arial" pitchFamily="34" charset="-120"/>
              </a:rPr>
              <a:t>A failing result returns feedback for another attempt within the budget.</a:t>
            </a:r>
            <a:endParaRPr lang="en-US" sz="20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Review and approval (v2)</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review diff">    </p:cNvPr>
          <p:cNvPicPr>
            <a:picLocks noChangeAspect="1"/>
          </p:cNvPicPr>
          <p:nvPr/>
        </p:nvPicPr>
        <p:blipFill>
          <a:blip r:embed="rId1"/>
          <a:stretch>
            <a:fillRect/>
          </a:stretch>
        </p:blipFill>
        <p:spPr>
          <a:xfrm>
            <a:off x="866760" y="1524030"/>
            <a:ext cx="7391370" cy="4619640"/>
          </a:xfrm>
          <a:prstGeom prst="rect">
            <a:avLst/>
          </a:prstGeom>
        </p:spPr>
      </p:pic>
      <p:sp>
        <p:nvSpPr>
          <p:cNvPr id="6" name="Text 2"/>
          <p:cNvSpPr txBox="1"/>
          <p:nvPr/>
        </p:nvSpPr>
        <p:spPr>
          <a:xfrm>
            <a:off x="8953530" y="2000250"/>
            <a:ext cx="2476470" cy="904890"/>
          </a:xfrm>
          <a:prstGeom prst="rect">
            <a:avLst/>
          </a:prstGeom>
          <a:noFill/>
          <a:ln/>
        </p:spPr>
        <p:txBody>
          <a:bodyPr wrap="square" rtlCol="0" anchor="t"/>
          <a:lstStyle/>
          <a:p>
            <a:pPr indent="0" marL="0">
              <a:buNone/>
            </a:pPr>
            <a:r>
              <a:rPr lang="en-US" sz="2175" b="1" dirty="0">
                <a:solidFill>
                  <a:srgbClr val="174B91"/>
                </a:solidFill>
                <a:latin typeface="Arial" pitchFamily="34" charset="0"/>
                <a:ea typeface="Arial" pitchFamily="34" charset="-122"/>
                <a:cs typeface="Arial" pitchFamily="34" charset="-120"/>
              </a:rPr>
              <a:t>Inspect the change</a:t>
            </a:r>
            <a:endParaRPr lang="en-US" sz="2175" dirty="0"/>
          </a:p>
        </p:txBody>
      </p:sp>
      <p:sp>
        <p:nvSpPr>
          <p:cNvPr id="7" name="Text 3"/>
          <p:cNvSpPr txBox="1"/>
          <p:nvPr/>
        </p:nvSpPr>
        <p:spPr>
          <a:xfrm>
            <a:off x="8953530" y="3238530"/>
            <a:ext cx="2476470" cy="90489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Check the revision</a:t>
            </a:r>
            <a:endParaRPr lang="en-US" sz="2175" dirty="0"/>
          </a:p>
        </p:txBody>
      </p:sp>
      <p:sp>
        <p:nvSpPr>
          <p:cNvPr id="8" name="Text 4"/>
          <p:cNvSpPr txBox="1"/>
          <p:nvPr/>
        </p:nvSpPr>
        <p:spPr>
          <a:xfrm>
            <a:off x="8953530" y="4476720"/>
            <a:ext cx="2476470" cy="1095360"/>
          </a:xfrm>
          <a:prstGeom prst="rect">
            <a:avLst/>
          </a:prstGeom>
          <a:noFill/>
          <a:ln/>
        </p:spPr>
        <p:txBody>
          <a:bodyPr wrap="square" rtlCol="0" anchor="t"/>
          <a:lstStyle/>
          <a:p>
            <a:pPr indent="0" marL="0">
              <a:buNone/>
            </a:pPr>
            <a:r>
              <a:rPr lang="en-US" sz="2175" dirty="0">
                <a:solidFill>
                  <a:srgbClr val="174535"/>
                </a:solidFill>
                <a:latin typeface="Arial" pitchFamily="34" charset="0"/>
                <a:ea typeface="Arial" pitchFamily="34" charset="-122"/>
                <a:cs typeface="Arial" pitchFamily="34" charset="-120"/>
              </a:rPr>
              <a:t>Approve application</a:t>
            </a:r>
            <a:endParaRPr lang="en-US" sz="217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v3 comparison (historical)</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V3 REHEARSAL / 26 OCTOBER 2026</a:t>
            </a:r>
            <a:endParaRPr lang="en-US" sz="975" dirty="0"/>
          </a:p>
        </p:txBody>
      </p:sp>
      <p:pic>
        <p:nvPicPr>
          <p:cNvPr id="5" name="Image 0" descr="v3 comparison before approval">    </p:cNvPr>
          <p:cNvPicPr>
            <a:picLocks noChangeAspect="1"/>
          </p:cNvPicPr>
          <p:nvPr/>
        </p:nvPicPr>
        <p:blipFill>
          <a:blip r:embed="rId1"/>
          <a:stretch>
            <a:fillRect/>
          </a:stretch>
        </p:blipFill>
        <p:spPr>
          <a:xfrm>
            <a:off x="921990" y="1476390"/>
            <a:ext cx="6995160" cy="4857750"/>
          </a:xfrm>
          <a:prstGeom prst="rect">
            <a:avLst/>
          </a:prstGeom>
        </p:spPr>
      </p:pic>
      <p:sp>
        <p:nvSpPr>
          <p:cNvPr id="6" name="Text 2"/>
          <p:cNvSpPr txBox="1"/>
          <p:nvPr/>
        </p:nvSpPr>
        <p:spPr>
          <a:xfrm>
            <a:off x="8667780" y="1809780"/>
            <a:ext cx="2857500" cy="904890"/>
          </a:xfrm>
          <a:prstGeom prst="rect">
            <a:avLst/>
          </a:prstGeom>
          <a:noFill/>
          <a:ln/>
        </p:spPr>
        <p:txBody>
          <a:bodyPr wrap="square" rtlCol="0" anchor="t"/>
          <a:lstStyle/>
          <a:p>
            <a:pPr indent="0" marL="0">
              <a:buNone/>
            </a:pPr>
            <a:r>
              <a:rPr lang="en-US" sz="2250" b="1" dirty="0">
                <a:solidFill>
                  <a:srgbClr val="174B91"/>
                </a:solidFill>
                <a:latin typeface="Arial" pitchFamily="34" charset="0"/>
                <a:ea typeface="Arial" pitchFamily="34" charset="-122"/>
                <a:cs typeface="Arial" pitchFamily="34" charset="-120"/>
              </a:rPr>
              <a:t>Both passed 6/6</a:t>
            </a:r>
            <a:endParaRPr lang="en-US" sz="2250" dirty="0"/>
          </a:p>
        </p:txBody>
      </p:sp>
      <p:sp>
        <p:nvSpPr>
          <p:cNvPr id="7" name="Text 3"/>
          <p:cNvSpPr txBox="1"/>
          <p:nvPr/>
        </p:nvSpPr>
        <p:spPr>
          <a:xfrm>
            <a:off x="8667780" y="3095610"/>
            <a:ext cx="2857500" cy="1190640"/>
          </a:xfrm>
          <a:prstGeom prst="rect">
            <a:avLst/>
          </a:prstGeom>
          <a:noFill/>
          <a:ln/>
        </p:spPr>
        <p:txBody>
          <a:bodyPr wrap="square" rtlCol="0" anchor="t"/>
          <a:lstStyle/>
          <a:p>
            <a:pPr indent="0" marL="0">
              <a:buNone/>
            </a:pPr>
            <a:r>
              <a:rPr lang="en-US" sz="2100" dirty="0">
                <a:solidFill>
                  <a:srgbClr val="174535"/>
                </a:solidFill>
                <a:latin typeface="Arial" pitchFamily="34" charset="0"/>
                <a:ea typeface="Arial" pitchFamily="34" charset="-122"/>
                <a:cs typeface="Arial" pitchFamily="34" charset="-120"/>
              </a:rPr>
              <a:t>Minimal applied automatically</a:t>
            </a:r>
            <a:endParaRPr lang="en-US" sz="2100" dirty="0"/>
          </a:p>
        </p:txBody>
      </p:sp>
      <p:sp>
        <p:nvSpPr>
          <p:cNvPr id="8" name="Text 4"/>
          <p:cNvSpPr txBox="1"/>
          <p:nvPr/>
        </p:nvSpPr>
        <p:spPr>
          <a:xfrm>
            <a:off x="8667780" y="4667280"/>
            <a:ext cx="2857500" cy="1190640"/>
          </a:xfrm>
          <a:prstGeom prst="rect">
            <a:avLst/>
          </a:prstGeom>
          <a:noFill/>
          <a:ln/>
        </p:spPr>
        <p:txBody>
          <a:bodyPr wrap="square" rtlCol="0" anchor="t"/>
          <a:lstStyle/>
          <a:p>
            <a:pPr indent="0" marL="0">
              <a:buNone/>
            </a:pPr>
            <a:r>
              <a:rPr lang="en-US" sz="2100" b="1" dirty="0">
                <a:solidFill>
                  <a:srgbClr val="E87924"/>
                </a:solidFill>
                <a:latin typeface="Arial" pitchFamily="34" charset="0"/>
                <a:ea typeface="Arial" pitchFamily="34" charset="-122"/>
                <a:cs typeface="Arial" pitchFamily="34" charset="-120"/>
              </a:rPr>
              <a:t>Engineered waited for approval</a:t>
            </a:r>
            <a:endParaRPr lang="en-US" sz="21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v3 results (historical)</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V3 REHEARSAL / 26 OCTOBER 2026</a:t>
            </a:r>
            <a:endParaRPr lang="en-US" sz="975" dirty="0"/>
          </a:p>
        </p:txBody>
      </p:sp>
      <p:sp>
        <p:nvSpPr>
          <p:cNvPr id="5" name="Text 2"/>
          <p:cNvSpPr txBox="1"/>
          <p:nvPr/>
        </p:nvSpPr>
        <p:spPr>
          <a:xfrm>
            <a:off x="666780" y="1381110"/>
            <a:ext cx="10858500" cy="40005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OpenRouter / cohere/north-mini-code:free / same Draft task</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19140" y="2000250"/>
          <a:ext cx="10953780" cy="914400"/>
        </p:xfrm>
        <a:graphic>
          <a:graphicData uri="http://schemas.openxmlformats.org/drawingml/2006/table">
            <a:tbl>
              <a:tblPr/>
              <a:tblGrid>
                <a:gridCol w="3333720"/>
                <a:gridCol w="3810030"/>
                <a:gridCol w="3810030"/>
              </a:tblGrid>
              <a:tr h="609630">
                <a:tc>
                  <a:txBody>
                    <a:bodyPr/>
                    <a:lstStyle/>
                    <a:p>
                      <a:pPr indent="0" marL="0">
                        <a:buNone/>
                      </a:pPr>
                      <a:r>
                        <a:rPr lang="en-US" sz="1800" b="1" dirty="0">
                          <a:solidFill>
                            <a:srgbClr val="FFFFFF"/>
                          </a:solidFill>
                          <a:latin typeface="Arial" pitchFamily="34" charset="0"/>
                          <a:ea typeface="Arial" pitchFamily="34" charset="-122"/>
                          <a:cs typeface="Arial" pitchFamily="34" charset="-120"/>
                        </a:rPr>
                        <a:t>Evidence</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Minimal</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Engineered</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r>
              <a:tr h="609630">
                <a:tc>
                  <a:txBody>
                    <a:bodyPr/>
                    <a:lstStyle/>
                    <a:p>
                      <a:pPr indent="0" marL="0">
                        <a:buNone/>
                      </a:pPr>
                      <a:r>
                        <a:rPr lang="en-US" sz="1800" dirty="0">
                          <a:solidFill>
                            <a:srgbClr val="174535"/>
                          </a:solidFill>
                          <a:latin typeface="Arial" pitchFamily="34" charset="0"/>
                          <a:ea typeface="Arial" pitchFamily="34" charset="-122"/>
                          <a:cs typeface="Arial" pitchFamily="34" charset="-120"/>
                        </a:rPr>
                        <a:t>Observed checks</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passed</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passed</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609630">
                <a:tc>
                  <a:txBody>
                    <a:bodyPr/>
                    <a:lstStyle/>
                    <a:p>
                      <a:pPr indent="0" marL="0">
                        <a:buNone/>
                      </a:pPr>
                      <a:r>
                        <a:rPr lang="en-US" sz="1800" dirty="0">
                          <a:solidFill>
                            <a:srgbClr val="174535"/>
                          </a:solidFill>
                          <a:latin typeface="Arial" pitchFamily="34" charset="0"/>
                          <a:ea typeface="Arial" pitchFamily="34" charset="-122"/>
                          <a:cs typeface="Arial" pitchFamily="34" charset="-120"/>
                        </a:rPr>
                        <a:t>Real model calls</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20</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13</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r h="609630">
                <a:tc>
                  <a:txBody>
                    <a:bodyPr/>
                    <a:lstStyle/>
                    <a:p>
                      <a:pPr indent="0" marL="0">
                        <a:buNone/>
                      </a:pPr>
                      <a:r>
                        <a:rPr lang="en-US" sz="1800" dirty="0">
                          <a:solidFill>
                            <a:srgbClr val="174535"/>
                          </a:solidFill>
                          <a:latin typeface="Arial" pitchFamily="34" charset="0"/>
                          <a:ea typeface="Arial" pitchFamily="34" charset="-122"/>
                          <a:cs typeface="Arial" pitchFamily="34" charset="-120"/>
                        </a:rPr>
                        <a:t>Time before review</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73.080 seconds</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89.012 seconds</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609630">
                <a:tc>
                  <a:txBody>
                    <a:bodyPr/>
                    <a:lstStyle/>
                    <a:p>
                      <a:pPr indent="0" marL="0">
                        <a:buNone/>
                      </a:pPr>
                      <a:r>
                        <a:rPr lang="en-US" sz="1800" dirty="0">
                          <a:solidFill>
                            <a:srgbClr val="174535"/>
                          </a:solidFill>
                          <a:latin typeface="Arial" pitchFamily="34" charset="0"/>
                          <a:ea typeface="Arial" pitchFamily="34" charset="-122"/>
                          <a:cs typeface="Arial" pitchFamily="34" charset="-120"/>
                        </a:rPr>
                        <a:t>Publication</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Applied automatically</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Reviewed, then approved</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bl>
          </a:graphicData>
        </a:graphic>
      </p:graphicFrame>
      <p:sp>
        <p:nvSpPr>
          <p:cNvPr id="7" name="Text 3"/>
          <p:cNvSpPr txBox="1"/>
          <p:nvPr/>
        </p:nvSpPr>
        <p:spPr>
          <a:xfrm>
            <a:off x="666780" y="5314950"/>
            <a:ext cx="10668030" cy="66678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Both published apps passed independent browser validation with zero observed errors.</a:t>
            </a:r>
            <a:endParaRPr lang="en-US" sz="2025" dirty="0"/>
          </a:p>
        </p:txBody>
      </p:sp>
      <p:sp>
        <p:nvSpPr>
          <p:cNvPr id="8" name="Text 4"/>
          <p:cNvSpPr txBox="1"/>
          <p:nvPr/>
        </p:nvSpPr>
        <p:spPr>
          <a:xfrm>
            <a:off x="666780" y="6048390"/>
            <a:ext cx="10477470" cy="381030"/>
          </a:xfrm>
          <a:prstGeom prst="rect">
            <a:avLst/>
          </a:prstGeom>
          <a:noFill/>
          <a:ln/>
        </p:spPr>
        <p:txBody>
          <a:bodyPr wrap="square" rtlCol="0" anchor="t"/>
          <a:lstStyle/>
          <a:p>
            <a:pPr indent="0" marL="0">
              <a:buNone/>
            </a:pPr>
            <a:r>
              <a:rPr lang="en-US" sz="1725" dirty="0">
                <a:solidFill>
                  <a:srgbClr val="54685D"/>
                </a:solidFill>
                <a:latin typeface="Arial" pitchFamily="34" charset="0"/>
                <a:ea typeface="Arial" pitchFamily="34" charset="-122"/>
                <a:cs typeface="Arial" pitchFamily="34" charset="-120"/>
              </a:rPr>
              <a:t>One matched pair. The result shows enforced checks and approval.</a:t>
            </a:r>
            <a:endParaRPr lang="en-US" sz="17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Historical v2 outcomes</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19140" y="1733520"/>
          <a:ext cx="10953780" cy="914400"/>
        </p:xfrm>
        <a:graphic>
          <a:graphicData uri="http://schemas.openxmlformats.org/drawingml/2006/table">
            <a:tbl>
              <a:tblPr/>
              <a:tblGrid>
                <a:gridCol w="3143250"/>
                <a:gridCol w="3905220"/>
                <a:gridCol w="3905220"/>
              </a:tblGrid>
              <a:tr h="761970">
                <a:tc>
                  <a:txBody>
                    <a:bodyPr/>
                    <a:lstStyle/>
                    <a:p>
                      <a:pPr indent="0" marL="0">
                        <a:buNone/>
                      </a:pPr>
                      <a:r>
                        <a:rPr lang="en-US" sz="1800" b="1" dirty="0">
                          <a:solidFill>
                            <a:srgbClr val="FFFFFF"/>
                          </a:solidFill>
                          <a:latin typeface="Arial" pitchFamily="34" charset="0"/>
                          <a:ea typeface="Arial" pitchFamily="34" charset="-122"/>
                          <a:cs typeface="Arial" pitchFamily="34" charset="-120"/>
                        </a:rPr>
                        <a:t>Acceptance variant</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Minimal</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Engineered</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174B91"/>
                    </a:solidFill>
                  </a:tcPr>
                </a:tc>
              </a:tr>
              <a:tr h="761970">
                <a:tc>
                  <a:txBody>
                    <a:bodyPr/>
                    <a:lstStyle/>
                    <a:p>
                      <a:pPr indent="0" marL="0">
                        <a:buNone/>
                      </a:pPr>
                      <a:r>
                        <a:rPr lang="en-US" sz="1800" dirty="0">
                          <a:solidFill>
                            <a:srgbClr val="174535"/>
                          </a:solidFill>
                          <a:latin typeface="Arial" pitchFamily="34" charset="0"/>
                          <a:ea typeface="Arial" pitchFamily="34" charset="-122"/>
                          <a:cs typeface="Arial" pitchFamily="34" charset="-120"/>
                        </a:rPr>
                        <a:t>Draft</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5/6; budget stopped run</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waited for approval</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r h="761970">
                <a:tc>
                  <a:txBody>
                    <a:bodyPr/>
                    <a:lstStyle/>
                    <a:p>
                      <a:pPr indent="0" marL="0">
                        <a:buNone/>
                      </a:pPr>
                      <a:r>
                        <a:rPr lang="en-US" sz="1800" dirty="0">
                          <a:solidFill>
                            <a:srgbClr val="174535"/>
                          </a:solidFill>
                          <a:latin typeface="Arial" pitchFamily="34" charset="0"/>
                          <a:ea typeface="Arial" pitchFamily="34" charset="-122"/>
                          <a:cs typeface="Arial" pitchFamily="34" charset="-120"/>
                        </a:rPr>
                        <a:t>Unicode and multiline</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applied automatically</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waited for approval</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EEF2EA"/>
                    </a:solidFill>
                  </a:tcPr>
                </a:tc>
              </a:tr>
              <a:tr h="761970">
                <a:tc>
                  <a:txBody>
                    <a:bodyPr/>
                    <a:lstStyle/>
                    <a:p>
                      <a:pPr indent="0" marL="0">
                        <a:buNone/>
                      </a:pPr>
                      <a:r>
                        <a:rPr lang="en-US" sz="1800" dirty="0">
                          <a:solidFill>
                            <a:srgbClr val="174535"/>
                          </a:solidFill>
                          <a:latin typeface="Arial" pitchFamily="34" charset="0"/>
                          <a:ea typeface="Arial" pitchFamily="34" charset="-122"/>
                          <a:cs typeface="Arial" pitchFamily="34" charset="-120"/>
                        </a:rPr>
                        <a:t>Long-form text</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applied automatically</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c>
                  <a:txBody>
                    <a:bodyPr/>
                    <a:lstStyle/>
                    <a:p>
                      <a:pPr indent="0" marL="0">
                        <a:buNone/>
                      </a:pPr>
                      <a:r>
                        <a:rPr lang="en-US" sz="1800" dirty="0">
                          <a:solidFill>
                            <a:srgbClr val="174535"/>
                          </a:solidFill>
                          <a:latin typeface="Arial" pitchFamily="34" charset="0"/>
                          <a:ea typeface="Arial" pitchFamily="34" charset="-122"/>
                          <a:cs typeface="Arial" pitchFamily="34" charset="-120"/>
                        </a:rPr>
                        <a:t>6/6; waited for approval</a:t>
                      </a:r>
                      <a:endParaRPr lang="en-US" sz="1800" dirty="0">
                        <a:latin typeface="Arial" charset="0"/>
                        <a:ea typeface="Arial" charset="0"/>
                        <a:cs typeface="Arial" charset="0"/>
                      </a:endParaRPr>
                    </a:p>
                  </a:txBody>
                  <a:tcPr marL="73152" marR="73152" marT="73152" marB="73152" anchor="t">
                    <a:lnL w="9525" cap="flat" cmpd="sng" algn="ctr">
                      <a:solidFill>
                        <a:srgbClr val="D4DDD5"/>
                      </a:solidFill>
                      <a:prstDash val="solid"/>
                      <a:round/>
                      <a:headEnd type="none" w="med" len="med"/>
                      <a:tailEnd type="none" w="med" len="med"/>
                    </a:lnL>
                    <a:lnR w="9525" cap="flat" cmpd="sng" algn="ctr">
                      <a:solidFill>
                        <a:srgbClr val="D4DDD5"/>
                      </a:solidFill>
                      <a:prstDash val="solid"/>
                      <a:round/>
                      <a:headEnd type="none" w="med" len="med"/>
                      <a:tailEnd type="none" w="med" len="med"/>
                    </a:lnR>
                    <a:lnT w="9525" cap="flat" cmpd="sng" algn="ctr">
                      <a:solidFill>
                        <a:srgbClr val="D4DDD5"/>
                      </a:solidFill>
                      <a:prstDash val="solid"/>
                      <a:round/>
                      <a:headEnd type="none" w="med" len="med"/>
                      <a:tailEnd type="none" w="med" len="med"/>
                    </a:lnT>
                    <a:lnB w="9525" cap="flat" cmpd="sng" algn="ctr">
                      <a:solidFill>
                        <a:srgbClr val="D4DDD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66780" y="5333970"/>
            <a:ext cx="10668030" cy="809610"/>
          </a:xfrm>
          <a:prstGeom prst="rect">
            <a:avLst/>
          </a:prstGeom>
          <a:noFill/>
          <a:ln/>
        </p:spPr>
        <p:txBody>
          <a:bodyPr wrap="square" rtlCol="0" anchor="t"/>
          <a:lstStyle/>
          <a:p>
            <a:pPr indent="0" marL="0">
              <a:buNone/>
            </a:pPr>
            <a:r>
              <a:rPr lang="en-US" sz="2025" dirty="0">
                <a:solidFill>
                  <a:srgbClr val="54685D"/>
                </a:solidFill>
                <a:latin typeface="Arial" pitchFamily="34" charset="0"/>
                <a:ea typeface="Arial" pitchFamily="34" charset="-122"/>
                <a:cs typeface="Arial" pitchFamily="34" charset="-120"/>
              </a:rPr>
              <a:t>One trial per cell. Success, completion and approval are separate outcomes.</a:t>
            </a:r>
            <a:endParaRPr lang="en-US" sz="202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Fresh sessions: v2 evidence</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RECORDED V2 REHEARSAL / 25 OCTOBER 2026</a:t>
            </a:r>
            <a:endParaRPr lang="en-US" sz="975" dirty="0"/>
          </a:p>
        </p:txBody>
      </p:sp>
      <p:pic>
        <p:nvPicPr>
          <p:cNvPr id="5" name="Image 0" descr="memory checkpoint">    </p:cNvPr>
          <p:cNvPicPr>
            <a:picLocks noChangeAspect="1"/>
          </p:cNvPicPr>
          <p:nvPr/>
        </p:nvPicPr>
        <p:blipFill>
          <a:blip r:embed="rId1"/>
          <a:stretch>
            <a:fillRect/>
          </a:stretch>
        </p:blipFill>
        <p:spPr>
          <a:xfrm>
            <a:off x="866760" y="1524030"/>
            <a:ext cx="7391370" cy="4619640"/>
          </a:xfrm>
          <a:prstGeom prst="rect">
            <a:avLst/>
          </a:prstGeom>
        </p:spPr>
      </p:pic>
      <p:sp>
        <p:nvSpPr>
          <p:cNvPr id="6" name="Text 2"/>
          <p:cNvSpPr txBox="1"/>
          <p:nvPr/>
        </p:nvSpPr>
        <p:spPr>
          <a:xfrm>
            <a:off x="8953530" y="1809780"/>
            <a:ext cx="2476470" cy="952530"/>
          </a:xfrm>
          <a:prstGeom prst="rect">
            <a:avLst/>
          </a:prstGeom>
          <a:noFill/>
          <a:ln/>
        </p:spPr>
        <p:txBody>
          <a:bodyPr wrap="square" rtlCol="0" anchor="t"/>
          <a:lstStyle/>
          <a:p>
            <a:pPr indent="0" marL="0">
              <a:buNone/>
            </a:pPr>
            <a:r>
              <a:rPr lang="en-US" sz="2100" b="1" dirty="0">
                <a:solidFill>
                  <a:srgbClr val="174B91"/>
                </a:solidFill>
                <a:latin typeface="Arial" pitchFamily="34" charset="0"/>
                <a:ea typeface="Arial" pitchFamily="34" charset="-122"/>
                <a:cs typeface="Arial" pitchFamily="34" charset="-120"/>
              </a:rPr>
              <a:t>Both retained files</a:t>
            </a:r>
            <a:endParaRPr lang="en-US" sz="2100" dirty="0"/>
          </a:p>
        </p:txBody>
      </p:sp>
      <p:sp>
        <p:nvSpPr>
          <p:cNvPr id="7" name="Text 3"/>
          <p:cNvSpPr txBox="1"/>
          <p:nvPr/>
        </p:nvSpPr>
        <p:spPr>
          <a:xfrm>
            <a:off x="8953530" y="3047970"/>
            <a:ext cx="2476470" cy="1428750"/>
          </a:xfrm>
          <a:prstGeom prst="rect">
            <a:avLst/>
          </a:prstGeom>
          <a:noFill/>
          <a:ln/>
        </p:spPr>
        <p:txBody>
          <a:bodyPr wrap="square" rtlCol="0" anchor="t"/>
          <a:lstStyle/>
          <a:p>
            <a:pPr indent="0" marL="0">
              <a:buNone/>
            </a:pPr>
            <a:r>
              <a:rPr lang="en-US" sz="2100" dirty="0">
                <a:solidFill>
                  <a:srgbClr val="174535"/>
                </a:solidFill>
                <a:latin typeface="Arial" pitchFamily="34" charset="0"/>
                <a:ea typeface="Arial" pitchFamily="34" charset="-122"/>
                <a:cs typeface="Arial" pitchFamily="34" charset="-120"/>
              </a:rPr>
              <a:t>Only Engineered restored saved progress</a:t>
            </a:r>
            <a:endParaRPr lang="en-US" sz="2100" dirty="0"/>
          </a:p>
        </p:txBody>
      </p:sp>
      <p:sp>
        <p:nvSpPr>
          <p:cNvPr id="8" name="Text 4"/>
          <p:cNvSpPr txBox="1"/>
          <p:nvPr/>
        </p:nvSpPr>
        <p:spPr>
          <a:xfrm>
            <a:off x="8953530" y="4857750"/>
            <a:ext cx="2476470" cy="1238280"/>
          </a:xfrm>
          <a:prstGeom prst="rect">
            <a:avLst/>
          </a:prstGeom>
          <a:noFill/>
          <a:ln/>
        </p:spPr>
        <p:txBody>
          <a:bodyPr wrap="square" rtlCol="0" anchor="t"/>
          <a:lstStyle/>
          <a:p>
            <a:pPr indent="0" marL="0">
              <a:buNone/>
            </a:pPr>
            <a:r>
              <a:rPr lang="en-US" sz="1875" b="1" dirty="0">
                <a:solidFill>
                  <a:srgbClr val="E87924"/>
                </a:solidFill>
                <a:latin typeface="Arial" pitchFamily="34" charset="0"/>
                <a:ea typeface="Arial" pitchFamily="34" charset="-122"/>
                <a:cs typeface="Arial" pitchFamily="34" charset="-120"/>
              </a:rPr>
              <a:t>Both hit a budget in this rehearsal</a:t>
            </a:r>
            <a:endParaRPr lang="en-US" sz="1875"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609630" y="457200"/>
            <a:ext cx="10972800" cy="952530"/>
          </a:xfrm>
          <a:prstGeom prst="rect">
            <a:avLst/>
          </a:prstGeom>
          <a:noFill/>
          <a:ln/>
        </p:spPr>
        <p:txBody>
          <a:bodyPr wrap="square" rtlCol="0" anchor="t"/>
          <a:lstStyle/>
          <a:p>
            <a:pPr algn="l" indent="0" marL="0">
              <a:buNone/>
            </a:pPr>
            <a:r>
              <a:rPr lang="en-US" sz="3300" b="1" dirty="0">
                <a:solidFill>
                  <a:srgbClr val="174535"/>
                </a:solidFill>
                <a:latin typeface="Arial" pitchFamily="34" charset="0"/>
                <a:ea typeface="Arial" pitchFamily="34" charset="-122"/>
                <a:cs typeface="Arial" pitchFamily="34" charset="-120"/>
              </a:rPr>
              <a:t>What the demo established (v2 and v3)</a:t>
            </a:r>
            <a:endParaRPr lang="en-US" sz="3300" dirty="0"/>
          </a:p>
        </p:txBody>
      </p:sp>
      <p:sp>
        <p:nvSpPr>
          <p:cNvPr id="3" name="Text 1"/>
          <p:cNvSpPr txBox="1"/>
          <p:nvPr/>
        </p:nvSpPr>
        <p:spPr>
          <a:xfrm>
            <a:off x="628650" y="171450"/>
            <a:ext cx="10001250" cy="238110"/>
          </a:xfrm>
          <a:prstGeom prst="rect">
            <a:avLst/>
          </a:prstGeom>
          <a:noFill/>
          <a:ln/>
        </p:spPr>
        <p:txBody>
          <a:bodyPr wrap="square" rtlCol="0" anchor="t"/>
          <a:lstStyle/>
          <a:p>
            <a:pPr indent="0" marL="0">
              <a:buNone/>
            </a:pPr>
            <a:r>
              <a:rPr lang="en-US" sz="975" b="1" dirty="0">
                <a:solidFill>
                  <a:srgbClr val="54685D"/>
                </a:solidFill>
                <a:latin typeface="Arial" pitchFamily="34" charset="0"/>
                <a:ea typeface="Arial" pitchFamily="34" charset="-122"/>
                <a:cs typeface="Arial" pitchFamily="34" charset="-120"/>
              </a:rPr>
              <a:t>HISTORICAL · V2 AND V3 CONCLUSIONS</a:t>
            </a:r>
            <a:endParaRPr lang="en-US" sz="975" dirty="0"/>
          </a:p>
        </p:txBody>
      </p:sp>
      <p:sp>
        <p:nvSpPr>
          <p:cNvPr id="5" name="Text 2"/>
          <p:cNvSpPr txBox="1"/>
          <p:nvPr/>
        </p:nvSpPr>
        <p:spPr>
          <a:xfrm>
            <a:off x="666780" y="180978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The controls are visible and testable</a:t>
            </a:r>
            <a:endParaRPr lang="en-US" sz="2025" dirty="0"/>
          </a:p>
        </p:txBody>
      </p:sp>
      <p:sp>
        <p:nvSpPr>
          <p:cNvPr id="6" name="Text 3"/>
          <p:cNvSpPr txBox="1"/>
          <p:nvPr/>
        </p:nvSpPr>
        <p:spPr>
          <a:xfrm>
            <a:off x="666780" y="219072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Inputs, tools, saved state, checks and approval leave recorded evidence.</a:t>
            </a:r>
            <a:endParaRPr lang="en-US" sz="1800" dirty="0"/>
          </a:p>
        </p:txBody>
      </p:sp>
      <p:sp>
        <p:nvSpPr>
          <p:cNvPr id="7" name="Text 4"/>
          <p:cNvSpPr txBox="1"/>
          <p:nvPr/>
        </p:nvSpPr>
        <p:spPr>
          <a:xfrm>
            <a:off x="666780" y="309561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A capable model can succeed with Minimal</a:t>
            </a:r>
            <a:endParaRPr lang="en-US" sz="2025" dirty="0"/>
          </a:p>
        </p:txBody>
      </p:sp>
      <p:sp>
        <p:nvSpPr>
          <p:cNvPr id="8" name="Text 5"/>
          <p:cNvSpPr txBox="1"/>
          <p:nvPr/>
        </p:nvSpPr>
        <p:spPr>
          <a:xfrm>
            <a:off x="666780" y="347664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The contrast is also what the runtime requires before completion.</a:t>
            </a:r>
            <a:endParaRPr lang="en-US" sz="1800" dirty="0"/>
          </a:p>
        </p:txBody>
      </p:sp>
      <p:sp>
        <p:nvSpPr>
          <p:cNvPr id="9" name="Text 6"/>
          <p:cNvSpPr txBox="1"/>
          <p:nvPr/>
        </p:nvSpPr>
        <p:spPr>
          <a:xfrm>
            <a:off x="666780" y="4381530"/>
            <a:ext cx="10477470" cy="342900"/>
          </a:xfrm>
          <a:prstGeom prst="rect">
            <a:avLst/>
          </a:prstGeom>
          <a:noFill/>
          <a:ln/>
        </p:spPr>
        <p:txBody>
          <a:bodyPr wrap="square" rtlCol="0" anchor="t"/>
          <a:lstStyle/>
          <a:p>
            <a:pPr indent="0" marL="0">
              <a:buNone/>
            </a:pPr>
            <a:r>
              <a:rPr lang="en-US" sz="2025" b="1" dirty="0">
                <a:solidFill>
                  <a:srgbClr val="174B91"/>
                </a:solidFill>
                <a:latin typeface="Arial" pitchFamily="34" charset="0"/>
                <a:ea typeface="Arial" pitchFamily="34" charset="-122"/>
                <a:cs typeface="Arial" pitchFamily="34" charset="-120"/>
              </a:rPr>
              <a:t>Harnesses still have limits</a:t>
            </a:r>
            <a:endParaRPr lang="en-US" sz="2025" dirty="0"/>
          </a:p>
        </p:txBody>
      </p:sp>
      <p:sp>
        <p:nvSpPr>
          <p:cNvPr id="10" name="Text 7"/>
          <p:cNvSpPr txBox="1"/>
          <p:nvPr/>
        </p:nvSpPr>
        <p:spPr>
          <a:xfrm>
            <a:off x="666780" y="4762470"/>
            <a:ext cx="10477470" cy="619140"/>
          </a:xfrm>
          <a:prstGeom prst="rect">
            <a:avLst/>
          </a:prstGeom>
          <a:noFill/>
          <a:ln/>
        </p:spPr>
        <p:txBody>
          <a:bodyPr wrap="square" rtlCol="0" anchor="t"/>
          <a:lstStyle/>
          <a:p>
            <a:pPr indent="0" marL="0">
              <a:buNone/>
            </a:pPr>
            <a:r>
              <a:rPr lang="en-US" sz="1800" dirty="0">
                <a:solidFill>
                  <a:srgbClr val="54685D"/>
                </a:solidFill>
                <a:latin typeface="Arial" pitchFamily="34" charset="0"/>
                <a:ea typeface="Arial" pitchFamily="34" charset="-122"/>
                <a:cs typeface="Arial" pitchFamily="34" charset="-120"/>
              </a:rPr>
              <a:t>Provider failures, budgets and incomplete tests remain possible.</a:t>
            </a:r>
            <a:endParaRPr lang="en-US" sz="1800" dirty="0"/>
          </a:p>
        </p:txBody>
      </p:sp>
      <p:sp>
        <p:nvSpPr>
          <p:cNvPr id="25" name="Slide Number Placeholder 0"/>
          <p:cNvSpPr>
            <a:spLocks noGrp="1"/>
          </p:cNvSpPr>
          <p:nvPr>
            <p:ph type="sldNum" sz="quarter" idx="4294967295"/>
          </p:nvPr>
        </p:nvSpPr>
        <p:spPr>
          <a:xfrm>
            <a:off x="11048970" y="6429421"/>
            <a:ext cx="514350" cy="219090"/>
          </a:xfrm>
          <a:prstGeom prst="rect">
            <a:avLst/>
          </a:prstGeom>
          <a:extLst>
            <a:ext uri="{C572A759-6A51-4108-AA02-DFA0A04FC94B}">
              <ma14:wrappingTextBoxFlag xmlns:ma14="http://schemas.microsoft.com/office/mac/drawingml/2011/main" val="0"/>
            </a:ext>
          </a:extLst>
        </p:spPr>
        <p:txBody>
          <a:bodyPr/>
          <a:lstStyle>
            <a:lvl1pPr>
              <a:defRPr sz="1125">
                <a:solidFill>
                  <a:srgbClr val="54685D"/>
                </a:solidFill>
                <a:latin typeface="Arial"/>
                <a:ea typeface="Arial"/>
                <a:cs typeface="Arial"/>
              </a:defRPr>
            </a:lvl1pPr>
          </a:lstStyle>
          <a:p>
            <a:pPr algn="l"/>
            <a:fld id="{F7021451-1387-4CA6-816F-3879F97B5CBC}" type="slidenum">
              <a:rPr b="0"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harness &amp; harness engineering</dc:title>
  <dc:subject>Harness Lab workshop deck, rebuilt for harness v4</dc:subject>
  <dc:creator>PptxGenJS</dc:creator>
  <cp:lastModifiedBy>PptxGenJS</cp:lastModifiedBy>
  <cp:revision>1</cp:revision>
  <dcterms:created xsi:type="dcterms:W3CDTF">2026-10-27T02:13:25Z</dcterms:created>
  <dcterms:modified xsi:type="dcterms:W3CDTF">2026-10-27T02:13:25Z</dcterms:modified>
</cp:coreProperties>
</file>