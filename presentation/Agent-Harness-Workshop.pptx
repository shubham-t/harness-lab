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c60af6052cb470e" /><Relationship Type="http://schemas.openxmlformats.org/officeDocument/2006/relationships/extended-properties" Target="/docProps/app.xml" Id="R4a7594d6d4074757" /><Relationship Type="http://schemas.openxmlformats.org/officeDocument/2006/relationships/officeDocument" Target="/ppt/presentation.xml" Id="R9d98c6dbe99b43ba" /></Relationships>
</file>

<file path=ppt/presentation.xml><?xml version="1.0" encoding="utf-8"?>
<p:presentation xmlns:p="http://schemas.openxmlformats.org/presentationml/2006/main">
  <p:sldMasterIdLst>
    <p:sldMasterId xmlns:r="http://schemas.openxmlformats.org/officeDocument/2006/relationships" id="2147483648" r:id="Rcda2dc4dda5a46bd"/>
  </p:sldMasterIdLst>
  <p:notesMasterIdLst>
    <p:notesMasterId xmlns:r="http://schemas.openxmlformats.org/officeDocument/2006/relationships" r:id="R8d34fbdd2128421f"/>
  </p:notesMasterIdLst>
  <p:sldIdLst>
    <p:sldId xmlns:r="http://schemas.openxmlformats.org/officeDocument/2006/relationships" id="256" r:id="R0e47d7be1f1f4d3d"/>
    <p:sldId xmlns:r="http://schemas.openxmlformats.org/officeDocument/2006/relationships" id="257" r:id="Rcae0f06a86b34c5a"/>
    <p:sldId xmlns:r="http://schemas.openxmlformats.org/officeDocument/2006/relationships" id="258" r:id="R045a9ef8a83a4e69"/>
    <p:sldId xmlns:r="http://schemas.openxmlformats.org/officeDocument/2006/relationships" id="259" r:id="R65a105dd36c9494e"/>
    <p:sldId xmlns:r="http://schemas.openxmlformats.org/officeDocument/2006/relationships" id="260" r:id="R8cd14697e66740ed"/>
    <p:sldId xmlns:r="http://schemas.openxmlformats.org/officeDocument/2006/relationships" id="261" r:id="Rac12349ecb8d45af"/>
    <p:sldId xmlns:r="http://schemas.openxmlformats.org/officeDocument/2006/relationships" id="262" r:id="Rbf48c458b678484e"/>
    <p:sldId xmlns:r="http://schemas.openxmlformats.org/officeDocument/2006/relationships" id="263" r:id="R36d2d910d5ec489b"/>
    <p:sldId xmlns:r="http://schemas.openxmlformats.org/officeDocument/2006/relationships" id="264" r:id="R8a7de7ca081e483a"/>
    <p:sldId xmlns:r="http://schemas.openxmlformats.org/officeDocument/2006/relationships" id="265" r:id="R1d0b375b4a9448b9"/>
    <p:sldId xmlns:r="http://schemas.openxmlformats.org/officeDocument/2006/relationships" id="266" r:id="R21b65c370fcf4ce8"/>
    <p:sldId xmlns:r="http://schemas.openxmlformats.org/officeDocument/2006/relationships" id="267" r:id="R1e9161487bc843cd"/>
    <p:sldId xmlns:r="http://schemas.openxmlformats.org/officeDocument/2006/relationships" id="268" r:id="R0d1bd95fb175424d"/>
    <p:sldId xmlns:r="http://schemas.openxmlformats.org/officeDocument/2006/relationships" id="269" r:id="R80180a29b9ec4b77"/>
    <p:sldId xmlns:r="http://schemas.openxmlformats.org/officeDocument/2006/relationships" id="270" r:id="Rdbaca9cc1d6a44c3"/>
    <p:sldId xmlns:r="http://schemas.openxmlformats.org/officeDocument/2006/relationships" id="271" r:id="Ref9964f2e0d24b8b"/>
    <p:sldId xmlns:r="http://schemas.openxmlformats.org/officeDocument/2006/relationships" id="272" r:id="R958a5de0e03049e9"/>
    <p:sldId xmlns:r="http://schemas.openxmlformats.org/officeDocument/2006/relationships" id="273" r:id="R348548ba7c8e4bc1"/>
    <p:sldId xmlns:r="http://schemas.openxmlformats.org/officeDocument/2006/relationships" id="274" r:id="R7f04b33a35294960"/>
    <p:sldId xmlns:r="http://schemas.openxmlformats.org/officeDocument/2006/relationships" id="275" r:id="R84a287ba6c4944b6"/>
    <p:sldId xmlns:r="http://schemas.openxmlformats.org/officeDocument/2006/relationships" id="276" r:id="R46c9bda78e6b42f5"/>
    <p:sldId xmlns:r="http://schemas.openxmlformats.org/officeDocument/2006/relationships" id="277" r:id="R3647927e03a542fd"/>
    <p:sldId xmlns:r="http://schemas.openxmlformats.org/officeDocument/2006/relationships" id="278" r:id="Rb4a467afee5f4adc"/>
    <p:sldId xmlns:r="http://schemas.openxmlformats.org/officeDocument/2006/relationships" id="279" r:id="Ra5b740aee81d4f58"/>
    <p:sldId xmlns:r="http://schemas.openxmlformats.org/officeDocument/2006/relationships" id="280" r:id="R4e6a1baf66f1427f"/>
    <p:sldId xmlns:r="http://schemas.openxmlformats.org/officeDocument/2006/relationships" id="281" r:id="Rbe343d7cc81c409f"/>
    <p:sldId xmlns:r="http://schemas.openxmlformats.org/officeDocument/2006/relationships" id="282" r:id="Re84948686a054a7d"/>
    <p:sldId xmlns:r="http://schemas.openxmlformats.org/officeDocument/2006/relationships" id="283" r:id="Raccdb6c9646247ef"/>
    <p:sldId xmlns:r="http://schemas.openxmlformats.org/officeDocument/2006/relationships" id="284" r:id="Rc6441eaf0e4d49b6"/>
    <p:sldId xmlns:r="http://schemas.openxmlformats.org/officeDocument/2006/relationships" id="285" r:id="R56e0e31069ce4c41"/>
    <p:sldId xmlns:r="http://schemas.openxmlformats.org/officeDocument/2006/relationships" id="286" r:id="Ra4294d0ab9194302"/>
    <p:sldId xmlns:r="http://schemas.openxmlformats.org/officeDocument/2006/relationships" id="287" r:id="R5855f7841cb94fce"/>
    <p:sldId xmlns:r="http://schemas.openxmlformats.org/officeDocument/2006/relationships" id="288" r:id="R88243c907be1491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862c9264ddb4116" /><Relationship Type="http://schemas.openxmlformats.org/officeDocument/2006/relationships/slideMaster" Target="/ppt/slideMasters/slideMaster1.xml" Id="Rcda2dc4dda5a46bd" /><Relationship Type="http://schemas.openxmlformats.org/officeDocument/2006/relationships/notesMaster" Target="/ppt/notesMasters/notesMaster1.xml" Id="R8d34fbdd2128421f" /><Relationship Type="http://schemas.openxmlformats.org/officeDocument/2006/relationships/presProps" Target="/ppt/presProps.xml" Id="R9f6917a582ec4d3e" /><Relationship Type="http://schemas.openxmlformats.org/officeDocument/2006/relationships/tableStyles" Target="/ppt/tableStyles.xml" Id="Rc5000c54ddab4271" /><Relationship Type="http://schemas.openxmlformats.org/officeDocument/2006/relationships/slide" Target="/ppt/slides/slide1.xml" Id="R0e47d7be1f1f4d3d" /><Relationship Type="http://schemas.openxmlformats.org/officeDocument/2006/relationships/slide" Target="/ppt/slides/slide2.xml" Id="Rcae0f06a86b34c5a" /><Relationship Type="http://schemas.openxmlformats.org/officeDocument/2006/relationships/slide" Target="/ppt/slides/slide3.xml" Id="R045a9ef8a83a4e69" /><Relationship Type="http://schemas.openxmlformats.org/officeDocument/2006/relationships/slide" Target="/ppt/slides/slide4.xml" Id="R65a105dd36c9494e" /><Relationship Type="http://schemas.openxmlformats.org/officeDocument/2006/relationships/slide" Target="/ppt/slides/slide5.xml" Id="R8cd14697e66740ed" /><Relationship Type="http://schemas.openxmlformats.org/officeDocument/2006/relationships/slide" Target="/ppt/slides/slide6.xml" Id="Rac12349ecb8d45af" /><Relationship Type="http://schemas.openxmlformats.org/officeDocument/2006/relationships/slide" Target="/ppt/slides/slide7.xml" Id="Rbf48c458b678484e" /><Relationship Type="http://schemas.openxmlformats.org/officeDocument/2006/relationships/slide" Target="/ppt/slides/slide8.xml" Id="R36d2d910d5ec489b" /><Relationship Type="http://schemas.openxmlformats.org/officeDocument/2006/relationships/slide" Target="/ppt/slides/slide9.xml" Id="R8a7de7ca081e483a" /><Relationship Type="http://schemas.openxmlformats.org/officeDocument/2006/relationships/slide" Target="/ppt/slides/slide10.xml" Id="R1d0b375b4a9448b9" /><Relationship Type="http://schemas.openxmlformats.org/officeDocument/2006/relationships/slide" Target="/ppt/slides/slide11.xml" Id="R21b65c370fcf4ce8" /><Relationship Type="http://schemas.openxmlformats.org/officeDocument/2006/relationships/slide" Target="/ppt/slides/slide12.xml" Id="R1e9161487bc843cd" /><Relationship Type="http://schemas.openxmlformats.org/officeDocument/2006/relationships/slide" Target="/ppt/slides/slide13.xml" Id="R0d1bd95fb175424d" /><Relationship Type="http://schemas.openxmlformats.org/officeDocument/2006/relationships/slide" Target="/ppt/slides/slide14.xml" Id="R80180a29b9ec4b77" /><Relationship Type="http://schemas.openxmlformats.org/officeDocument/2006/relationships/slide" Target="/ppt/slides/slide15.xml" Id="Rdbaca9cc1d6a44c3" /><Relationship Type="http://schemas.openxmlformats.org/officeDocument/2006/relationships/slide" Target="/ppt/slides/slide16.xml" Id="Ref9964f2e0d24b8b" /><Relationship Type="http://schemas.openxmlformats.org/officeDocument/2006/relationships/slide" Target="/ppt/slides/slide17.xml" Id="R958a5de0e03049e9" /><Relationship Type="http://schemas.openxmlformats.org/officeDocument/2006/relationships/slide" Target="/ppt/slides/slide18.xml" Id="R348548ba7c8e4bc1" /><Relationship Type="http://schemas.openxmlformats.org/officeDocument/2006/relationships/slide" Target="/ppt/slides/slide19.xml" Id="R7f04b33a35294960" /><Relationship Type="http://schemas.openxmlformats.org/officeDocument/2006/relationships/slide" Target="/ppt/slides/slide20.xml" Id="R84a287ba6c4944b6" /><Relationship Type="http://schemas.openxmlformats.org/officeDocument/2006/relationships/slide" Target="/ppt/slides/slide21.xml" Id="R46c9bda78e6b42f5" /><Relationship Type="http://schemas.openxmlformats.org/officeDocument/2006/relationships/slide" Target="/ppt/slides/slide22.xml" Id="R3647927e03a542fd" /><Relationship Type="http://schemas.openxmlformats.org/officeDocument/2006/relationships/slide" Target="/ppt/slides/slide23.xml" Id="Rb4a467afee5f4adc" /><Relationship Type="http://schemas.openxmlformats.org/officeDocument/2006/relationships/slide" Target="/ppt/slides/slide24.xml" Id="Ra5b740aee81d4f58" /><Relationship Type="http://schemas.openxmlformats.org/officeDocument/2006/relationships/slide" Target="/ppt/slides/slide25.xml" Id="R4e6a1baf66f1427f" /><Relationship Type="http://schemas.openxmlformats.org/officeDocument/2006/relationships/slide" Target="/ppt/slides/slide26.xml" Id="Rbe343d7cc81c409f" /><Relationship Type="http://schemas.openxmlformats.org/officeDocument/2006/relationships/slide" Target="/ppt/slides/slide27.xml" Id="Re84948686a054a7d" /><Relationship Type="http://schemas.openxmlformats.org/officeDocument/2006/relationships/slide" Target="/ppt/slides/slide28.xml" Id="Raccdb6c9646247ef" /><Relationship Type="http://schemas.openxmlformats.org/officeDocument/2006/relationships/slide" Target="/ppt/slides/slide29.xml" Id="Rc6441eaf0e4d49b6" /><Relationship Type="http://schemas.openxmlformats.org/officeDocument/2006/relationships/slide" Target="/ppt/slides/slide30.xml" Id="R56e0e31069ce4c41" /><Relationship Type="http://schemas.openxmlformats.org/officeDocument/2006/relationships/slide" Target="/ppt/slides/slide31.xml" Id="Ra4294d0ab9194302" /><Relationship Type="http://schemas.openxmlformats.org/officeDocument/2006/relationships/slide" Target="/ppt/slides/slide32.xml" Id="R5855f7841cb94fce" /><Relationship Type="http://schemas.openxmlformats.org/officeDocument/2006/relationships/slide" Target="/ppt/slides/slide33.xml" Id="R88243c907be1491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22a44965b4040d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c7fde6e2c3464a" /><Relationship Type="http://schemas.openxmlformats.org/officeDocument/2006/relationships/notesMaster" Target="/ppt/notesMasters/notesMaster1.xml" Id="R208ed90e457b4587"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e402ad0213478e" /><Relationship Type="http://schemas.openxmlformats.org/officeDocument/2006/relationships/notesMaster" Target="/ppt/notesMasters/notesMaster1.xml" Id="R10f63c28377c4f50"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7d0100d4ee485d" /><Relationship Type="http://schemas.openxmlformats.org/officeDocument/2006/relationships/notesMaster" Target="/ppt/notesMasters/notesMaster1.xml" Id="Rfc025b76c5fd4ab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5d6f0df2564f1e" /><Relationship Type="http://schemas.openxmlformats.org/officeDocument/2006/relationships/notesMaster" Target="/ppt/notesMasters/notesMaster1.xml" Id="R08b7fbea4ebf49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9f0753dac74ab2" /><Relationship Type="http://schemas.openxmlformats.org/officeDocument/2006/relationships/notesMaster" Target="/ppt/notesMasters/notesMaster1.xml" Id="R45894164151c40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2e5232617334861" /><Relationship Type="http://schemas.openxmlformats.org/officeDocument/2006/relationships/notesMaster" Target="/ppt/notesMasters/notesMaster1.xml" Id="R9b75c8eac49245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8acd69dea346ca" /><Relationship Type="http://schemas.openxmlformats.org/officeDocument/2006/relationships/notesMaster" Target="/ppt/notesMasters/notesMaster1.xml" Id="Rba4568d6399b4dc8" /></Relationships>
</file>

<file path=ppt/notesSlides/_rels/notesSlide8.xml.rels>&#65279;<?xml version="1.0" encoding="utf-8"?><Relationships xmlns="http://schemas.openxmlformats.org/package/2006/relationships"><Relationship Type="http://schemas.openxmlformats.org/officeDocument/2006/relationships/slide" Target="/ppt/slides/slide8.xml" Id="Rdcb599acb6f84ddb" /><Relationship Type="http://schemas.openxmlformats.org/officeDocument/2006/relationships/notesMaster" Target="/ppt/notesMasters/notesMaster1.xml" Id="R2600fc6f00d24228" /></Relationships>
</file>

<file path=ppt/notesSlides/_rels/notesSlide9.xml.rels>&#65279;<?xml version="1.0" encoding="utf-8"?><Relationships xmlns="http://schemas.openxmlformats.org/package/2006/relationships"><Relationship Type="http://schemas.openxmlformats.org/officeDocument/2006/relationships/slide" Target="/ppt/slides/slide9.xml" Id="R89c97afe7b72421d" /><Relationship Type="http://schemas.openxmlformats.org/officeDocument/2006/relationships/notesMaster" Target="/ppt/notesMasters/notesMaster1.xml" Id="Rb935abcb3dc8486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3f5c1fc400444b7" /><Relationship Type="http://schemas.openxmlformats.org/officeDocument/2006/relationships/notesMaster" Target="/ppt/notesMasters/notesMaster1.xml" Id="Raaf4b3c0823c4de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e91a55c298b4529" /><Relationship Type="http://schemas.openxmlformats.org/officeDocument/2006/relationships/notesMaster" Target="/ppt/notesMasters/notesMaster1.xml" Id="R1e8e29d3b185441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c6891278aa24444" /><Relationship Type="http://schemas.openxmlformats.org/officeDocument/2006/relationships/notesMaster" Target="/ppt/notesMasters/notesMaster1.xml" Id="Ra9b067afb4a84b7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51527613394b50" /><Relationship Type="http://schemas.openxmlformats.org/officeDocument/2006/relationships/notesMaster" Target="/ppt/notesMasters/notesMaster1.xml" Id="R46919ef7f37a44e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ac25b6621fe4df5" /><Relationship Type="http://schemas.openxmlformats.org/officeDocument/2006/relationships/notesMaster" Target="/ppt/notesMasters/notesMaster1.xml" Id="Rbad3932134ba4a1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f84abe7e3ca4987" /><Relationship Type="http://schemas.openxmlformats.org/officeDocument/2006/relationships/notesMaster" Target="/ppt/notesMasters/notesMaster1.xml" Id="R3b5013622e2b44d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309039fe3ac4c8c" /><Relationship Type="http://schemas.openxmlformats.org/officeDocument/2006/relationships/notesMaster" Target="/ppt/notesMasters/notesMaster1.xml" Id="R06cdb2f252b94a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f1c5133b19147c5" /><Relationship Type="http://schemas.openxmlformats.org/officeDocument/2006/relationships/notesMaster" Target="/ppt/notesMasters/notesMaster1.xml" Id="R9687027917074b7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d1992ec9a494119" /><Relationship Type="http://schemas.openxmlformats.org/officeDocument/2006/relationships/notesMaster" Target="/ppt/notesMasters/notesMaster1.xml" Id="R7f741565f56a4a7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80ca686b59f421d" /><Relationship Type="http://schemas.openxmlformats.org/officeDocument/2006/relationships/notesMaster" Target="/ppt/notesMasters/notesMaster1.xml" Id="R1e8f2dd0721b4ae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cc824f1093342b2" /><Relationship Type="http://schemas.openxmlformats.org/officeDocument/2006/relationships/notesMaster" Target="/ppt/notesMasters/notesMaster1.xml" Id="Rb4e49e7ee8fd4f8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51b5a8a31f14de8" /><Relationship Type="http://schemas.openxmlformats.org/officeDocument/2006/relationships/notesMaster" Target="/ppt/notesMasters/notesMaster1.xml" Id="R06393385712343f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fa73f25c8fd456c" /><Relationship Type="http://schemas.openxmlformats.org/officeDocument/2006/relationships/notesMaster" Target="/ppt/notesMasters/notesMaster1.xml" Id="R662665dadcc44ba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17002b8aba64c1c" /><Relationship Type="http://schemas.openxmlformats.org/officeDocument/2006/relationships/notesMaster" Target="/ppt/notesMasters/notesMaster1.xml" Id="Rc89d1323a45a4bc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4955f31298547b2" /><Relationship Type="http://schemas.openxmlformats.org/officeDocument/2006/relationships/notesMaster" Target="/ppt/notesMasters/notesMaster1.xml" Id="R20e00ef7aaee43a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38afbbcb39348b7" /><Relationship Type="http://schemas.openxmlformats.org/officeDocument/2006/relationships/notesMaster" Target="/ppt/notesMasters/notesMaster1.xml" Id="R14ad7efd3bcd4f3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9f853a8ce5d4ae3" /><Relationship Type="http://schemas.openxmlformats.org/officeDocument/2006/relationships/notesMaster" Target="/ppt/notesMasters/notesMaster1.xml" Id="R2233ea5b38de49b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3bc4f34994e4d65" /><Relationship Type="http://schemas.openxmlformats.org/officeDocument/2006/relationships/notesMaster" Target="/ppt/notesMasters/notesMaster1.xml" Id="R417aeb8cdc274df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ea1616ebb9e4677" /><Relationship Type="http://schemas.openxmlformats.org/officeDocument/2006/relationships/notesMaster" Target="/ppt/notesMasters/notesMaster1.xml" Id="R538b9ac2764d42b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d8aebaa395b439d" /><Relationship Type="http://schemas.openxmlformats.org/officeDocument/2006/relationships/notesMaster" Target="/ppt/notesMasters/notesMaster1.xml" Id="R0eba2d051d98436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31d48dce3cf48bf" /><Relationship Type="http://schemas.openxmlformats.org/officeDocument/2006/relationships/notesMaster" Target="/ppt/notesMasters/notesMaster1.xml" Id="Rd1f95ddbe794409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83047e7986747d1" /><Relationship Type="http://schemas.openxmlformats.org/officeDocument/2006/relationships/notesMaster" Target="/ppt/notesMasters/notesMaster1.xml" Id="Rb1bd135a6a52426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839bf17f31f432f" /><Relationship Type="http://schemas.openxmlformats.org/officeDocument/2006/relationships/notesMaster" Target="/ppt/notesMasters/notesMaster1.xml" Id="R9160ac44ea77423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0e0ade1d45f4054" /><Relationship Type="http://schemas.openxmlformats.org/officeDocument/2006/relationships/notesMaster" Target="/ppt/notesMasters/notesMaster1.xml" Id="Rf79a0b16cb5b42e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This session is for engineers, architects and leaders who work on mobile applications. The objective is to understand why a production agent needs more than a capable model and a prompt. We will use a real model fixing a real Notes app, then inspect what the harness adds. No company-internal data or model claims are involved. Content adapted from the user-supplied Agent-Harness-and-Harness-Engineering.pptx. Theme redesigned for Harness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Spend 5 minutes on the problem, 20 on concepts, 20 on the live demonstration, 10 on results and discussion, and keep 5 minutes for questions or a slow provider. Some concept slides can be covered quickly for an experienced audience. The optional memory demonstration can use recorded evidence if time is short.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slides 2 and 3. A harness is the working software around the model. Harness engineering is the discipline of designing and improving it. Teams can build a small harness or configure an existing coding agent. Avoid treating these as interchangeable nouns.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slides 3 and 4. The model proposes language and tool requests. Runtime code executes actions, manages state and enforces boundaries. A model API alone does not execute a local file write or persist a task handoff. Providers may offer stateful features, but some external system still manages that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5. These are useful scopes, not universally standardized product boundaries. Prompt engineering chooses wording. Context engineering chooses what information the model receives. Harness engineering includes the execution lifecycle around those inputs. A better prompt can help but cannot itself enforce a filesystem allowlist.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6. Terminology varies across vendors. Use these definitions consistently for this session rather than claiming a formal industry standard. An agent framework may implement much of a runtime; a team still chooses policies, integrations and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7, revised to match the agreed demo anatomy. Instructions &amp; policies replaces Observability as a card; orchestration is outside the live example. Observability and orchestration remain important topics later. These seven are the presentation vocabulary, not a universal taxonomy.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8. The visible trace shows requests, tool actions and observations, not private model reasoning. A completion signal does not prove success. Shared call/token budgets and a pause mechanism stop unbounded activity. The model can request several tools, but this runtime executes them serially.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9. In Harness Lab the model can list/read/write allowlisted source files and operate a real browser. It cannot edit protected checks or use an arbitrary shell. Browser preview and dashboard have separate origins. Both presets share this boundary. A local teaching sandbox is not a production service for hostile code.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Expands source slides 5, 7 and 10. Both are model inputs and can be included together. Instructions &amp; policies supplies project conventions; Context management supplies the repository map and current revision. The recorded request evidence shows exact payloads. Basic task/conversation context stays present in Minimal, and the model can read PROJECT.md manually.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10. The reference describes compaction, offloading and just-in-time loading. Our demo only supplies a project map, revision and selected observations. It does not implement general retrieval, automatic summarization or production compaction. Keep that scope distinction explicit. Large context can waste tokens and hide useful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11. Distinguish persistent files from saved handoff and API conversation history. In both presets the edited source remains. Engineered saves observed checkpoints and can save model-written progress. A fresh session clears API history and includes supported memory. None of this guarantees the model will make the right next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12. Instructions ask; enforcement restricts. Both demo presets retain the file allowlist and execution budgets. This card represents the additional human approval gate. Minimal applies only to its isolated published demo copy, never a real production deployment. Tokens are reported by the provider; the runtime also reserves space conservatively before the next request.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13. Tests, builds, type checks and linters provide executable evidence. LLM judges can add semantic review but require their own validation. Passing a finite suite is not universal correctness. In this demo checks are protected from agent edits and tied to a revision. Failure feedback can return to the model for another attempt.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Adapted from Birgitta Böckeler, Harness engineering for coding agent users, 2 April 2026: https://martinfowler.com/articles/harness-engineering.html . Guides shape behavior before an action. Sensors inspect the result and can help the agent correct it. The computational/inferential distinction is separate from before/after. This table uses our own concise examples. Content adapted from the user-supplied Agent-Harness-and-Harness-Engineering.pptx. Theme redesigned for Harness Lab. Source slide 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slides 14 and 15. They remain part of the broader subject even though they are not toggled cards here. Traces make comparisons auditable; evals require repeated comparable tasks. Orchestration assigns responsibility and coordinates handoffs across agents. A single focused workflow often does not require multiple 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17. Use actual failure evidence to identify the missing capability. A stronger system may require an input, a tool or an enforced check, not a longer prompt. Re-run representative evaluations and remove changes that add cost without improving the intended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Anthropic, Effective harnesses for long-running agents, 26 Nov 2025, https://www.anthropic.com/research/effective-harnesses-for-long-running-agents . OpenAI, Ryan Lopopolo, Harness engineering: leveraging Codex in an agent-first world, 11 Feb 2026, https://openai.com/index/harness-engineering/ . Both are reports by their authors, not controlled comparisons or guarantees for our organization. Content adapted from the user-supplied Agent-Harness-and-Harness-Engineering.pptx. Theme redesigned for Harness Lab. Source slides 18 and 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20. These are diagnostic hypotheses, not proof that every failure is caused by the harness. Model capability, provider availability and the task itself also matter. Start by checking the trace.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 21. These are practical guidelines rather than a promise of optimal design. Prefer the smallest system that covers observed failures. A deterministic check can also be wrong; the earlier Notes trial exposed a test gap around seed-note text, so check quality matters.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We use a browser-based mobile app so no emulator is needed. In a fresh workspace type a draft title and text, click My notes and return to Draft. The text disappears; refresh also loses it. The requested repair must also preserve saving, existing notes and distinct notes. This is one task with three acceptance-data variants, not three unrelated applications.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Live step 1. Create a fresh Minimal workspace and choose the same model and scenario you will use for Engineered. Blue means enabled; gray means off. Basic task context and sandbox protection remain. Minimal can manually inspect files, read PROJECT.md and use the browser. The disabled cards refer to automatic project support, handoff, acceptance enforcement and approval.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Live step 2. Start Engineered. The orange outline identifies active components; it does not reveal private reasoning. This screenshot records an actual request with Agent loop, Instructions &amp; policies and Context management active together. Open either input card to inspect its separate payload. The model is the same as Minimal. Image source: actual run cf25feae-cd17-4bfa-a052-d9771d84c848, draft scenario.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Live step 3. Show the exact rules and map, not just this summary. The instructions payload says to preserve existing notes and literal text. The context payload identifies src/storage.js as notes and draft storage, with file sizes and source revision. Both appear in the actual model request. Rule compliance must be judged from the diff and tests. Image sources: corresponding instructions and context evidence screenshots from run cf25feae.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Live step 4. Minimal can publish when it declares completion, without acceptance checks. Evaluate outcome is a separate presenter action. In this captured draft trial the model hit its budget before completing and never published. The independent checks found 5/6, including a regression to existing note text. Do not describe this specific run as an automatically published bad patch.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Live step 5. The harness runs protected tests when requested and independently when completion is requested. All six must pass on the current revision. If they fail, the gate returns failures to the model. In these three successful Engineered trials no final failed-check gate occurred; do not invent one during narration. Automated tests cover that rejection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Live step 6. Open the source diff, inspect it and compare the tested revision. Engineered waits for approval rather than applying immediately. Opening the approval dialog does not publish. Confirmation publishes only the checked current revision into the isolated demo copy. Try the published app afterwards. Image source: reviewed storage.js diff from cf25feae.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Six runs, one per preset and acceptance variant. The task and fixture were identical. All successful patches subsequently passed independent published-app checks. This is illustrative evidence, not a statistical reliability claim. The first Minimal trial used 13 calls and hit budget with 5/6. Engineered draft used 5 calls; Unicode 5; long-form 4. Minimal Unicode 11; long-form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Optional live step 7, or use this recorded real trial. Both presets paused after an actual edit and started a fresh session. Minimal had zero saved checkpoints. Engineered supplied the saved source revision/checkpoint in the actual next prompt. The Engineered trial then encountered HTTP 502; one recovery restored the checkpoint again. Both ultimately hit their budgets with a 6/6 patch and did not publish. Memory helps carry state; it does not guarantee completion.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evidence: live-validation/revised-cards/RESULTS.md, matrix.json, memory-results.json and memory-recovery.json. Actual OpenRouter calls on 25 October 2026. Individual trials, not a reliability benchmark. Explain the limits candidly. Eight fresh runs were attempted: six scenario trials plus two interrupted runs. The recovery belongs to the same Engineered interrupted run. A provider error is distinct from a code defect. Shared budgets can stop a working patch before completion. Screenshots are evidence from real rehearsal, not a replacement pretending to be live.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adapted from the user-supplied Agent-Harness-and-Harness-Engineering.pptx. Theme redesigned for Harness Lab. Source slides 21 and 22. You do not need to replace Claude Code, Codex or another coding environment to practice harness engineering. Maintain clear repository instructions, runnable checks, scoped access and a review process. Avoid version-specific command claims here. Reassess instructions and scaffolding when model capability changes; extra constraints can add cost or distract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original goal: production agents need an engineered environment around the model. Ask engineers for a recurring failure, architects for an enforceable boundary, and leaders for evidence they would require before expanding access. Keep the discussion anchored to a real workflow rather than choosing the largest component list. Content adapted from the user-supplied Agent-Harness-and-Harness-Engineering.pptx. Theme redesigned for Harness Lab. Source slide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supplied by the user: Agent-Harness-and-Harness-Engineering.pptx, all 24 slides reviewed. External primary sources checked on 25 October 2026. URLs below support the case examples and guides/sensors framing; local real-run evidence supports demo outcomes. The source deck also lists a Thoughtworks podcast and a community collection as optional reading, but no claims here depend on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8464346ba09431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933b97b533d49b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6a4e6413b7845b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60b5e88a5de452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f7c69533874437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787682cd7c5438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06FF4F-1389-41F3-B1CC-92616F245DA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8A8AB37-F776-4301-A6EF-7D577046A90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1CA445A-7A5F-44EF-9F11-92508455F48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F7D4E23-692A-456A-9C06-90B8FBE3177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84E2033-AC08-479C-B90E-F4C2EE80A4E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3FA913D-2550-4C5D-9BE3-1EACDE27C5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A0226A-6A1F-426E-914C-2482F48BFD4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C894B87-92F4-4BA7-A90F-448D9AEF56B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A1264CF-ACC9-4EB7-983B-E258FEBFB5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06A804-78CA-4B68-A74E-558A40E2C1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bcd6b6137234943" /><Relationship Type="http://schemas.openxmlformats.org/officeDocument/2006/relationships/slideLayout" Target="/ppt/slideLayouts/slideLayout1.xml" Id="Rcd9e020ba3964487" /><Relationship Type="http://schemas.openxmlformats.org/officeDocument/2006/relationships/slideLayout" Target="/ppt/slideLayouts/slideLayout2.xml" Id="Rf2847d97adb6437a" /><Relationship Type="http://schemas.openxmlformats.org/officeDocument/2006/relationships/slideLayout" Target="/ppt/slideLayouts/slideLayout3.xml" Id="R2a80e5df38fc4bb3" /><Relationship Type="http://schemas.openxmlformats.org/officeDocument/2006/relationships/slideLayout" Target="/ppt/slideLayouts/slideLayout4.xml" Id="Rfc0a548f53244485" /><Relationship Type="http://schemas.openxmlformats.org/officeDocument/2006/relationships/slideLayout" Target="/ppt/slideLayouts/slideLayout5.xml" Id="Rf9c2602f99704a86" /><Relationship Type="http://schemas.openxmlformats.org/officeDocument/2006/relationships/slideLayout" Target="/ppt/slideLayouts/slideLayout6.xml" Id="R2c99a867050f496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9e020ba3964487"/>
    <p:sldLayoutId xmlns:r="http://schemas.openxmlformats.org/officeDocument/2006/relationships" id="2147483650" r:id="Rf2847d97adb6437a"/>
    <p:sldLayoutId xmlns:r="http://schemas.openxmlformats.org/officeDocument/2006/relationships" id="2147483651" r:id="R2a80e5df38fc4bb3"/>
    <p:sldLayoutId xmlns:r="http://schemas.openxmlformats.org/officeDocument/2006/relationships" id="2147483652" r:id="Rfc0a548f53244485"/>
    <p:sldLayoutId xmlns:r="http://schemas.openxmlformats.org/officeDocument/2006/relationships" id="2147483653" r:id="Rf9c2602f99704a86"/>
    <p:sldLayoutId xmlns:r="http://schemas.openxmlformats.org/officeDocument/2006/relationships" id="2147483654" r:id="R2c99a867050f496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0e36634cbe24049" /><Relationship Type="http://schemas.openxmlformats.org/officeDocument/2006/relationships/notesSlide" Target="/ppt/notesSlides/notesSlide1.xml" Id="Rd9745217d74644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a33ab01fbc846d3" /><Relationship Type="http://schemas.openxmlformats.org/officeDocument/2006/relationships/notesSlide" Target="/ppt/notesSlides/notesSlide2.xml" Id="R6a8a82d1bff2484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998f7a076794baa" /><Relationship Type="http://schemas.openxmlformats.org/officeDocument/2006/relationships/notesSlide" Target="/ppt/notesSlides/notesSlide3.xml" Id="Rcf68cbb77a7245a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d6eb86eb76a4930" /><Relationship Type="http://schemas.openxmlformats.org/officeDocument/2006/relationships/notesSlide" Target="/ppt/notesSlides/notesSlide4.xml" Id="Rab01927ea304486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e63dd396e1d400e" /><Relationship Type="http://schemas.openxmlformats.org/officeDocument/2006/relationships/notesSlide" Target="/ppt/notesSlides/notesSlide5.xml" Id="R6d5ff389cd7147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0162a40e13c4242" /><Relationship Type="http://schemas.openxmlformats.org/officeDocument/2006/relationships/notesSlide" Target="/ppt/notesSlides/notesSlide6.xml" Id="Re939a296022f4cc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b4ebe86cdb049e7" /><Relationship Type="http://schemas.openxmlformats.org/officeDocument/2006/relationships/notesSlide" Target="/ppt/notesSlides/notesSlide7.xml" Id="Re3cd4d95b834428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75e24d131c8456b" /><Relationship Type="http://schemas.openxmlformats.org/officeDocument/2006/relationships/notesSlide" Target="/ppt/notesSlides/notesSlide8.xml" Id="R9ad2f2dd32a94ee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841660e70e748f8" /><Relationship Type="http://schemas.openxmlformats.org/officeDocument/2006/relationships/notesSlide" Target="/ppt/notesSlides/notesSlide9.xml" Id="Reeba20d8b1904c5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a42441ff96545f5" /><Relationship Type="http://schemas.openxmlformats.org/officeDocument/2006/relationships/notesSlide" Target="/ppt/notesSlides/notesSlide10.xml" Id="Rd5b79f056764432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81df91d515740c1" /><Relationship Type="http://schemas.openxmlformats.org/officeDocument/2006/relationships/notesSlide" Target="/ppt/notesSlides/notesSlide11.xml" Id="Rfd94a15ad9464e2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4caaf88960b4599" /><Relationship Type="http://schemas.openxmlformats.org/officeDocument/2006/relationships/notesSlide" Target="/ppt/notesSlides/notesSlide12.xml" Id="Rd368cc676268404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7cb519200784dd1" /><Relationship Type="http://schemas.openxmlformats.org/officeDocument/2006/relationships/notesSlide" Target="/ppt/notesSlides/notesSlide13.xml" Id="R33606bb63f2b45d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eeeb0c2479f43ba" /><Relationship Type="http://schemas.openxmlformats.org/officeDocument/2006/relationships/notesSlide" Target="/ppt/notesSlides/notesSlide14.xml" Id="Raa1880b39f5746f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cd5066706bc4f8d" /><Relationship Type="http://schemas.openxmlformats.org/officeDocument/2006/relationships/notesSlide" Target="/ppt/notesSlides/notesSlide15.xml" Id="Rbe42b16cf1914c3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b97f6663cc64b66" /><Relationship Type="http://schemas.openxmlformats.org/officeDocument/2006/relationships/notesSlide" Target="/ppt/notesSlides/notesSlide16.xml" Id="R882eb32f52bf4d3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efa5a5b34964dcd" /><Relationship Type="http://schemas.openxmlformats.org/officeDocument/2006/relationships/notesSlide" Target="/ppt/notesSlides/notesSlide17.xml" Id="R529b53012af34fb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775789714504212" /><Relationship Type="http://schemas.openxmlformats.org/officeDocument/2006/relationships/notesSlide" Target="/ppt/notesSlides/notesSlide18.xml" Id="R8ce27fc4d09c453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1383d7f385e24aea" /><Relationship Type="http://schemas.openxmlformats.org/officeDocument/2006/relationships/notesSlide" Target="/ppt/notesSlides/notesSlide19.xml" Id="R3052994991c6477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91054147b514213" /><Relationship Type="http://schemas.openxmlformats.org/officeDocument/2006/relationships/notesSlide" Target="/ppt/notesSlides/notesSlide20.xml" Id="Rfbccf137bccf4a1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bf7e79dd6d54369" /><Relationship Type="http://schemas.openxmlformats.org/officeDocument/2006/relationships/image" Target="/ppt/media/image.png" Id="R6e9f9018498d4484" /><Relationship Type="http://schemas.openxmlformats.org/officeDocument/2006/relationships/notesSlide" Target="/ppt/notesSlides/notesSlide21.xml" Id="Rfd04d20ad4dc40d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bb4622de88e473c" /><Relationship Type="http://schemas.openxmlformats.org/officeDocument/2006/relationships/image" Target="/ppt/media/image2.png" Id="R2fb43ad28cee4da6" /><Relationship Type="http://schemas.openxmlformats.org/officeDocument/2006/relationships/notesSlide" Target="/ppt/notesSlides/notesSlide22.xml" Id="Rfc1cb35698164e3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5afd867e3b948c8" /><Relationship Type="http://schemas.openxmlformats.org/officeDocument/2006/relationships/image" Target="/ppt/media/image3.png" Id="Rc4f71e880fa5414c" /><Relationship Type="http://schemas.openxmlformats.org/officeDocument/2006/relationships/notesSlide" Target="/ppt/notesSlides/notesSlide23.xml" Id="R4454d624627b42f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c02f567acd54a59" /><Relationship Type="http://schemas.openxmlformats.org/officeDocument/2006/relationships/image" Target="/ppt/media/image4.png" Id="Re55afc55238641ea" /><Relationship Type="http://schemas.openxmlformats.org/officeDocument/2006/relationships/image" Target="/ppt/media/image5.png" Id="R413511f5560c4f07" /><Relationship Type="http://schemas.openxmlformats.org/officeDocument/2006/relationships/notesSlide" Target="/ppt/notesSlides/notesSlide24.xml" Id="R17c0af56dbd146c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382f73f33ce4197" /><Relationship Type="http://schemas.openxmlformats.org/officeDocument/2006/relationships/image" Target="/ppt/media/image6.png" Id="R68b2ee846c344093" /><Relationship Type="http://schemas.openxmlformats.org/officeDocument/2006/relationships/notesSlide" Target="/ppt/notesSlides/notesSlide25.xml" Id="Rf919c907918f4e3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5283df338624f1c" /><Relationship Type="http://schemas.openxmlformats.org/officeDocument/2006/relationships/image" Target="/ppt/media/image7.png" Id="Rc6176634edf3407c" /><Relationship Type="http://schemas.openxmlformats.org/officeDocument/2006/relationships/notesSlide" Target="/ppt/notesSlides/notesSlide26.xml" Id="R883576b100f34cc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bddb2d9c27a4e13" /><Relationship Type="http://schemas.openxmlformats.org/officeDocument/2006/relationships/image" Target="/ppt/media/image8.png" Id="Rdb190244883a4c63" /><Relationship Type="http://schemas.openxmlformats.org/officeDocument/2006/relationships/notesSlide" Target="/ppt/notesSlides/notesSlide27.xml" Id="Rd8babb84149c42a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c03867dd1924f02" /><Relationship Type="http://schemas.openxmlformats.org/officeDocument/2006/relationships/notesSlide" Target="/ppt/notesSlides/notesSlide28.xml" Id="R216f9a82a864448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8ee056116e74ae3" /><Relationship Type="http://schemas.openxmlformats.org/officeDocument/2006/relationships/image" Target="/ppt/media/image9.png" Id="Rb9a1eec0c9954cf2" /><Relationship Type="http://schemas.openxmlformats.org/officeDocument/2006/relationships/notesSlide" Target="/ppt/notesSlides/notesSlide29.xml" Id="Rc8414f4235e9489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161675caba64832" /><Relationship Type="http://schemas.openxmlformats.org/officeDocument/2006/relationships/notesSlide" Target="/ppt/notesSlides/notesSlide30.xml" Id="R5c26e3366d664a8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bb7f6e44d5848d5" /><Relationship Type="http://schemas.openxmlformats.org/officeDocument/2006/relationships/notesSlide" Target="/ppt/notesSlides/notesSlide31.xml" Id="R6ac651eeb23c45c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8c530a4b4774085" /><Relationship Type="http://schemas.openxmlformats.org/officeDocument/2006/relationships/notesSlide" Target="/ppt/notesSlides/notesSlide32.xml" Id="R407db3f3cfc0426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78e66b75b9ea44c4" /><Relationship Type="http://schemas.openxmlformats.org/officeDocument/2006/relationships/notesSlide" Target="/ppt/notesSlides/notesSlide33.xml" Id="R7821c345cb0c4b83" /></Relationships>
</file>

<file path=ppt/slides/slide1.xml><?xml version="1.0" encoding="utf-8"?>
<p:sld xmlns:p="http://schemas.openxmlformats.org/presentationml/2006/main">
  <p:cSld>
    <p:bg>
      <p:bgPr>
        <a:solidFill xmlns:a="http://schemas.openxmlformats.org/drawingml/2006/main">
          <a:srgbClr val="174B9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E29FB43-6505-4A37-BACC-C06E67202250}"/>
              </a:ext>
            </a:extLst>
          </p:cNvPr>
          <p:cNvSpPr>
            <a:spLocks xmlns:a="http://schemas.openxmlformats.org/drawingml/2006/main" noGrp="1"/>
          </p:cNvSpPr>
          <p:nvPr/>
        </p:nvSpPr>
        <p:spPr>
          <a:xfrm xmlns:a="http://schemas.openxmlformats.org/drawingml/2006/main">
            <a:off x="609600" y="457200"/>
            <a:ext cx="109728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Arial"/>
                <a:ea typeface="Arial"/>
                <a:cs typeface="Arial"/>
              </a:defRPr>
            </a:defPPr>
            <a:lvl1pPr>
              <a:defRPr sz="4800" b="1">
                <a:solidFill>
                  <a:srgbClr val="FFFFFF"/>
                </a:solidFill>
                <a:latin typeface="Arial"/>
                <a:ea typeface="Arial"/>
                <a:cs typeface="Arial"/>
              </a:defRPr>
            </a:lvl1pPr>
            <a:lvl2pPr>
              <a:defRPr sz="4800" b="1">
                <a:solidFill>
                  <a:srgbClr val="FFFFFF"/>
                </a:solidFill>
                <a:latin typeface="Arial"/>
                <a:ea typeface="Arial"/>
                <a:cs typeface="Arial"/>
              </a:defRPr>
            </a:lvl2pPr>
            <a:lvl3pPr>
              <a:defRPr sz="4800" b="1">
                <a:solidFill>
                  <a:srgbClr val="FFFFFF"/>
                </a:solidFill>
                <a:latin typeface="Arial"/>
                <a:ea typeface="Arial"/>
                <a:cs typeface="Arial"/>
              </a:defRPr>
            </a:lvl3pPr>
            <a:lvl4pPr>
              <a:defRPr sz="4800" b="1">
                <a:solidFill>
                  <a:srgbClr val="FFFFFF"/>
                </a:solidFill>
                <a:latin typeface="Arial"/>
                <a:ea typeface="Arial"/>
                <a:cs typeface="Arial"/>
              </a:defRPr>
            </a:lvl4pPr>
            <a:lvl5pPr>
              <a:defRPr sz="4800" b="1">
                <a:solidFill>
                  <a:srgbClr val="FFFFFF"/>
                </a:solidFill>
                <a:latin typeface="Arial"/>
                <a:ea typeface="Arial"/>
                <a:cs typeface="Arial"/>
              </a:defRPr>
            </a:lvl5pPr>
            <a:lvl6pPr>
              <a:defRPr sz="4800" b="1">
                <a:solidFill>
                  <a:srgbClr val="FFFFFF"/>
                </a:solidFill>
                <a:latin typeface="Arial"/>
                <a:ea typeface="Arial"/>
                <a:cs typeface="Arial"/>
              </a:defRPr>
            </a:lvl6pPr>
            <a:lvl7pPr>
              <a:defRPr sz="4800" b="1">
                <a:solidFill>
                  <a:srgbClr val="FFFFFF"/>
                </a:solidFill>
                <a:latin typeface="Arial"/>
                <a:ea typeface="Arial"/>
                <a:cs typeface="Arial"/>
              </a:defRPr>
            </a:lvl7pPr>
            <a:lvl8pPr>
              <a:defRPr sz="4800" b="1">
                <a:solidFill>
                  <a:srgbClr val="FFFFFF"/>
                </a:solidFill>
                <a:latin typeface="Arial"/>
                <a:ea typeface="Arial"/>
                <a:cs typeface="Arial"/>
              </a:defRPr>
            </a:lvl8pPr>
            <a:lvl9pPr>
              <a:defRPr sz="4800" b="1">
                <a:solidFill>
                  <a:srgbClr val="FFFFFF"/>
                </a:solidFill>
                <a:latin typeface="Arial"/>
                <a:ea typeface="Arial"/>
                <a:cs typeface="Arial"/>
              </a:defRPr>
            </a:lvl9pPr>
          </a:lstStyle>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Agent harness &amp;</a:t>
            </a:r>
          </a:p>
          <a:p xmlns:a="http://schemas.openxmlformats.org/drawingml/2006/main">
            <a:pPr>
              <a:defRPr sz="4800" b="1">
                <a:solidFill>
                  <a:srgbClr val="FFFFFF"/>
                </a:solidFill>
                <a:latin typeface="Arial"/>
                <a:ea typeface="Arial"/>
                <a:cs typeface="Arial"/>
              </a:defRPr>
            </a:pPr>
            <a:r>
              <a:rPr sz="4800" b="1">
                <a:solidFill>
                  <a:srgbClr val="FFFFFF"/>
                </a:solidFill>
                <a:latin typeface="Arial"/>
                <a:ea typeface="Arial"/>
                <a:cs typeface="Arial"/>
              </a:rPr>
              <a:t>harness engineering</a:t>
            </a:r>
          </a:p>
        </p:txBody>
      </p:sp>
      <p:sp>
        <p:nvSpPr>
          <p:cNvPr id="2" name="">
            <a:extLst xmlns:a="http://schemas.openxmlformats.org/drawingml/2006/main">
              <a:ext uri="{FF2B5EF4-FFF2-40B4-BE49-F238E27FC236}">
                <a16:creationId xmlns:a16="http://schemas.microsoft.com/office/drawing/2014/main" id="{ADCAD184-9256-42A1-B143-634B92539C96}"/>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D9E7FA"/>
                </a:solidFill>
                <a:latin typeface="Arial"/>
                <a:ea typeface="Arial"/>
                <a:cs typeface="Arial"/>
              </a:defRPr>
            </a:defPPr>
            <a:lvl1pPr>
              <a:defRPr sz="1125" b="0">
                <a:solidFill>
                  <a:srgbClr val="D9E7FA"/>
                </a:solidFill>
                <a:latin typeface="Arial"/>
                <a:ea typeface="Arial"/>
                <a:cs typeface="Arial"/>
              </a:defRPr>
            </a:lvl1pPr>
            <a:lvl2pPr>
              <a:defRPr sz="1125" b="0">
                <a:solidFill>
                  <a:srgbClr val="D9E7FA"/>
                </a:solidFill>
                <a:latin typeface="Arial"/>
                <a:ea typeface="Arial"/>
                <a:cs typeface="Arial"/>
              </a:defRPr>
            </a:lvl2pPr>
            <a:lvl3pPr>
              <a:defRPr sz="1125" b="0">
                <a:solidFill>
                  <a:srgbClr val="D9E7FA"/>
                </a:solidFill>
                <a:latin typeface="Arial"/>
                <a:ea typeface="Arial"/>
                <a:cs typeface="Arial"/>
              </a:defRPr>
            </a:lvl3pPr>
            <a:lvl4pPr>
              <a:defRPr sz="1125" b="0">
                <a:solidFill>
                  <a:srgbClr val="D9E7FA"/>
                </a:solidFill>
                <a:latin typeface="Arial"/>
                <a:ea typeface="Arial"/>
                <a:cs typeface="Arial"/>
              </a:defRPr>
            </a:lvl4pPr>
            <a:lvl5pPr>
              <a:defRPr sz="1125" b="0">
                <a:solidFill>
                  <a:srgbClr val="D9E7FA"/>
                </a:solidFill>
                <a:latin typeface="Arial"/>
                <a:ea typeface="Arial"/>
                <a:cs typeface="Arial"/>
              </a:defRPr>
            </a:lvl5pPr>
            <a:lvl6pPr>
              <a:defRPr sz="1125" b="0">
                <a:solidFill>
                  <a:srgbClr val="D9E7FA"/>
                </a:solidFill>
                <a:latin typeface="Arial"/>
                <a:ea typeface="Arial"/>
                <a:cs typeface="Arial"/>
              </a:defRPr>
            </a:lvl6pPr>
            <a:lvl7pPr>
              <a:defRPr sz="1125" b="0">
                <a:solidFill>
                  <a:srgbClr val="D9E7FA"/>
                </a:solidFill>
                <a:latin typeface="Arial"/>
                <a:ea typeface="Arial"/>
                <a:cs typeface="Arial"/>
              </a:defRPr>
            </a:lvl7pPr>
            <a:lvl8pPr>
              <a:defRPr sz="1125" b="0">
                <a:solidFill>
                  <a:srgbClr val="D9E7FA"/>
                </a:solidFill>
                <a:latin typeface="Arial"/>
                <a:ea typeface="Arial"/>
                <a:cs typeface="Arial"/>
              </a:defRPr>
            </a:lvl8pPr>
            <a:lvl9pPr>
              <a:defRPr sz="1125" b="0">
                <a:solidFill>
                  <a:srgbClr val="D9E7FA"/>
                </a:solidFill>
                <a:latin typeface="Arial"/>
                <a:ea typeface="Arial"/>
                <a:cs typeface="Arial"/>
              </a:defRPr>
            </a:lvl9pPr>
          </a:lstStyle>
          <a:p xmlns:a="http://schemas.openxmlformats.org/drawingml/2006/main">
            <a:pPr>
              <a:defRPr sz="1125" b="0">
                <a:solidFill>
                  <a:srgbClr val="D9E7FA"/>
                </a:solidFill>
                <a:latin typeface="Arial"/>
                <a:ea typeface="Arial"/>
                <a:cs typeface="Arial"/>
              </a:defRPr>
            </a:pPr>
            <a:r>
              <a:rPr sz="1125" b="0">
                <a:solidFill>
                  <a:srgbClr val="D9E7FA"/>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8E25CD12-0985-479A-A185-C542EDC689D7}"/>
              </a:ext>
            </a:extLst>
          </p:cNvPr>
          <p:cNvSpPr>
            <a:spLocks xmlns:a="http://schemas.openxmlformats.org/drawingml/2006/main" noGrp="1"/>
          </p:cNvSpPr>
          <p:nvPr/>
        </p:nvSpPr>
        <p:spPr>
          <a:xfrm xmlns:a="http://schemas.openxmlformats.org/drawingml/2006/main">
            <a:off x="647700" y="2762250"/>
            <a:ext cx="952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FFFFFF"/>
                </a:solidFill>
                <a:latin typeface="Arial"/>
                <a:ea typeface="Arial"/>
                <a:cs typeface="Arial"/>
              </a:defRPr>
            </a:defPPr>
            <a:lvl1pPr>
              <a:defRPr sz="2700" b="0">
                <a:solidFill>
                  <a:srgbClr val="FFFFFF"/>
                </a:solidFill>
                <a:latin typeface="Arial"/>
                <a:ea typeface="Arial"/>
                <a:cs typeface="Arial"/>
              </a:defRPr>
            </a:lvl1pPr>
            <a:lvl2pPr>
              <a:defRPr sz="2700" b="0">
                <a:solidFill>
                  <a:srgbClr val="FFFFFF"/>
                </a:solidFill>
                <a:latin typeface="Arial"/>
                <a:ea typeface="Arial"/>
                <a:cs typeface="Arial"/>
              </a:defRPr>
            </a:lvl2pPr>
            <a:lvl3pPr>
              <a:defRPr sz="2700" b="0">
                <a:solidFill>
                  <a:srgbClr val="FFFFFF"/>
                </a:solidFill>
                <a:latin typeface="Arial"/>
                <a:ea typeface="Arial"/>
                <a:cs typeface="Arial"/>
              </a:defRPr>
            </a:lvl3pPr>
            <a:lvl4pPr>
              <a:defRPr sz="2700" b="0">
                <a:solidFill>
                  <a:srgbClr val="FFFFFF"/>
                </a:solidFill>
                <a:latin typeface="Arial"/>
                <a:ea typeface="Arial"/>
                <a:cs typeface="Arial"/>
              </a:defRPr>
            </a:lvl4pPr>
            <a:lvl5pPr>
              <a:defRPr sz="2700" b="0">
                <a:solidFill>
                  <a:srgbClr val="FFFFFF"/>
                </a:solidFill>
                <a:latin typeface="Arial"/>
                <a:ea typeface="Arial"/>
                <a:cs typeface="Arial"/>
              </a:defRPr>
            </a:lvl5pPr>
            <a:lvl6pPr>
              <a:defRPr sz="2700" b="0">
                <a:solidFill>
                  <a:srgbClr val="FFFFFF"/>
                </a:solidFill>
                <a:latin typeface="Arial"/>
                <a:ea typeface="Arial"/>
                <a:cs typeface="Arial"/>
              </a:defRPr>
            </a:lvl6pPr>
            <a:lvl7pPr>
              <a:defRPr sz="2700" b="0">
                <a:solidFill>
                  <a:srgbClr val="FFFFFF"/>
                </a:solidFill>
                <a:latin typeface="Arial"/>
                <a:ea typeface="Arial"/>
                <a:cs typeface="Arial"/>
              </a:defRPr>
            </a:lvl7pPr>
            <a:lvl8pPr>
              <a:defRPr sz="2700" b="0">
                <a:solidFill>
                  <a:srgbClr val="FFFFFF"/>
                </a:solidFill>
                <a:latin typeface="Arial"/>
                <a:ea typeface="Arial"/>
                <a:cs typeface="Arial"/>
              </a:defRPr>
            </a:lvl8pPr>
            <a:lvl9pPr>
              <a:defRPr sz="2700" b="0">
                <a:solidFill>
                  <a:srgbClr val="FFFFFF"/>
                </a:solidFill>
                <a:latin typeface="Arial"/>
                <a:ea typeface="Arial"/>
                <a:cs typeface="Arial"/>
              </a:defRPr>
            </a:lvl9pPr>
          </a:lstStyle>
          <a:p xmlns:a="http://schemas.openxmlformats.org/drawingml/2006/main">
            <a:pPr>
              <a:defRPr sz="2700" b="0">
                <a:solidFill>
                  <a:srgbClr val="FFFFFF"/>
                </a:solidFill>
                <a:latin typeface="Arial"/>
                <a:ea typeface="Arial"/>
                <a:cs typeface="Arial"/>
              </a:defRPr>
            </a:pPr>
            <a:r>
              <a:rPr sz="2700" b="0">
                <a:solidFill>
                  <a:srgbClr val="FFFFFF"/>
                </a:solidFill>
                <a:latin typeface="Arial"/>
                <a:ea typeface="Arial"/>
                <a:cs typeface="Arial"/>
              </a:rPr>
              <a:t>Building reliable coding workflows</a:t>
            </a:r>
          </a:p>
        </p:txBody>
      </p:sp>
      <p:sp>
        <p:nvSpPr>
          <p:cNvPr id="4" name="">
            <a:extLst xmlns:a="http://schemas.openxmlformats.org/drawingml/2006/main">
              <a:ext uri="{FF2B5EF4-FFF2-40B4-BE49-F238E27FC236}">
                <a16:creationId xmlns:a16="http://schemas.microsoft.com/office/drawing/2014/main" id="{346BF633-2356-4023-B3D9-6BA9401AF582}"/>
              </a:ext>
            </a:extLst>
          </p:cNvPr>
          <p:cNvSpPr>
            <a:spLocks xmlns:a="http://schemas.openxmlformats.org/drawingml/2006/main" noGrp="1"/>
          </p:cNvSpPr>
          <p:nvPr/>
        </p:nvSpPr>
        <p:spPr>
          <a:xfrm xmlns:a="http://schemas.openxmlformats.org/drawingml/2006/main">
            <a:off x="666750" y="3714750"/>
            <a:ext cx="9906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9E7FA"/>
                </a:solidFill>
                <a:latin typeface="Arial"/>
                <a:ea typeface="Arial"/>
                <a:cs typeface="Arial"/>
              </a:defRPr>
            </a:defPPr>
            <a:lvl1pPr>
              <a:defRPr sz="1875" b="0">
                <a:solidFill>
                  <a:srgbClr val="D9E7FA"/>
                </a:solidFill>
                <a:latin typeface="Arial"/>
                <a:ea typeface="Arial"/>
                <a:cs typeface="Arial"/>
              </a:defRPr>
            </a:lvl1pPr>
            <a:lvl2pPr>
              <a:defRPr sz="1875" b="0">
                <a:solidFill>
                  <a:srgbClr val="D9E7FA"/>
                </a:solidFill>
                <a:latin typeface="Arial"/>
                <a:ea typeface="Arial"/>
                <a:cs typeface="Arial"/>
              </a:defRPr>
            </a:lvl2pPr>
            <a:lvl3pPr>
              <a:defRPr sz="1875" b="0">
                <a:solidFill>
                  <a:srgbClr val="D9E7FA"/>
                </a:solidFill>
                <a:latin typeface="Arial"/>
                <a:ea typeface="Arial"/>
                <a:cs typeface="Arial"/>
              </a:defRPr>
            </a:lvl3pPr>
            <a:lvl4pPr>
              <a:defRPr sz="1875" b="0">
                <a:solidFill>
                  <a:srgbClr val="D9E7FA"/>
                </a:solidFill>
                <a:latin typeface="Arial"/>
                <a:ea typeface="Arial"/>
                <a:cs typeface="Arial"/>
              </a:defRPr>
            </a:lvl4pPr>
            <a:lvl5pPr>
              <a:defRPr sz="1875" b="0">
                <a:solidFill>
                  <a:srgbClr val="D9E7FA"/>
                </a:solidFill>
                <a:latin typeface="Arial"/>
                <a:ea typeface="Arial"/>
                <a:cs typeface="Arial"/>
              </a:defRPr>
            </a:lvl5pPr>
            <a:lvl6pPr>
              <a:defRPr sz="1875" b="0">
                <a:solidFill>
                  <a:srgbClr val="D9E7FA"/>
                </a:solidFill>
                <a:latin typeface="Arial"/>
                <a:ea typeface="Arial"/>
                <a:cs typeface="Arial"/>
              </a:defRPr>
            </a:lvl6pPr>
            <a:lvl7pPr>
              <a:defRPr sz="1875" b="0">
                <a:solidFill>
                  <a:srgbClr val="D9E7FA"/>
                </a:solidFill>
                <a:latin typeface="Arial"/>
                <a:ea typeface="Arial"/>
                <a:cs typeface="Arial"/>
              </a:defRPr>
            </a:lvl7pPr>
            <a:lvl8pPr>
              <a:defRPr sz="1875" b="0">
                <a:solidFill>
                  <a:srgbClr val="D9E7FA"/>
                </a:solidFill>
                <a:latin typeface="Arial"/>
                <a:ea typeface="Arial"/>
                <a:cs typeface="Arial"/>
              </a:defRPr>
            </a:lvl8pPr>
            <a:lvl9pPr>
              <a:defRPr sz="1875" b="0">
                <a:solidFill>
                  <a:srgbClr val="D9E7FA"/>
                </a:solidFill>
                <a:latin typeface="Arial"/>
                <a:ea typeface="Arial"/>
                <a:cs typeface="Arial"/>
              </a:defRPr>
            </a:lvl9pPr>
          </a:lstStyle>
          <a:p xmlns:a="http://schemas.openxmlformats.org/drawingml/2006/main">
            <a:pPr>
              <a:defRPr sz="1875" b="0">
                <a:solidFill>
                  <a:srgbClr val="D9E7FA"/>
                </a:solidFill>
                <a:latin typeface="Arial"/>
                <a:ea typeface="Arial"/>
                <a:cs typeface="Arial"/>
              </a:defRPr>
            </a:pPr>
            <a:r>
              <a:rPr sz="1875" b="0">
                <a:solidFill>
                  <a:srgbClr val="D9E7FA"/>
                </a:solidFill>
                <a:latin typeface="Arial"/>
                <a:ea typeface="Arial"/>
                <a:cs typeface="Arial"/>
              </a:rPr>
              <a:t>Concepts, a live bug fix, and evidence from rehearsal</a:t>
            </a:r>
          </a:p>
        </p:txBody>
      </p:sp>
      <p:sp>
        <p:nvSpPr>
          <p:cNvPr id="5" name="">
            <a:extLst xmlns:a="http://schemas.openxmlformats.org/drawingml/2006/main">
              <a:ext uri="{FF2B5EF4-FFF2-40B4-BE49-F238E27FC236}">
                <a16:creationId xmlns:a16="http://schemas.microsoft.com/office/drawing/2014/main" id="{CCA14B42-74D8-4097-9D5E-4E22C79FD058}"/>
              </a:ext>
            </a:extLst>
          </p:cNvPr>
          <p:cNvSpPr>
            <a:spLocks xmlns:a="http://schemas.openxmlformats.org/drawingml/2006/main" noGrp="1"/>
          </p:cNvSpPr>
          <p:nvPr/>
        </p:nvSpPr>
        <p:spPr>
          <a:xfrm xmlns:a="http://schemas.openxmlformats.org/drawingml/2006/main">
            <a:off x="666750" y="5857875"/>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FFB454"/>
                </a:solidFill>
                <a:latin typeface="Arial"/>
                <a:ea typeface="Arial"/>
                <a:cs typeface="Arial"/>
              </a:defRPr>
            </a:defPPr>
            <a:lvl1pPr>
              <a:defRPr sz="1350" b="1">
                <a:solidFill>
                  <a:srgbClr val="FFB454"/>
                </a:solidFill>
                <a:latin typeface="Arial"/>
                <a:ea typeface="Arial"/>
                <a:cs typeface="Arial"/>
              </a:defRPr>
            </a:lvl1pPr>
            <a:lvl2pPr>
              <a:defRPr sz="1350" b="1">
                <a:solidFill>
                  <a:srgbClr val="FFB454"/>
                </a:solidFill>
                <a:latin typeface="Arial"/>
                <a:ea typeface="Arial"/>
                <a:cs typeface="Arial"/>
              </a:defRPr>
            </a:lvl2pPr>
            <a:lvl3pPr>
              <a:defRPr sz="1350" b="1">
                <a:solidFill>
                  <a:srgbClr val="FFB454"/>
                </a:solidFill>
                <a:latin typeface="Arial"/>
                <a:ea typeface="Arial"/>
                <a:cs typeface="Arial"/>
              </a:defRPr>
            </a:lvl3pPr>
            <a:lvl4pPr>
              <a:defRPr sz="1350" b="1">
                <a:solidFill>
                  <a:srgbClr val="FFB454"/>
                </a:solidFill>
                <a:latin typeface="Arial"/>
                <a:ea typeface="Arial"/>
                <a:cs typeface="Arial"/>
              </a:defRPr>
            </a:lvl4pPr>
            <a:lvl5pPr>
              <a:defRPr sz="1350" b="1">
                <a:solidFill>
                  <a:srgbClr val="FFB454"/>
                </a:solidFill>
                <a:latin typeface="Arial"/>
                <a:ea typeface="Arial"/>
                <a:cs typeface="Arial"/>
              </a:defRPr>
            </a:lvl5pPr>
            <a:lvl6pPr>
              <a:defRPr sz="1350" b="1">
                <a:solidFill>
                  <a:srgbClr val="FFB454"/>
                </a:solidFill>
                <a:latin typeface="Arial"/>
                <a:ea typeface="Arial"/>
                <a:cs typeface="Arial"/>
              </a:defRPr>
            </a:lvl6pPr>
            <a:lvl7pPr>
              <a:defRPr sz="1350" b="1">
                <a:solidFill>
                  <a:srgbClr val="FFB454"/>
                </a:solidFill>
                <a:latin typeface="Arial"/>
                <a:ea typeface="Arial"/>
                <a:cs typeface="Arial"/>
              </a:defRPr>
            </a:lvl7pPr>
            <a:lvl8pPr>
              <a:defRPr sz="1350" b="1">
                <a:solidFill>
                  <a:srgbClr val="FFB454"/>
                </a:solidFill>
                <a:latin typeface="Arial"/>
                <a:ea typeface="Arial"/>
                <a:cs typeface="Arial"/>
              </a:defRPr>
            </a:lvl8pPr>
            <a:lvl9pPr>
              <a:defRPr sz="1350" b="1">
                <a:solidFill>
                  <a:srgbClr val="FFB454"/>
                </a:solidFill>
                <a:latin typeface="Arial"/>
                <a:ea typeface="Arial"/>
                <a:cs typeface="Arial"/>
              </a:defRPr>
            </a:lvl9pPr>
          </a:lstStyle>
          <a:p xmlns:a="http://schemas.openxmlformats.org/drawingml/2006/main">
            <a:pPr>
              <a:defRPr sz="1350" b="1">
                <a:solidFill>
                  <a:srgbClr val="FFB454"/>
                </a:solidFill>
                <a:latin typeface="Arial"/>
                <a:ea typeface="Arial"/>
                <a:cs typeface="Arial"/>
              </a:defRPr>
            </a:pPr>
            <a:r>
              <a:rPr sz="1350" b="1">
                <a:solidFill>
                  <a:srgbClr val="FFB454"/>
                </a:solidFill>
                <a:latin typeface="Arial"/>
                <a:ea typeface="Arial"/>
                <a:cs typeface="Arial"/>
              </a:rPr>
              <a:t>HARNESS LAB</a:t>
            </a:r>
          </a:p>
        </p:txBody>
      </p:sp>
    </p:spTree>
    <p:extLst>
      <p:ext uri="{BB962C8B-B14F-4D97-AF65-F5344CB8AC3E}">
        <p14:creationId xmlns:p14="http://schemas.microsoft.com/office/powerpoint/2010/main" val="1918368204"/>
      </p:ext>
    </p:extLst>
  </p:cSld>
</p:sld>
</file>

<file path=ppt/slides/slide2.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DE4892-D883-4DF3-9167-06DF850DE6DD}"/>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The session</a:t>
            </a:r>
          </a:p>
        </p:txBody>
      </p:sp>
      <p:sp>
        <p:nvSpPr>
          <p:cNvPr id="2" name="">
            <a:extLst xmlns:a="http://schemas.openxmlformats.org/drawingml/2006/main">
              <a:ext uri="{FF2B5EF4-FFF2-40B4-BE49-F238E27FC236}">
                <a16:creationId xmlns:a16="http://schemas.microsoft.com/office/drawing/2014/main" id="{C65C977C-FD0A-4824-9D24-497EA214F17B}"/>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7A8FBDB9-6569-4A22-8236-A04ECA645939}"/>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25 minutes  /  Concepts</a:t>
            </a:r>
          </a:p>
        </p:txBody>
      </p:sp>
      <p:sp>
        <p:nvSpPr>
          <p:cNvPr id="4" name="">
            <a:extLst xmlns:a="http://schemas.openxmlformats.org/drawingml/2006/main">
              <a:ext uri="{FF2B5EF4-FFF2-40B4-BE49-F238E27FC236}">
                <a16:creationId xmlns:a16="http://schemas.microsoft.com/office/drawing/2014/main" id="{0EE1DA29-24A3-44F9-A3A3-42F5CF5E693A}"/>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What a harness contains and how teams improve it</a:t>
            </a:r>
          </a:p>
        </p:txBody>
      </p:sp>
      <p:sp>
        <p:nvSpPr>
          <p:cNvPr id="5" name="">
            <a:extLst xmlns:a="http://schemas.openxmlformats.org/drawingml/2006/main">
              <a:ext uri="{FF2B5EF4-FFF2-40B4-BE49-F238E27FC236}">
                <a16:creationId xmlns:a16="http://schemas.microsoft.com/office/drawing/2014/main" id="{64A03B02-1C5E-49F5-BE6C-D2DB7E1FEC01}"/>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20 minutes  /  Live bug fix</a:t>
            </a:r>
          </a:p>
        </p:txBody>
      </p:sp>
      <p:sp>
        <p:nvSpPr>
          <p:cNvPr id="6" name="">
            <a:extLst xmlns:a="http://schemas.openxmlformats.org/drawingml/2006/main">
              <a:ext uri="{FF2B5EF4-FFF2-40B4-BE49-F238E27FC236}">
                <a16:creationId xmlns:a16="http://schemas.microsoft.com/office/drawing/2014/main" id="{1A2376B0-00D3-4B8C-A4CA-A5FB8C799271}"/>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The same Notes app and model under two configurations</a:t>
            </a:r>
          </a:p>
        </p:txBody>
      </p:sp>
      <p:sp>
        <p:nvSpPr>
          <p:cNvPr id="7" name="">
            <a:extLst xmlns:a="http://schemas.openxmlformats.org/drawingml/2006/main">
              <a:ext uri="{FF2B5EF4-FFF2-40B4-BE49-F238E27FC236}">
                <a16:creationId xmlns:a16="http://schemas.microsoft.com/office/drawing/2014/main" id="{9BCEF47E-B566-4811-BEE0-9B516B827EE6}"/>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15 minutes  /  Evidence and discussion</a:t>
            </a:r>
          </a:p>
        </p:txBody>
      </p:sp>
      <p:sp>
        <p:nvSpPr>
          <p:cNvPr id="8" name="">
            <a:extLst xmlns:a="http://schemas.openxmlformats.org/drawingml/2006/main">
              <a:ext uri="{FF2B5EF4-FFF2-40B4-BE49-F238E27FC236}">
                <a16:creationId xmlns:a16="http://schemas.microsoft.com/office/drawing/2014/main" id="{3F452ACC-CEA9-4F88-8485-E076F5AA6A80}"/>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Actual outcomes, limits, team practices and questions</a:t>
            </a:r>
          </a:p>
        </p:txBody>
      </p:sp>
    </p:spTree>
    <p:extLst>
      <p:ext uri="{BB962C8B-B14F-4D97-AF65-F5344CB8AC3E}">
        <p14:creationId xmlns:p14="http://schemas.microsoft.com/office/powerpoint/2010/main" val="246494270"/>
      </p:ext>
    </p:extLst>
  </p:cSld>
</p:sld>
</file>

<file path=ppt/slides/slide3.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CD756E-B6BC-4A6D-B2E2-41D7DA1EF076}"/>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Harness and harness engineering</a:t>
            </a:r>
          </a:p>
        </p:txBody>
      </p:sp>
      <p:sp>
        <p:nvSpPr>
          <p:cNvPr id="2" name="">
            <a:extLst xmlns:a="http://schemas.openxmlformats.org/drawingml/2006/main">
              <a:ext uri="{FF2B5EF4-FFF2-40B4-BE49-F238E27FC236}">
                <a16:creationId xmlns:a16="http://schemas.microsoft.com/office/drawing/2014/main" id="{213E9F08-4073-4C0A-8B47-FDB737C52C92}"/>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640DFA09-1D08-48E1-9594-A48F76E81B67}"/>
              </a:ext>
            </a:extLst>
          </p:cNvPr>
          <p:cNvSpPr>
            <a:spLocks xmlns:a="http://schemas.openxmlformats.org/drawingml/2006/main" noGrp="1"/>
          </p:cNvSpPr>
          <p:nvPr/>
        </p:nvSpPr>
        <p:spPr>
          <a:xfrm xmlns:a="http://schemas.openxmlformats.org/drawingml/2006/main">
            <a:off x="666750" y="188595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4B91"/>
                </a:solidFill>
                <a:latin typeface="Arial"/>
                <a:ea typeface="Arial"/>
                <a:cs typeface="Arial"/>
              </a:defRPr>
            </a:defPPr>
            <a:lvl1pPr>
              <a:defRPr sz="2550" b="1">
                <a:solidFill>
                  <a:srgbClr val="174B91"/>
                </a:solidFill>
                <a:latin typeface="Arial"/>
                <a:ea typeface="Arial"/>
                <a:cs typeface="Arial"/>
              </a:defRPr>
            </a:lvl1pPr>
            <a:lvl2pPr>
              <a:defRPr sz="2550" b="1">
                <a:solidFill>
                  <a:srgbClr val="174B91"/>
                </a:solidFill>
                <a:latin typeface="Arial"/>
                <a:ea typeface="Arial"/>
                <a:cs typeface="Arial"/>
              </a:defRPr>
            </a:lvl2pPr>
            <a:lvl3pPr>
              <a:defRPr sz="2550" b="1">
                <a:solidFill>
                  <a:srgbClr val="174B91"/>
                </a:solidFill>
                <a:latin typeface="Arial"/>
                <a:ea typeface="Arial"/>
                <a:cs typeface="Arial"/>
              </a:defRPr>
            </a:lvl3pPr>
            <a:lvl4pPr>
              <a:defRPr sz="2550" b="1">
                <a:solidFill>
                  <a:srgbClr val="174B91"/>
                </a:solidFill>
                <a:latin typeface="Arial"/>
                <a:ea typeface="Arial"/>
                <a:cs typeface="Arial"/>
              </a:defRPr>
            </a:lvl4pPr>
            <a:lvl5pPr>
              <a:defRPr sz="2550" b="1">
                <a:solidFill>
                  <a:srgbClr val="174B91"/>
                </a:solidFill>
                <a:latin typeface="Arial"/>
                <a:ea typeface="Arial"/>
                <a:cs typeface="Arial"/>
              </a:defRPr>
            </a:lvl5pPr>
            <a:lvl6pPr>
              <a:defRPr sz="2550" b="1">
                <a:solidFill>
                  <a:srgbClr val="174B91"/>
                </a:solidFill>
                <a:latin typeface="Arial"/>
                <a:ea typeface="Arial"/>
                <a:cs typeface="Arial"/>
              </a:defRPr>
            </a:lvl6pPr>
            <a:lvl7pPr>
              <a:defRPr sz="2550" b="1">
                <a:solidFill>
                  <a:srgbClr val="174B91"/>
                </a:solidFill>
                <a:latin typeface="Arial"/>
                <a:ea typeface="Arial"/>
                <a:cs typeface="Arial"/>
              </a:defRPr>
            </a:lvl7pPr>
            <a:lvl8pPr>
              <a:defRPr sz="2550" b="1">
                <a:solidFill>
                  <a:srgbClr val="174B91"/>
                </a:solidFill>
                <a:latin typeface="Arial"/>
                <a:ea typeface="Arial"/>
                <a:cs typeface="Arial"/>
              </a:defRPr>
            </a:lvl8pPr>
            <a:lvl9pPr>
              <a:defRPr sz="2550" b="1">
                <a:solidFill>
                  <a:srgbClr val="174B91"/>
                </a:solidFill>
                <a:latin typeface="Arial"/>
                <a:ea typeface="Arial"/>
                <a:cs typeface="Arial"/>
              </a:defRPr>
            </a:lvl9pPr>
          </a:lstStyle>
          <a:p xmlns:a="http://schemas.openxmlformats.org/drawingml/2006/main">
            <a:pPr>
              <a:defRPr sz="2550" b="1">
                <a:solidFill>
                  <a:srgbClr val="174B91"/>
                </a:solidFill>
                <a:latin typeface="Arial"/>
                <a:ea typeface="Arial"/>
                <a:cs typeface="Arial"/>
              </a:defRPr>
            </a:pPr>
            <a:r>
              <a:rPr sz="2550" b="1">
                <a:solidFill>
                  <a:srgbClr val="174B91"/>
                </a:solidFill>
                <a:latin typeface="Arial"/>
                <a:ea typeface="Arial"/>
                <a:cs typeface="Arial"/>
              </a:rPr>
              <a:t>Agent harness</a:t>
            </a:r>
          </a:p>
        </p:txBody>
      </p:sp>
      <p:sp>
        <p:nvSpPr>
          <p:cNvPr id="4" name="">
            <a:extLst xmlns:a="http://schemas.openxmlformats.org/drawingml/2006/main">
              <a:ext uri="{FF2B5EF4-FFF2-40B4-BE49-F238E27FC236}">
                <a16:creationId xmlns:a16="http://schemas.microsoft.com/office/drawing/2014/main" id="{F3441261-1BD6-4388-9BA9-C388CC897650}"/>
              </a:ext>
            </a:extLst>
          </p:cNvPr>
          <p:cNvSpPr>
            <a:spLocks xmlns:a="http://schemas.openxmlformats.org/drawingml/2006/main" noGrp="1"/>
          </p:cNvSpPr>
          <p:nvPr/>
        </p:nvSpPr>
        <p:spPr>
          <a:xfrm xmlns:a="http://schemas.openxmlformats.org/drawingml/2006/main">
            <a:off x="666750" y="2524125"/>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4535"/>
                </a:solidFill>
                <a:latin typeface="Arial"/>
                <a:ea typeface="Arial"/>
                <a:cs typeface="Arial"/>
              </a:defRPr>
            </a:defPPr>
            <a:lvl1pPr>
              <a:defRPr sz="2325" b="0">
                <a:solidFill>
                  <a:srgbClr val="174535"/>
                </a:solidFill>
                <a:latin typeface="Arial"/>
                <a:ea typeface="Arial"/>
                <a:cs typeface="Arial"/>
              </a:defRPr>
            </a:lvl1pPr>
            <a:lvl2pPr>
              <a:defRPr sz="2325" b="0">
                <a:solidFill>
                  <a:srgbClr val="174535"/>
                </a:solidFill>
                <a:latin typeface="Arial"/>
                <a:ea typeface="Arial"/>
                <a:cs typeface="Arial"/>
              </a:defRPr>
            </a:lvl2pPr>
            <a:lvl3pPr>
              <a:defRPr sz="2325" b="0">
                <a:solidFill>
                  <a:srgbClr val="174535"/>
                </a:solidFill>
                <a:latin typeface="Arial"/>
                <a:ea typeface="Arial"/>
                <a:cs typeface="Arial"/>
              </a:defRPr>
            </a:lvl3pPr>
            <a:lvl4pPr>
              <a:defRPr sz="2325" b="0">
                <a:solidFill>
                  <a:srgbClr val="174535"/>
                </a:solidFill>
                <a:latin typeface="Arial"/>
                <a:ea typeface="Arial"/>
                <a:cs typeface="Arial"/>
              </a:defRPr>
            </a:lvl4pPr>
            <a:lvl5pPr>
              <a:defRPr sz="2325" b="0">
                <a:solidFill>
                  <a:srgbClr val="174535"/>
                </a:solidFill>
                <a:latin typeface="Arial"/>
                <a:ea typeface="Arial"/>
                <a:cs typeface="Arial"/>
              </a:defRPr>
            </a:lvl5pPr>
            <a:lvl6pPr>
              <a:defRPr sz="2325" b="0">
                <a:solidFill>
                  <a:srgbClr val="174535"/>
                </a:solidFill>
                <a:latin typeface="Arial"/>
                <a:ea typeface="Arial"/>
                <a:cs typeface="Arial"/>
              </a:defRPr>
            </a:lvl6pPr>
            <a:lvl7pPr>
              <a:defRPr sz="2325" b="0">
                <a:solidFill>
                  <a:srgbClr val="174535"/>
                </a:solidFill>
                <a:latin typeface="Arial"/>
                <a:ea typeface="Arial"/>
                <a:cs typeface="Arial"/>
              </a:defRPr>
            </a:lvl7pPr>
            <a:lvl8pPr>
              <a:defRPr sz="2325" b="0">
                <a:solidFill>
                  <a:srgbClr val="174535"/>
                </a:solidFill>
                <a:latin typeface="Arial"/>
                <a:ea typeface="Arial"/>
                <a:cs typeface="Arial"/>
              </a:defRPr>
            </a:lvl8pPr>
            <a:lvl9pPr>
              <a:defRPr sz="2325" b="0">
                <a:solidFill>
                  <a:srgbClr val="174535"/>
                </a:solidFill>
                <a:latin typeface="Arial"/>
                <a:ea typeface="Arial"/>
                <a:cs typeface="Arial"/>
              </a:defRPr>
            </a:lvl9pPr>
          </a:lstStyle>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The software around the model that lets it act, retain state and check work.</a:t>
            </a:r>
          </a:p>
        </p:txBody>
      </p:sp>
      <p:sp>
        <p:nvSpPr>
          <p:cNvPr id="5" name="">
            <a:extLst xmlns:a="http://schemas.openxmlformats.org/drawingml/2006/main">
              <a:ext uri="{FF2B5EF4-FFF2-40B4-BE49-F238E27FC236}">
                <a16:creationId xmlns:a16="http://schemas.microsoft.com/office/drawing/2014/main" id="{586A9150-4DE1-4D33-9E8A-DB5F4BF3D050}"/>
              </a:ext>
            </a:extLst>
          </p:cNvPr>
          <p:cNvSpPr>
            <a:spLocks xmlns:a="http://schemas.openxmlformats.org/drawingml/2006/main" noGrp="1"/>
          </p:cNvSpPr>
          <p:nvPr/>
        </p:nvSpPr>
        <p:spPr>
          <a:xfrm xmlns:a="http://schemas.openxmlformats.org/drawingml/2006/main">
            <a:off x="6477000" y="188595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4B91"/>
                </a:solidFill>
                <a:latin typeface="Arial"/>
                <a:ea typeface="Arial"/>
                <a:cs typeface="Arial"/>
              </a:defRPr>
            </a:defPPr>
            <a:lvl1pPr>
              <a:defRPr sz="2550" b="1">
                <a:solidFill>
                  <a:srgbClr val="174B91"/>
                </a:solidFill>
                <a:latin typeface="Arial"/>
                <a:ea typeface="Arial"/>
                <a:cs typeface="Arial"/>
              </a:defRPr>
            </a:lvl1pPr>
            <a:lvl2pPr>
              <a:defRPr sz="2550" b="1">
                <a:solidFill>
                  <a:srgbClr val="174B91"/>
                </a:solidFill>
                <a:latin typeface="Arial"/>
                <a:ea typeface="Arial"/>
                <a:cs typeface="Arial"/>
              </a:defRPr>
            </a:lvl2pPr>
            <a:lvl3pPr>
              <a:defRPr sz="2550" b="1">
                <a:solidFill>
                  <a:srgbClr val="174B91"/>
                </a:solidFill>
                <a:latin typeface="Arial"/>
                <a:ea typeface="Arial"/>
                <a:cs typeface="Arial"/>
              </a:defRPr>
            </a:lvl3pPr>
            <a:lvl4pPr>
              <a:defRPr sz="2550" b="1">
                <a:solidFill>
                  <a:srgbClr val="174B91"/>
                </a:solidFill>
                <a:latin typeface="Arial"/>
                <a:ea typeface="Arial"/>
                <a:cs typeface="Arial"/>
              </a:defRPr>
            </a:lvl4pPr>
            <a:lvl5pPr>
              <a:defRPr sz="2550" b="1">
                <a:solidFill>
                  <a:srgbClr val="174B91"/>
                </a:solidFill>
                <a:latin typeface="Arial"/>
                <a:ea typeface="Arial"/>
                <a:cs typeface="Arial"/>
              </a:defRPr>
            </a:lvl5pPr>
            <a:lvl6pPr>
              <a:defRPr sz="2550" b="1">
                <a:solidFill>
                  <a:srgbClr val="174B91"/>
                </a:solidFill>
                <a:latin typeface="Arial"/>
                <a:ea typeface="Arial"/>
                <a:cs typeface="Arial"/>
              </a:defRPr>
            </a:lvl6pPr>
            <a:lvl7pPr>
              <a:defRPr sz="2550" b="1">
                <a:solidFill>
                  <a:srgbClr val="174B91"/>
                </a:solidFill>
                <a:latin typeface="Arial"/>
                <a:ea typeface="Arial"/>
                <a:cs typeface="Arial"/>
              </a:defRPr>
            </a:lvl7pPr>
            <a:lvl8pPr>
              <a:defRPr sz="2550" b="1">
                <a:solidFill>
                  <a:srgbClr val="174B91"/>
                </a:solidFill>
                <a:latin typeface="Arial"/>
                <a:ea typeface="Arial"/>
                <a:cs typeface="Arial"/>
              </a:defRPr>
            </a:lvl8pPr>
            <a:lvl9pPr>
              <a:defRPr sz="2550" b="1">
                <a:solidFill>
                  <a:srgbClr val="174B91"/>
                </a:solidFill>
                <a:latin typeface="Arial"/>
                <a:ea typeface="Arial"/>
                <a:cs typeface="Arial"/>
              </a:defRPr>
            </a:lvl9pPr>
          </a:lstStyle>
          <a:p xmlns:a="http://schemas.openxmlformats.org/drawingml/2006/main">
            <a:pPr>
              <a:defRPr sz="2550" b="1">
                <a:solidFill>
                  <a:srgbClr val="174B91"/>
                </a:solidFill>
                <a:latin typeface="Arial"/>
                <a:ea typeface="Arial"/>
                <a:cs typeface="Arial"/>
              </a:defRPr>
            </a:pPr>
            <a:r>
              <a:rPr sz="2550" b="1">
                <a:solidFill>
                  <a:srgbClr val="174B91"/>
                </a:solidFill>
                <a:latin typeface="Arial"/>
                <a:ea typeface="Arial"/>
                <a:cs typeface="Arial"/>
              </a:rPr>
              <a:t>Harness engineering</a:t>
            </a:r>
          </a:p>
        </p:txBody>
      </p:sp>
      <p:sp>
        <p:nvSpPr>
          <p:cNvPr id="6" name="">
            <a:extLst xmlns:a="http://schemas.openxmlformats.org/drawingml/2006/main">
              <a:ext uri="{FF2B5EF4-FFF2-40B4-BE49-F238E27FC236}">
                <a16:creationId xmlns:a16="http://schemas.microsoft.com/office/drawing/2014/main" id="{629DA5CA-AC19-4A3E-84F4-F67B1E4CA91F}"/>
              </a:ext>
            </a:extLst>
          </p:cNvPr>
          <p:cNvSpPr>
            <a:spLocks xmlns:a="http://schemas.openxmlformats.org/drawingml/2006/main" noGrp="1"/>
          </p:cNvSpPr>
          <p:nvPr/>
        </p:nvSpPr>
        <p:spPr>
          <a:xfrm xmlns:a="http://schemas.openxmlformats.org/drawingml/2006/main">
            <a:off x="6477000" y="2524125"/>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4535"/>
                </a:solidFill>
                <a:latin typeface="Arial"/>
                <a:ea typeface="Arial"/>
                <a:cs typeface="Arial"/>
              </a:defRPr>
            </a:defPPr>
            <a:lvl1pPr>
              <a:defRPr sz="2325" b="0">
                <a:solidFill>
                  <a:srgbClr val="174535"/>
                </a:solidFill>
                <a:latin typeface="Arial"/>
                <a:ea typeface="Arial"/>
                <a:cs typeface="Arial"/>
              </a:defRPr>
            </a:lvl1pPr>
            <a:lvl2pPr>
              <a:defRPr sz="2325" b="0">
                <a:solidFill>
                  <a:srgbClr val="174535"/>
                </a:solidFill>
                <a:latin typeface="Arial"/>
                <a:ea typeface="Arial"/>
                <a:cs typeface="Arial"/>
              </a:defRPr>
            </a:lvl2pPr>
            <a:lvl3pPr>
              <a:defRPr sz="2325" b="0">
                <a:solidFill>
                  <a:srgbClr val="174535"/>
                </a:solidFill>
                <a:latin typeface="Arial"/>
                <a:ea typeface="Arial"/>
                <a:cs typeface="Arial"/>
              </a:defRPr>
            </a:lvl3pPr>
            <a:lvl4pPr>
              <a:defRPr sz="2325" b="0">
                <a:solidFill>
                  <a:srgbClr val="174535"/>
                </a:solidFill>
                <a:latin typeface="Arial"/>
                <a:ea typeface="Arial"/>
                <a:cs typeface="Arial"/>
              </a:defRPr>
            </a:lvl4pPr>
            <a:lvl5pPr>
              <a:defRPr sz="2325" b="0">
                <a:solidFill>
                  <a:srgbClr val="174535"/>
                </a:solidFill>
                <a:latin typeface="Arial"/>
                <a:ea typeface="Arial"/>
                <a:cs typeface="Arial"/>
              </a:defRPr>
            </a:lvl5pPr>
            <a:lvl6pPr>
              <a:defRPr sz="2325" b="0">
                <a:solidFill>
                  <a:srgbClr val="174535"/>
                </a:solidFill>
                <a:latin typeface="Arial"/>
                <a:ea typeface="Arial"/>
                <a:cs typeface="Arial"/>
              </a:defRPr>
            </a:lvl6pPr>
            <a:lvl7pPr>
              <a:defRPr sz="2325" b="0">
                <a:solidFill>
                  <a:srgbClr val="174535"/>
                </a:solidFill>
                <a:latin typeface="Arial"/>
                <a:ea typeface="Arial"/>
                <a:cs typeface="Arial"/>
              </a:defRPr>
            </a:lvl7pPr>
            <a:lvl8pPr>
              <a:defRPr sz="2325" b="0">
                <a:solidFill>
                  <a:srgbClr val="174535"/>
                </a:solidFill>
                <a:latin typeface="Arial"/>
                <a:ea typeface="Arial"/>
                <a:cs typeface="Arial"/>
              </a:defRPr>
            </a:lvl8pPr>
            <a:lvl9pPr>
              <a:defRPr sz="2325" b="0">
                <a:solidFill>
                  <a:srgbClr val="174535"/>
                </a:solidFill>
                <a:latin typeface="Arial"/>
                <a:ea typeface="Arial"/>
                <a:cs typeface="Arial"/>
              </a:defRPr>
            </a:lvl9pPr>
          </a:lstStyle>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The work of designing, testing and improving that software for real tasks.</a:t>
            </a:r>
          </a:p>
        </p:txBody>
      </p:sp>
      <p:sp>
        <p:nvSpPr>
          <p:cNvPr id="7" name="">
            <a:extLst xmlns:a="http://schemas.openxmlformats.org/drawingml/2006/main">
              <a:ext uri="{FF2B5EF4-FFF2-40B4-BE49-F238E27FC236}">
                <a16:creationId xmlns:a16="http://schemas.microsoft.com/office/drawing/2014/main" id="{FA81DAD9-3BAF-4B14-8CBA-C933DD49D2C4}"/>
              </a:ext>
            </a:extLst>
          </p:cNvPr>
          <p:cNvSpPr>
            <a:spLocks xmlns:a="http://schemas.openxmlformats.org/drawingml/2006/main" noGrp="1"/>
          </p:cNvSpPr>
          <p:nvPr/>
        </p:nvSpPr>
        <p:spPr>
          <a:xfrm xmlns:a="http://schemas.openxmlformats.org/drawingml/2006/main">
            <a:off x="666750" y="52863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One is the system. The other is the engineering practice.</a:t>
            </a:r>
          </a:p>
        </p:txBody>
      </p:sp>
    </p:spTree>
    <p:extLst>
      <p:ext uri="{BB962C8B-B14F-4D97-AF65-F5344CB8AC3E}">
        <p14:creationId xmlns:p14="http://schemas.microsoft.com/office/powerpoint/2010/main" val="853093020"/>
      </p:ext>
    </p:extLst>
  </p:cSld>
</p:sld>
</file>

<file path=ppt/slides/slide4.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2D2C36-0E2E-472B-9417-8701DA55852A}"/>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Model and harness</a:t>
            </a:r>
          </a:p>
        </p:txBody>
      </p:sp>
      <p:sp>
        <p:nvSpPr>
          <p:cNvPr id="2" name="">
            <a:extLst xmlns:a="http://schemas.openxmlformats.org/drawingml/2006/main">
              <a:ext uri="{FF2B5EF4-FFF2-40B4-BE49-F238E27FC236}">
                <a16:creationId xmlns:a16="http://schemas.microsoft.com/office/drawing/2014/main" id="{FF16A5A6-424C-4EA8-B693-4B3626C4D82E}"/>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24D51706-812B-4F21-B91D-A54B5FB89421}"/>
              </a:ext>
            </a:extLst>
          </p:cNvPr>
          <p:cNvSpPr>
            <a:spLocks xmlns:a="http://schemas.openxmlformats.org/drawingml/2006/main" noGrp="1"/>
          </p:cNvSpPr>
          <p:nvPr/>
        </p:nvSpPr>
        <p:spPr>
          <a:xfrm xmlns:a="http://schemas.openxmlformats.org/drawingml/2006/main">
            <a:off x="666750" y="18859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4B91"/>
                </a:solidFill>
                <a:latin typeface="Arial"/>
                <a:ea typeface="Arial"/>
                <a:cs typeface="Arial"/>
              </a:defRPr>
            </a:defPPr>
            <a:lvl1pPr>
              <a:defRPr sz="3150" b="1">
                <a:solidFill>
                  <a:srgbClr val="174B91"/>
                </a:solidFill>
                <a:latin typeface="Arial"/>
                <a:ea typeface="Arial"/>
                <a:cs typeface="Arial"/>
              </a:defRPr>
            </a:lvl1pPr>
            <a:lvl2pPr>
              <a:defRPr sz="3150" b="1">
                <a:solidFill>
                  <a:srgbClr val="174B91"/>
                </a:solidFill>
                <a:latin typeface="Arial"/>
                <a:ea typeface="Arial"/>
                <a:cs typeface="Arial"/>
              </a:defRPr>
            </a:lvl2pPr>
            <a:lvl3pPr>
              <a:defRPr sz="3150" b="1">
                <a:solidFill>
                  <a:srgbClr val="174B91"/>
                </a:solidFill>
                <a:latin typeface="Arial"/>
                <a:ea typeface="Arial"/>
                <a:cs typeface="Arial"/>
              </a:defRPr>
            </a:lvl3pPr>
            <a:lvl4pPr>
              <a:defRPr sz="3150" b="1">
                <a:solidFill>
                  <a:srgbClr val="174B91"/>
                </a:solidFill>
                <a:latin typeface="Arial"/>
                <a:ea typeface="Arial"/>
                <a:cs typeface="Arial"/>
              </a:defRPr>
            </a:lvl4pPr>
            <a:lvl5pPr>
              <a:defRPr sz="3150" b="1">
                <a:solidFill>
                  <a:srgbClr val="174B91"/>
                </a:solidFill>
                <a:latin typeface="Arial"/>
                <a:ea typeface="Arial"/>
                <a:cs typeface="Arial"/>
              </a:defRPr>
            </a:lvl5pPr>
            <a:lvl6pPr>
              <a:defRPr sz="3150" b="1">
                <a:solidFill>
                  <a:srgbClr val="174B91"/>
                </a:solidFill>
                <a:latin typeface="Arial"/>
                <a:ea typeface="Arial"/>
                <a:cs typeface="Arial"/>
              </a:defRPr>
            </a:lvl6pPr>
            <a:lvl7pPr>
              <a:defRPr sz="3150" b="1">
                <a:solidFill>
                  <a:srgbClr val="174B91"/>
                </a:solidFill>
                <a:latin typeface="Arial"/>
                <a:ea typeface="Arial"/>
                <a:cs typeface="Arial"/>
              </a:defRPr>
            </a:lvl7pPr>
            <a:lvl8pPr>
              <a:defRPr sz="3150" b="1">
                <a:solidFill>
                  <a:srgbClr val="174B91"/>
                </a:solidFill>
                <a:latin typeface="Arial"/>
                <a:ea typeface="Arial"/>
                <a:cs typeface="Arial"/>
              </a:defRPr>
            </a:lvl8pPr>
            <a:lvl9pPr>
              <a:defRPr sz="3150" b="1">
                <a:solidFill>
                  <a:srgbClr val="174B91"/>
                </a:solidFill>
                <a:latin typeface="Arial"/>
                <a:ea typeface="Arial"/>
                <a:cs typeface="Arial"/>
              </a:defRPr>
            </a:lvl9pPr>
          </a:lstStyle>
          <a:p xmlns:a="http://schemas.openxmlformats.org/drawingml/2006/main">
            <a:pPr>
              <a:defRPr sz="3150" b="1">
                <a:solidFill>
                  <a:srgbClr val="174B91"/>
                </a:solidFill>
                <a:latin typeface="Arial"/>
                <a:ea typeface="Arial"/>
                <a:cs typeface="Arial"/>
              </a:defRPr>
            </a:pPr>
            <a:r>
              <a:rPr sz="3150" b="1">
                <a:solidFill>
                  <a:srgbClr val="174B91"/>
                </a:solidFill>
                <a:latin typeface="Arial"/>
                <a:ea typeface="Arial"/>
                <a:cs typeface="Arial"/>
              </a:rPr>
              <a:t>Model</a:t>
            </a:r>
          </a:p>
        </p:txBody>
      </p:sp>
      <p:sp>
        <p:nvSpPr>
          <p:cNvPr id="4" name="">
            <a:extLst xmlns:a="http://schemas.openxmlformats.org/drawingml/2006/main">
              <a:ext uri="{FF2B5EF4-FFF2-40B4-BE49-F238E27FC236}">
                <a16:creationId xmlns:a16="http://schemas.microsoft.com/office/drawing/2014/main" id="{5869F71B-29B3-47A0-915F-8FC7C294BFE6}"/>
              </a:ext>
            </a:extLst>
          </p:cNvPr>
          <p:cNvSpPr>
            <a:spLocks xmlns:a="http://schemas.openxmlformats.org/drawingml/2006/main" noGrp="1"/>
          </p:cNvSpPr>
          <p:nvPr/>
        </p:nvSpPr>
        <p:spPr>
          <a:xfrm xmlns:a="http://schemas.openxmlformats.org/drawingml/2006/main">
            <a:off x="666750" y="2762250"/>
            <a:ext cx="4762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4535"/>
                </a:solidFill>
                <a:latin typeface="Arial"/>
                <a:ea typeface="Arial"/>
                <a:cs typeface="Arial"/>
              </a:defRPr>
            </a:defPPr>
            <a:lvl1pPr>
              <a:defRPr sz="2325" b="0">
                <a:solidFill>
                  <a:srgbClr val="174535"/>
                </a:solidFill>
                <a:latin typeface="Arial"/>
                <a:ea typeface="Arial"/>
                <a:cs typeface="Arial"/>
              </a:defRPr>
            </a:lvl1pPr>
            <a:lvl2pPr>
              <a:defRPr sz="2325" b="0">
                <a:solidFill>
                  <a:srgbClr val="174535"/>
                </a:solidFill>
                <a:latin typeface="Arial"/>
                <a:ea typeface="Arial"/>
                <a:cs typeface="Arial"/>
              </a:defRPr>
            </a:lvl2pPr>
            <a:lvl3pPr>
              <a:defRPr sz="2325" b="0">
                <a:solidFill>
                  <a:srgbClr val="174535"/>
                </a:solidFill>
                <a:latin typeface="Arial"/>
                <a:ea typeface="Arial"/>
                <a:cs typeface="Arial"/>
              </a:defRPr>
            </a:lvl3pPr>
            <a:lvl4pPr>
              <a:defRPr sz="2325" b="0">
                <a:solidFill>
                  <a:srgbClr val="174535"/>
                </a:solidFill>
                <a:latin typeface="Arial"/>
                <a:ea typeface="Arial"/>
                <a:cs typeface="Arial"/>
              </a:defRPr>
            </a:lvl4pPr>
            <a:lvl5pPr>
              <a:defRPr sz="2325" b="0">
                <a:solidFill>
                  <a:srgbClr val="174535"/>
                </a:solidFill>
                <a:latin typeface="Arial"/>
                <a:ea typeface="Arial"/>
                <a:cs typeface="Arial"/>
              </a:defRPr>
            </a:lvl5pPr>
            <a:lvl6pPr>
              <a:defRPr sz="2325" b="0">
                <a:solidFill>
                  <a:srgbClr val="174535"/>
                </a:solidFill>
                <a:latin typeface="Arial"/>
                <a:ea typeface="Arial"/>
                <a:cs typeface="Arial"/>
              </a:defRPr>
            </a:lvl6pPr>
            <a:lvl7pPr>
              <a:defRPr sz="2325" b="0">
                <a:solidFill>
                  <a:srgbClr val="174535"/>
                </a:solidFill>
                <a:latin typeface="Arial"/>
                <a:ea typeface="Arial"/>
                <a:cs typeface="Arial"/>
              </a:defRPr>
            </a:lvl7pPr>
            <a:lvl8pPr>
              <a:defRPr sz="2325" b="0">
                <a:solidFill>
                  <a:srgbClr val="174535"/>
                </a:solidFill>
                <a:latin typeface="Arial"/>
                <a:ea typeface="Arial"/>
                <a:cs typeface="Arial"/>
              </a:defRPr>
            </a:lvl8pPr>
            <a:lvl9pPr>
              <a:defRPr sz="2325" b="0">
                <a:solidFill>
                  <a:srgbClr val="174535"/>
                </a:solidFill>
                <a:latin typeface="Arial"/>
                <a:ea typeface="Arial"/>
                <a:cs typeface="Arial"/>
              </a:defRPr>
            </a:lvl9pPr>
          </a:lstStyle>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Interprets the task</a:t>
            </a:r>
          </a:p>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Proposes the next action</a:t>
            </a:r>
          </a:p>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Generates code and explanations</a:t>
            </a:r>
          </a:p>
        </p:txBody>
      </p:sp>
      <p:sp>
        <p:nvSpPr>
          <p:cNvPr id="5" name="">
            <a:extLst xmlns:a="http://schemas.openxmlformats.org/drawingml/2006/main">
              <a:ext uri="{FF2B5EF4-FFF2-40B4-BE49-F238E27FC236}">
                <a16:creationId xmlns:a16="http://schemas.microsoft.com/office/drawing/2014/main" id="{21ECF2EE-3243-402A-9C66-9D84AE53853C}"/>
              </a:ext>
            </a:extLst>
          </p:cNvPr>
          <p:cNvSpPr>
            <a:spLocks xmlns:a="http://schemas.openxmlformats.org/drawingml/2006/main" noGrp="1"/>
          </p:cNvSpPr>
          <p:nvPr/>
        </p:nvSpPr>
        <p:spPr>
          <a:xfrm xmlns:a="http://schemas.openxmlformats.org/drawingml/2006/main">
            <a:off x="6477000" y="18859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4B91"/>
                </a:solidFill>
                <a:latin typeface="Arial"/>
                <a:ea typeface="Arial"/>
                <a:cs typeface="Arial"/>
              </a:defRPr>
            </a:defPPr>
            <a:lvl1pPr>
              <a:defRPr sz="3150" b="1">
                <a:solidFill>
                  <a:srgbClr val="174B91"/>
                </a:solidFill>
                <a:latin typeface="Arial"/>
                <a:ea typeface="Arial"/>
                <a:cs typeface="Arial"/>
              </a:defRPr>
            </a:lvl1pPr>
            <a:lvl2pPr>
              <a:defRPr sz="3150" b="1">
                <a:solidFill>
                  <a:srgbClr val="174B91"/>
                </a:solidFill>
                <a:latin typeface="Arial"/>
                <a:ea typeface="Arial"/>
                <a:cs typeface="Arial"/>
              </a:defRPr>
            </a:lvl2pPr>
            <a:lvl3pPr>
              <a:defRPr sz="3150" b="1">
                <a:solidFill>
                  <a:srgbClr val="174B91"/>
                </a:solidFill>
                <a:latin typeface="Arial"/>
                <a:ea typeface="Arial"/>
                <a:cs typeface="Arial"/>
              </a:defRPr>
            </a:lvl3pPr>
            <a:lvl4pPr>
              <a:defRPr sz="3150" b="1">
                <a:solidFill>
                  <a:srgbClr val="174B91"/>
                </a:solidFill>
                <a:latin typeface="Arial"/>
                <a:ea typeface="Arial"/>
                <a:cs typeface="Arial"/>
              </a:defRPr>
            </a:lvl4pPr>
            <a:lvl5pPr>
              <a:defRPr sz="3150" b="1">
                <a:solidFill>
                  <a:srgbClr val="174B91"/>
                </a:solidFill>
                <a:latin typeface="Arial"/>
                <a:ea typeface="Arial"/>
                <a:cs typeface="Arial"/>
              </a:defRPr>
            </a:lvl5pPr>
            <a:lvl6pPr>
              <a:defRPr sz="3150" b="1">
                <a:solidFill>
                  <a:srgbClr val="174B91"/>
                </a:solidFill>
                <a:latin typeface="Arial"/>
                <a:ea typeface="Arial"/>
                <a:cs typeface="Arial"/>
              </a:defRPr>
            </a:lvl6pPr>
            <a:lvl7pPr>
              <a:defRPr sz="3150" b="1">
                <a:solidFill>
                  <a:srgbClr val="174B91"/>
                </a:solidFill>
                <a:latin typeface="Arial"/>
                <a:ea typeface="Arial"/>
                <a:cs typeface="Arial"/>
              </a:defRPr>
            </a:lvl7pPr>
            <a:lvl8pPr>
              <a:defRPr sz="3150" b="1">
                <a:solidFill>
                  <a:srgbClr val="174B91"/>
                </a:solidFill>
                <a:latin typeface="Arial"/>
                <a:ea typeface="Arial"/>
                <a:cs typeface="Arial"/>
              </a:defRPr>
            </a:lvl8pPr>
            <a:lvl9pPr>
              <a:defRPr sz="3150" b="1">
                <a:solidFill>
                  <a:srgbClr val="174B91"/>
                </a:solidFill>
                <a:latin typeface="Arial"/>
                <a:ea typeface="Arial"/>
                <a:cs typeface="Arial"/>
              </a:defRPr>
            </a:lvl9pPr>
          </a:lstStyle>
          <a:p xmlns:a="http://schemas.openxmlformats.org/drawingml/2006/main">
            <a:pPr>
              <a:defRPr sz="3150" b="1">
                <a:solidFill>
                  <a:srgbClr val="174B91"/>
                </a:solidFill>
                <a:latin typeface="Arial"/>
                <a:ea typeface="Arial"/>
                <a:cs typeface="Arial"/>
              </a:defRPr>
            </a:pPr>
            <a:r>
              <a:rPr sz="3150" b="1">
                <a:solidFill>
                  <a:srgbClr val="174B91"/>
                </a:solidFill>
                <a:latin typeface="Arial"/>
                <a:ea typeface="Arial"/>
                <a:cs typeface="Arial"/>
              </a:rPr>
              <a:t>Harness</a:t>
            </a:r>
          </a:p>
        </p:txBody>
      </p:sp>
      <p:sp>
        <p:nvSpPr>
          <p:cNvPr id="6" name="">
            <a:extLst xmlns:a="http://schemas.openxmlformats.org/drawingml/2006/main">
              <a:ext uri="{FF2B5EF4-FFF2-40B4-BE49-F238E27FC236}">
                <a16:creationId xmlns:a16="http://schemas.microsoft.com/office/drawing/2014/main" id="{F6AA7F48-2A73-486A-878A-A9DA793EB257}"/>
              </a:ext>
            </a:extLst>
          </p:cNvPr>
          <p:cNvSpPr>
            <a:spLocks xmlns:a="http://schemas.openxmlformats.org/drawingml/2006/main" noGrp="1"/>
          </p:cNvSpPr>
          <p:nvPr/>
        </p:nvSpPr>
        <p:spPr>
          <a:xfrm xmlns:a="http://schemas.openxmlformats.org/drawingml/2006/main">
            <a:off x="6477000" y="2762250"/>
            <a:ext cx="4857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4535"/>
                </a:solidFill>
                <a:latin typeface="Arial"/>
                <a:ea typeface="Arial"/>
                <a:cs typeface="Arial"/>
              </a:defRPr>
            </a:defPPr>
            <a:lvl1pPr>
              <a:defRPr sz="2325" b="0">
                <a:solidFill>
                  <a:srgbClr val="174535"/>
                </a:solidFill>
                <a:latin typeface="Arial"/>
                <a:ea typeface="Arial"/>
                <a:cs typeface="Arial"/>
              </a:defRPr>
            </a:lvl1pPr>
            <a:lvl2pPr>
              <a:defRPr sz="2325" b="0">
                <a:solidFill>
                  <a:srgbClr val="174535"/>
                </a:solidFill>
                <a:latin typeface="Arial"/>
                <a:ea typeface="Arial"/>
                <a:cs typeface="Arial"/>
              </a:defRPr>
            </a:lvl2pPr>
            <a:lvl3pPr>
              <a:defRPr sz="2325" b="0">
                <a:solidFill>
                  <a:srgbClr val="174535"/>
                </a:solidFill>
                <a:latin typeface="Arial"/>
                <a:ea typeface="Arial"/>
                <a:cs typeface="Arial"/>
              </a:defRPr>
            </a:lvl3pPr>
            <a:lvl4pPr>
              <a:defRPr sz="2325" b="0">
                <a:solidFill>
                  <a:srgbClr val="174535"/>
                </a:solidFill>
                <a:latin typeface="Arial"/>
                <a:ea typeface="Arial"/>
                <a:cs typeface="Arial"/>
              </a:defRPr>
            </a:lvl4pPr>
            <a:lvl5pPr>
              <a:defRPr sz="2325" b="0">
                <a:solidFill>
                  <a:srgbClr val="174535"/>
                </a:solidFill>
                <a:latin typeface="Arial"/>
                <a:ea typeface="Arial"/>
                <a:cs typeface="Arial"/>
              </a:defRPr>
            </a:lvl5pPr>
            <a:lvl6pPr>
              <a:defRPr sz="2325" b="0">
                <a:solidFill>
                  <a:srgbClr val="174535"/>
                </a:solidFill>
                <a:latin typeface="Arial"/>
                <a:ea typeface="Arial"/>
                <a:cs typeface="Arial"/>
              </a:defRPr>
            </a:lvl6pPr>
            <a:lvl7pPr>
              <a:defRPr sz="2325" b="0">
                <a:solidFill>
                  <a:srgbClr val="174535"/>
                </a:solidFill>
                <a:latin typeface="Arial"/>
                <a:ea typeface="Arial"/>
                <a:cs typeface="Arial"/>
              </a:defRPr>
            </a:lvl7pPr>
            <a:lvl8pPr>
              <a:defRPr sz="2325" b="0">
                <a:solidFill>
                  <a:srgbClr val="174535"/>
                </a:solidFill>
                <a:latin typeface="Arial"/>
                <a:ea typeface="Arial"/>
                <a:cs typeface="Arial"/>
              </a:defRPr>
            </a:lvl8pPr>
            <a:lvl9pPr>
              <a:defRPr sz="2325" b="0">
                <a:solidFill>
                  <a:srgbClr val="174535"/>
                </a:solidFill>
                <a:latin typeface="Arial"/>
                <a:ea typeface="Arial"/>
                <a:cs typeface="Arial"/>
              </a:defRPr>
            </a:lvl9pPr>
          </a:lstStyle>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Executes the tools</a:t>
            </a:r>
          </a:p>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Supplies context and saved state</a:t>
            </a:r>
          </a:p>
          <a:p xmlns:a="http://schemas.openxmlformats.org/drawingml/2006/main">
            <a:pPr>
              <a:defRPr sz="2325" b="0">
                <a:solidFill>
                  <a:srgbClr val="174535"/>
                </a:solidFill>
                <a:latin typeface="Arial"/>
                <a:ea typeface="Arial"/>
                <a:cs typeface="Arial"/>
              </a:defRPr>
            </a:pPr>
            <a:r>
              <a:rPr sz="2325" b="0">
                <a:solidFill>
                  <a:srgbClr val="174535"/>
                </a:solidFill>
                <a:latin typeface="Arial"/>
                <a:ea typeface="Arial"/>
                <a:cs typeface="Arial"/>
              </a:rPr>
              <a:t>Enforces checks and approvals</a:t>
            </a:r>
          </a:p>
        </p:txBody>
      </p:sp>
      <p:sp>
        <p:nvSpPr>
          <p:cNvPr id="7" name="">
            <a:extLst xmlns:a="http://schemas.openxmlformats.org/drawingml/2006/main">
              <a:ext uri="{FF2B5EF4-FFF2-40B4-BE49-F238E27FC236}">
                <a16:creationId xmlns:a16="http://schemas.microsoft.com/office/drawing/2014/main" id="{B22F5528-5440-4C8E-A169-4707ECB32B95}"/>
              </a:ext>
            </a:extLst>
          </p:cNvPr>
          <p:cNvSpPr>
            <a:spLocks xmlns:a="http://schemas.openxmlformats.org/drawingml/2006/main" noGrp="1"/>
          </p:cNvSpPr>
          <p:nvPr/>
        </p:nvSpPr>
        <p:spPr>
          <a:xfrm xmlns:a="http://schemas.openxmlformats.org/drawingml/2006/main">
            <a:off x="666750" y="55721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54685D"/>
                </a:solidFill>
                <a:latin typeface="Arial"/>
                <a:ea typeface="Arial"/>
                <a:cs typeface="Arial"/>
              </a:defRPr>
            </a:defPPr>
            <a:lvl1pPr>
              <a:defRPr sz="2250" b="0">
                <a:solidFill>
                  <a:srgbClr val="54685D"/>
                </a:solidFill>
                <a:latin typeface="Arial"/>
                <a:ea typeface="Arial"/>
                <a:cs typeface="Arial"/>
              </a:defRPr>
            </a:lvl1pPr>
            <a:lvl2pPr>
              <a:defRPr sz="2250" b="0">
                <a:solidFill>
                  <a:srgbClr val="54685D"/>
                </a:solidFill>
                <a:latin typeface="Arial"/>
                <a:ea typeface="Arial"/>
                <a:cs typeface="Arial"/>
              </a:defRPr>
            </a:lvl2pPr>
            <a:lvl3pPr>
              <a:defRPr sz="2250" b="0">
                <a:solidFill>
                  <a:srgbClr val="54685D"/>
                </a:solidFill>
                <a:latin typeface="Arial"/>
                <a:ea typeface="Arial"/>
                <a:cs typeface="Arial"/>
              </a:defRPr>
            </a:lvl3pPr>
            <a:lvl4pPr>
              <a:defRPr sz="2250" b="0">
                <a:solidFill>
                  <a:srgbClr val="54685D"/>
                </a:solidFill>
                <a:latin typeface="Arial"/>
                <a:ea typeface="Arial"/>
                <a:cs typeface="Arial"/>
              </a:defRPr>
            </a:lvl4pPr>
            <a:lvl5pPr>
              <a:defRPr sz="2250" b="0">
                <a:solidFill>
                  <a:srgbClr val="54685D"/>
                </a:solidFill>
                <a:latin typeface="Arial"/>
                <a:ea typeface="Arial"/>
                <a:cs typeface="Arial"/>
              </a:defRPr>
            </a:lvl5pPr>
            <a:lvl6pPr>
              <a:defRPr sz="2250" b="0">
                <a:solidFill>
                  <a:srgbClr val="54685D"/>
                </a:solidFill>
                <a:latin typeface="Arial"/>
                <a:ea typeface="Arial"/>
                <a:cs typeface="Arial"/>
              </a:defRPr>
            </a:lvl6pPr>
            <a:lvl7pPr>
              <a:defRPr sz="2250" b="0">
                <a:solidFill>
                  <a:srgbClr val="54685D"/>
                </a:solidFill>
                <a:latin typeface="Arial"/>
                <a:ea typeface="Arial"/>
                <a:cs typeface="Arial"/>
              </a:defRPr>
            </a:lvl7pPr>
            <a:lvl8pPr>
              <a:defRPr sz="2250" b="0">
                <a:solidFill>
                  <a:srgbClr val="54685D"/>
                </a:solidFill>
                <a:latin typeface="Arial"/>
                <a:ea typeface="Arial"/>
                <a:cs typeface="Arial"/>
              </a:defRPr>
            </a:lvl8pPr>
            <a:lvl9pPr>
              <a:defRPr sz="2250" b="0">
                <a:solidFill>
                  <a:srgbClr val="54685D"/>
                </a:solidFill>
                <a:latin typeface="Arial"/>
                <a:ea typeface="Arial"/>
                <a:cs typeface="Arial"/>
              </a:defRPr>
            </a:lvl9pPr>
          </a:lstStyle>
          <a:p xmlns:a="http://schemas.openxmlformats.org/drawingml/2006/main">
            <a:pPr>
              <a:defRPr sz="2250" b="0">
                <a:solidFill>
                  <a:srgbClr val="54685D"/>
                </a:solidFill>
                <a:latin typeface="Arial"/>
                <a:ea typeface="Arial"/>
                <a:cs typeface="Arial"/>
              </a:defRPr>
            </a:pPr>
            <a:r>
              <a:rPr sz="2250" b="0">
                <a:solidFill>
                  <a:srgbClr val="54685D"/>
                </a:solidFill>
                <a:latin typeface="Arial"/>
                <a:ea typeface="Arial"/>
                <a:cs typeface="Arial"/>
              </a:rPr>
              <a:t>An agent combines both in a working loop.</a:t>
            </a:r>
          </a:p>
        </p:txBody>
      </p:sp>
    </p:spTree>
    <p:extLst>
      <p:ext uri="{BB962C8B-B14F-4D97-AF65-F5344CB8AC3E}">
        <p14:creationId xmlns:p14="http://schemas.microsoft.com/office/powerpoint/2010/main" val="1401207007"/>
      </p:ext>
    </p:extLst>
  </p:cSld>
</p:sld>
</file>

<file path=ppt/slides/slide5.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AB2225-CC1B-47FE-812D-088444C7A7FC}"/>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Prompt, context and harness</a:t>
            </a:r>
          </a:p>
        </p:txBody>
      </p:sp>
      <p:sp>
        <p:nvSpPr>
          <p:cNvPr id="2" name="">
            <a:extLst xmlns:a="http://schemas.openxmlformats.org/drawingml/2006/main">
              <a:ext uri="{FF2B5EF4-FFF2-40B4-BE49-F238E27FC236}">
                <a16:creationId xmlns:a16="http://schemas.microsoft.com/office/drawing/2014/main" id="{7378910A-7D13-43DC-A29B-D54D67E2AF34}"/>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C40DF160-E20A-49C5-BCC3-333E2F1031D1}"/>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Prompt engineering</a:t>
            </a:r>
          </a:p>
        </p:txBody>
      </p:sp>
      <p:sp>
        <p:nvSpPr>
          <p:cNvPr id="4" name="">
            <a:extLst xmlns:a="http://schemas.openxmlformats.org/drawingml/2006/main">
              <a:ext uri="{FF2B5EF4-FFF2-40B4-BE49-F238E27FC236}">
                <a16:creationId xmlns:a16="http://schemas.microsoft.com/office/drawing/2014/main" id="{FD017761-21F1-46DE-9F71-A797058C4844}"/>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How should we phrase the task and rules?</a:t>
            </a:r>
          </a:p>
        </p:txBody>
      </p:sp>
      <p:sp>
        <p:nvSpPr>
          <p:cNvPr id="5" name="">
            <a:extLst xmlns:a="http://schemas.openxmlformats.org/drawingml/2006/main">
              <a:ext uri="{FF2B5EF4-FFF2-40B4-BE49-F238E27FC236}">
                <a16:creationId xmlns:a16="http://schemas.microsoft.com/office/drawing/2014/main" id="{69BEB58D-9261-4839-8A8F-742940120250}"/>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Context engineering</a:t>
            </a:r>
          </a:p>
        </p:txBody>
      </p:sp>
      <p:sp>
        <p:nvSpPr>
          <p:cNvPr id="6" name="">
            <a:extLst xmlns:a="http://schemas.openxmlformats.org/drawingml/2006/main">
              <a:ext uri="{FF2B5EF4-FFF2-40B4-BE49-F238E27FC236}">
                <a16:creationId xmlns:a16="http://schemas.microsoft.com/office/drawing/2014/main" id="{CB47778B-2FD3-462C-85BC-01061678D2F6}"/>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Which instructions, files, history and observations should be included?</a:t>
            </a:r>
          </a:p>
        </p:txBody>
      </p:sp>
      <p:sp>
        <p:nvSpPr>
          <p:cNvPr id="7" name="">
            <a:extLst xmlns:a="http://schemas.openxmlformats.org/drawingml/2006/main">
              <a:ext uri="{FF2B5EF4-FFF2-40B4-BE49-F238E27FC236}">
                <a16:creationId xmlns:a16="http://schemas.microsoft.com/office/drawing/2014/main" id="{2C18F2C2-1856-4E12-B9E7-0769CEECAFE2}"/>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Harness engineering</a:t>
            </a:r>
          </a:p>
        </p:txBody>
      </p:sp>
      <p:sp>
        <p:nvSpPr>
          <p:cNvPr id="8" name="">
            <a:extLst xmlns:a="http://schemas.openxmlformats.org/drawingml/2006/main">
              <a:ext uri="{FF2B5EF4-FFF2-40B4-BE49-F238E27FC236}">
                <a16:creationId xmlns:a16="http://schemas.microsoft.com/office/drawing/2014/main" id="{AE903E33-6889-493C-AC7C-E907F7B75C57}"/>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How should the entire workflow execute, recover and verify?</a:t>
            </a:r>
          </a:p>
        </p:txBody>
      </p:sp>
    </p:spTree>
    <p:extLst>
      <p:ext uri="{BB962C8B-B14F-4D97-AF65-F5344CB8AC3E}">
        <p14:creationId xmlns:p14="http://schemas.microsoft.com/office/powerpoint/2010/main" val="252799708"/>
      </p:ext>
    </p:extLst>
  </p:cSld>
</p:sld>
</file>

<file path=ppt/slides/slide6.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31545CF-9125-4107-AE1C-B5FB87B7F4D2}"/>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Related terms</a:t>
            </a:r>
          </a:p>
        </p:txBody>
      </p:sp>
      <p:sp>
        <p:nvSpPr>
          <p:cNvPr id="2" name="">
            <a:extLst xmlns:a="http://schemas.openxmlformats.org/drawingml/2006/main">
              <a:ext uri="{FF2B5EF4-FFF2-40B4-BE49-F238E27FC236}">
                <a16:creationId xmlns:a16="http://schemas.microsoft.com/office/drawing/2014/main" id="{6B949DBA-4C9E-409B-89C4-B420C813F88A}"/>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06</a:t>
            </a:r>
          </a:p>
        </p:txBody>
      </p:sp>
      <p:graphicFrame>
        <p:nvGraphicFramePr>
          <p:cNvPr id="3" name="">
            <a:extLst xmlns:a="http://schemas.openxmlformats.org/drawingml/2006/main">
              <a:ext uri="{FF2B5EF4-FFF2-40B4-BE49-F238E27FC236}">
                <a16:creationId xmlns:a16="http://schemas.microsoft.com/office/drawing/2014/main" id="{C2383FB6-B594-41DC-9A8B-AC45F92AB8BB}"/>
              </a:ext>
            </a:extLst>
          </p:cNvPr>
          <p:cNvGraphicFramePr/>
          <p:nvPr/>
        </p:nvGraphicFramePr>
        <p:xfrm>
          <a:off xmlns:a="http://schemas.openxmlformats.org/drawingml/2006/main" x="619125" y="1733550"/>
          <a:ext xmlns:a="http://schemas.openxmlformats.org/drawingml/2006/main" cx="10953750" cy="3524250"/>
        </p:xfrm>
        <a:graphic xmlns:a="http://schemas.openxmlformats.org/drawingml/2006/main">
          <a:graphicData uri="http://schemas.openxmlformats.org/drawingml/2006/table">
            <a:tbl>
              <a:tblPr/>
              <a:tblGrid>
                <a:gridCol w="3429000"/>
                <a:gridCol w="7524750"/>
              </a:tblGrid>
              <a:tr h="704850">
                <a:tc>
                  <a:txBody>
                    <a:bodyPr/>
                    <a:lstStyle/>
                    <a:p>
                      <a:r>
                        <a:rPr sz="1950" b="1">
                          <a:solidFill>
                            <a:srgbClr val="FFFFFF"/>
                          </a:solidFill>
                          <a:latin typeface="Arial"/>
                          <a:ea typeface="Arial"/>
                          <a:cs typeface="Arial"/>
                        </a:rPr>
                        <a:t>Term</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950" b="1">
                          <a:solidFill>
                            <a:srgbClr val="FFFFFF"/>
                          </a:solidFill>
                          <a:latin typeface="Arial"/>
                          <a:ea typeface="Arial"/>
                          <a:cs typeface="Arial"/>
                        </a:rPr>
                        <a:t>Useful meaning</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704850">
                <a:tc>
                  <a:txBody>
                    <a:bodyPr/>
                    <a:lstStyle/>
                    <a:p>
                      <a:r>
                        <a:rPr sz="1950" b="0">
                          <a:solidFill>
                            <a:srgbClr val="174535"/>
                          </a:solidFill>
                          <a:latin typeface="Arial"/>
                          <a:ea typeface="Arial"/>
                          <a:cs typeface="Arial"/>
                        </a:rPr>
                        <a:t>Framework</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950" b="0">
                          <a:solidFill>
                            <a:srgbClr val="174535"/>
                          </a:solidFill>
                          <a:latin typeface="Arial"/>
                          <a:ea typeface="Arial"/>
                          <a:cs typeface="Arial"/>
                        </a:rPr>
                        <a:t>A library of building blocks</a:t>
                      </a:r>
                    </a:p>
                  </a:txBody>
                  <a:tcPr marL="91440" marR="91440" marT="45720" marB="45720">
                    <a:lnR w="9525">
                      <a:solidFill>
                        <a:srgbClr val="D4DDD5"/>
                      </a:solidFill>
                    </a:lnR>
                    <a:lnB w="9525">
                      <a:solidFill>
                        <a:srgbClr val="D4DDD5"/>
                      </a:solidFill>
                    </a:lnB>
                    <a:solidFill>
                      <a:srgbClr val="FFFFFF"/>
                    </a:solidFill>
                  </a:tcPr>
                </a:tc>
              </a:tr>
              <a:tr h="704850">
                <a:tc>
                  <a:txBody>
                    <a:bodyPr/>
                    <a:lstStyle/>
                    <a:p>
                      <a:r>
                        <a:rPr sz="1950" b="0">
                          <a:solidFill>
                            <a:srgbClr val="174535"/>
                          </a:solidFill>
                          <a:latin typeface="Arial"/>
                          <a:ea typeface="Arial"/>
                          <a:cs typeface="Arial"/>
                        </a:rPr>
                        <a:t>Runtime</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950" b="0">
                          <a:solidFill>
                            <a:srgbClr val="174535"/>
                          </a:solidFill>
                          <a:latin typeface="Arial"/>
                          <a:ea typeface="Arial"/>
                          <a:cs typeface="Arial"/>
                        </a:rPr>
                        <a:t>The engine that executes and resumes steps</a:t>
                      </a:r>
                    </a:p>
                  </a:txBody>
                  <a:tcPr marL="91440" marR="91440" marT="45720" marB="45720">
                    <a:lnR w="9525">
                      <a:solidFill>
                        <a:srgbClr val="D4DDD5"/>
                      </a:solidFill>
                    </a:lnR>
                    <a:lnB w="9525">
                      <a:solidFill>
                        <a:srgbClr val="D4DDD5"/>
                      </a:solidFill>
                    </a:lnB>
                    <a:solidFill>
                      <a:srgbClr val="EEF2EA"/>
                    </a:solidFill>
                  </a:tcPr>
                </a:tc>
              </a:tr>
              <a:tr h="704850">
                <a:tc>
                  <a:txBody>
                    <a:bodyPr/>
                    <a:lstStyle/>
                    <a:p>
                      <a:r>
                        <a:rPr sz="1950" b="0">
                          <a:solidFill>
                            <a:srgbClr val="174535"/>
                          </a:solidFill>
                          <a:latin typeface="Arial"/>
                          <a:ea typeface="Arial"/>
                          <a:cs typeface="Arial"/>
                        </a:rPr>
                        <a:t>Harness</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950" b="0">
                          <a:solidFill>
                            <a:srgbClr val="174535"/>
                          </a:solidFill>
                          <a:latin typeface="Arial"/>
                          <a:ea typeface="Arial"/>
                          <a:cs typeface="Arial"/>
                        </a:rPr>
                        <a:t>The assembled system around a model</a:t>
                      </a:r>
                    </a:p>
                  </a:txBody>
                  <a:tcPr marL="91440" marR="91440" marT="45720" marB="45720">
                    <a:lnR w="9525">
                      <a:solidFill>
                        <a:srgbClr val="D4DDD5"/>
                      </a:solidFill>
                    </a:lnR>
                    <a:lnB w="9525">
                      <a:solidFill>
                        <a:srgbClr val="D4DDD5"/>
                      </a:solidFill>
                    </a:lnB>
                    <a:solidFill>
                      <a:srgbClr val="FFFFFF"/>
                    </a:solidFill>
                  </a:tcPr>
                </a:tc>
              </a:tr>
              <a:tr h="704850">
                <a:tc>
                  <a:txBody>
                    <a:bodyPr/>
                    <a:lstStyle/>
                    <a:p>
                      <a:r>
                        <a:rPr sz="1950" b="0">
                          <a:solidFill>
                            <a:srgbClr val="174535"/>
                          </a:solidFill>
                          <a:latin typeface="Arial"/>
                          <a:ea typeface="Arial"/>
                          <a:cs typeface="Arial"/>
                        </a:rPr>
                        <a:t>Harness engineering</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950" b="0">
                          <a:solidFill>
                            <a:srgbClr val="174535"/>
                          </a:solidFill>
                          <a:latin typeface="Arial"/>
                          <a:ea typeface="Arial"/>
                          <a:cs typeface="Arial"/>
                        </a:rPr>
                        <a:t>Designing and improving that assembled system</a:t>
                      </a:r>
                    </a:p>
                  </a:txBody>
                  <a:tcPr marL="91440" marR="91440" marT="45720" marB="45720">
                    <a:lnR w="9525">
                      <a:solidFill>
                        <a:srgbClr val="D4DDD5"/>
                      </a:solidFill>
                    </a:lnR>
                    <a:lnB w="9525">
                      <a:solidFill>
                        <a:srgbClr val="D4DDD5"/>
                      </a:solidFill>
                    </a:lnB>
                    <a:solidFill>
                      <a:srgbClr val="EEF2EA"/>
                    </a:solidFill>
                  </a:tcPr>
                </a:tc>
              </a:tr>
            </a:tbl>
          </a:graphicData>
        </a:graphic>
      </p:graphicFrame>
    </p:spTree>
    <p:extLst>
      <p:ext uri="{BB962C8B-B14F-4D97-AF65-F5344CB8AC3E}">
        <p14:creationId xmlns:p14="http://schemas.microsoft.com/office/powerpoint/2010/main" val="722678766"/>
      </p:ext>
    </p:extLst>
  </p:cSld>
</p:sld>
</file>

<file path=ppt/slides/slide7.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3359F16-DBBB-4248-9C60-6BD98BCE1B6F}"/>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Seven components in this demo</a:t>
            </a:r>
          </a:p>
        </p:txBody>
      </p:sp>
      <p:sp>
        <p:nvSpPr>
          <p:cNvPr id="2" name="">
            <a:extLst xmlns:a="http://schemas.openxmlformats.org/drawingml/2006/main">
              <a:ext uri="{FF2B5EF4-FFF2-40B4-BE49-F238E27FC236}">
                <a16:creationId xmlns:a16="http://schemas.microsoft.com/office/drawing/2014/main" id="{7921EA48-1E00-498E-8603-DDAD79C65BFE}"/>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417C5972-8DE9-401B-930C-AF548649CA9E}"/>
              </a:ext>
            </a:extLst>
          </p:cNvPr>
          <p:cNvSpPr>
            <a:spLocks xmlns:a="http://schemas.openxmlformats.org/drawingml/2006/main" noGrp="1"/>
          </p:cNvSpPr>
          <p:nvPr/>
        </p:nvSpPr>
        <p:spPr>
          <a:xfrm xmlns:a="http://schemas.openxmlformats.org/drawingml/2006/main">
            <a:off x="714375" y="1762125"/>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8E831144-06DD-47D3-8D4C-89016D1F0CD1}"/>
              </a:ext>
            </a:extLst>
          </p:cNvPr>
          <p:cNvSpPr>
            <a:spLocks xmlns:a="http://schemas.openxmlformats.org/drawingml/2006/main" noGrp="1"/>
          </p:cNvSpPr>
          <p:nvPr/>
        </p:nvSpPr>
        <p:spPr>
          <a:xfrm xmlns:a="http://schemas.openxmlformats.org/drawingml/2006/main">
            <a:off x="1476375" y="1762125"/>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Agent loop</a:t>
            </a:r>
          </a:p>
        </p:txBody>
      </p:sp>
      <p:sp>
        <p:nvSpPr>
          <p:cNvPr id="5" name="">
            <a:extLst xmlns:a="http://schemas.openxmlformats.org/drawingml/2006/main">
              <a:ext uri="{FF2B5EF4-FFF2-40B4-BE49-F238E27FC236}">
                <a16:creationId xmlns:a16="http://schemas.microsoft.com/office/drawing/2014/main" id="{FEAD47C4-13D0-47F9-9ECD-AC3340F61421}"/>
              </a:ext>
            </a:extLst>
          </p:cNvPr>
          <p:cNvSpPr>
            <a:spLocks xmlns:a="http://schemas.openxmlformats.org/drawingml/2006/main" noGrp="1"/>
          </p:cNvSpPr>
          <p:nvPr/>
        </p:nvSpPr>
        <p:spPr>
          <a:xfrm xmlns:a="http://schemas.openxmlformats.org/drawingml/2006/main">
            <a:off x="714375" y="2762250"/>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90E54CE6-8EC7-4107-862B-AF2C1A9A7081}"/>
              </a:ext>
            </a:extLst>
          </p:cNvPr>
          <p:cNvSpPr>
            <a:spLocks xmlns:a="http://schemas.openxmlformats.org/drawingml/2006/main" noGrp="1"/>
          </p:cNvSpPr>
          <p:nvPr/>
        </p:nvSpPr>
        <p:spPr>
          <a:xfrm xmlns:a="http://schemas.openxmlformats.org/drawingml/2006/main">
            <a:off x="1476375" y="276225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Tools &amp; sandbox</a:t>
            </a:r>
          </a:p>
        </p:txBody>
      </p:sp>
      <p:sp>
        <p:nvSpPr>
          <p:cNvPr id="7" name="">
            <a:extLst xmlns:a="http://schemas.openxmlformats.org/drawingml/2006/main">
              <a:ext uri="{FF2B5EF4-FFF2-40B4-BE49-F238E27FC236}">
                <a16:creationId xmlns:a16="http://schemas.microsoft.com/office/drawing/2014/main" id="{83597E34-690B-4ABD-AD1E-BC8D786061FD}"/>
              </a:ext>
            </a:extLst>
          </p:cNvPr>
          <p:cNvSpPr>
            <a:spLocks xmlns:a="http://schemas.openxmlformats.org/drawingml/2006/main" noGrp="1"/>
          </p:cNvSpPr>
          <p:nvPr/>
        </p:nvSpPr>
        <p:spPr>
          <a:xfrm xmlns:a="http://schemas.openxmlformats.org/drawingml/2006/main">
            <a:off x="714375" y="3762375"/>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A8018084-8F21-40FF-921B-FD3D38021CAA}"/>
              </a:ext>
            </a:extLst>
          </p:cNvPr>
          <p:cNvSpPr>
            <a:spLocks xmlns:a="http://schemas.openxmlformats.org/drawingml/2006/main" noGrp="1"/>
          </p:cNvSpPr>
          <p:nvPr/>
        </p:nvSpPr>
        <p:spPr>
          <a:xfrm xmlns:a="http://schemas.openxmlformats.org/drawingml/2006/main">
            <a:off x="1476375" y="3762375"/>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Instructions &amp; policies</a:t>
            </a:r>
          </a:p>
        </p:txBody>
      </p:sp>
      <p:sp>
        <p:nvSpPr>
          <p:cNvPr id="9" name="">
            <a:extLst xmlns:a="http://schemas.openxmlformats.org/drawingml/2006/main">
              <a:ext uri="{FF2B5EF4-FFF2-40B4-BE49-F238E27FC236}">
                <a16:creationId xmlns:a16="http://schemas.microsoft.com/office/drawing/2014/main" id="{38000133-5F1D-44F7-B261-53F75F14B17B}"/>
              </a:ext>
            </a:extLst>
          </p:cNvPr>
          <p:cNvSpPr>
            <a:spLocks xmlns:a="http://schemas.openxmlformats.org/drawingml/2006/main" noGrp="1"/>
          </p:cNvSpPr>
          <p:nvPr/>
        </p:nvSpPr>
        <p:spPr>
          <a:xfrm xmlns:a="http://schemas.openxmlformats.org/drawingml/2006/main">
            <a:off x="714375" y="4762500"/>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3CB6600F-94B7-4FEC-AD15-CB337DECADE5}"/>
              </a:ext>
            </a:extLst>
          </p:cNvPr>
          <p:cNvSpPr>
            <a:spLocks xmlns:a="http://schemas.openxmlformats.org/drawingml/2006/main" noGrp="1"/>
          </p:cNvSpPr>
          <p:nvPr/>
        </p:nvSpPr>
        <p:spPr>
          <a:xfrm xmlns:a="http://schemas.openxmlformats.org/drawingml/2006/main">
            <a:off x="1476375" y="47625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Context management</a:t>
            </a:r>
          </a:p>
        </p:txBody>
      </p:sp>
      <p:sp>
        <p:nvSpPr>
          <p:cNvPr id="11" name="">
            <a:extLst xmlns:a="http://schemas.openxmlformats.org/drawingml/2006/main">
              <a:ext uri="{FF2B5EF4-FFF2-40B4-BE49-F238E27FC236}">
                <a16:creationId xmlns:a16="http://schemas.microsoft.com/office/drawing/2014/main" id="{9FBD1C28-AE6A-4932-AF71-B6ED1660A683}"/>
              </a:ext>
            </a:extLst>
          </p:cNvPr>
          <p:cNvSpPr>
            <a:spLocks xmlns:a="http://schemas.openxmlformats.org/drawingml/2006/main" noGrp="1"/>
          </p:cNvSpPr>
          <p:nvPr/>
        </p:nvSpPr>
        <p:spPr>
          <a:xfrm xmlns:a="http://schemas.openxmlformats.org/drawingml/2006/main">
            <a:off x="6667500" y="1762125"/>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05</a:t>
            </a:r>
          </a:p>
        </p:txBody>
      </p:sp>
      <p:sp>
        <p:nvSpPr>
          <p:cNvPr id="12" name="">
            <a:extLst xmlns:a="http://schemas.openxmlformats.org/drawingml/2006/main">
              <a:ext uri="{FF2B5EF4-FFF2-40B4-BE49-F238E27FC236}">
                <a16:creationId xmlns:a16="http://schemas.microsoft.com/office/drawing/2014/main" id="{F1076D2D-2640-4B9A-B358-6B7380829A61}"/>
              </a:ext>
            </a:extLst>
          </p:cNvPr>
          <p:cNvSpPr>
            <a:spLocks xmlns:a="http://schemas.openxmlformats.org/drawingml/2006/main" noGrp="1"/>
          </p:cNvSpPr>
          <p:nvPr/>
        </p:nvSpPr>
        <p:spPr>
          <a:xfrm xmlns:a="http://schemas.openxmlformats.org/drawingml/2006/main">
            <a:off x="7429500" y="1762125"/>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Memory &amp; state</a:t>
            </a:r>
          </a:p>
        </p:txBody>
      </p:sp>
      <p:sp>
        <p:nvSpPr>
          <p:cNvPr id="13" name="">
            <a:extLst xmlns:a="http://schemas.openxmlformats.org/drawingml/2006/main">
              <a:ext uri="{FF2B5EF4-FFF2-40B4-BE49-F238E27FC236}">
                <a16:creationId xmlns:a16="http://schemas.microsoft.com/office/drawing/2014/main" id="{0C2C13FB-4FD9-44E7-B522-F421DFD476BC}"/>
              </a:ext>
            </a:extLst>
          </p:cNvPr>
          <p:cNvSpPr>
            <a:spLocks xmlns:a="http://schemas.openxmlformats.org/drawingml/2006/main" noGrp="1"/>
          </p:cNvSpPr>
          <p:nvPr/>
        </p:nvSpPr>
        <p:spPr>
          <a:xfrm xmlns:a="http://schemas.openxmlformats.org/drawingml/2006/main">
            <a:off x="6667500" y="2762250"/>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06</a:t>
            </a:r>
          </a:p>
        </p:txBody>
      </p:sp>
      <p:sp>
        <p:nvSpPr>
          <p:cNvPr id="14" name="">
            <a:extLst xmlns:a="http://schemas.openxmlformats.org/drawingml/2006/main">
              <a:ext uri="{FF2B5EF4-FFF2-40B4-BE49-F238E27FC236}">
                <a16:creationId xmlns:a16="http://schemas.microsoft.com/office/drawing/2014/main" id="{B5EF59D8-6D67-4414-8117-637F8668E9BD}"/>
              </a:ext>
            </a:extLst>
          </p:cNvPr>
          <p:cNvSpPr>
            <a:spLocks xmlns:a="http://schemas.openxmlformats.org/drawingml/2006/main" noGrp="1"/>
          </p:cNvSpPr>
          <p:nvPr/>
        </p:nvSpPr>
        <p:spPr>
          <a:xfrm xmlns:a="http://schemas.openxmlformats.org/drawingml/2006/main">
            <a:off x="7429500" y="276225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Guardrails</a:t>
            </a:r>
          </a:p>
        </p:txBody>
      </p:sp>
      <p:sp>
        <p:nvSpPr>
          <p:cNvPr id="15" name="">
            <a:extLst xmlns:a="http://schemas.openxmlformats.org/drawingml/2006/main">
              <a:ext uri="{FF2B5EF4-FFF2-40B4-BE49-F238E27FC236}">
                <a16:creationId xmlns:a16="http://schemas.microsoft.com/office/drawing/2014/main" id="{A547E36F-8DA9-43CC-AD29-88D5153C5538}"/>
              </a:ext>
            </a:extLst>
          </p:cNvPr>
          <p:cNvSpPr>
            <a:spLocks xmlns:a="http://schemas.openxmlformats.org/drawingml/2006/main" noGrp="1"/>
          </p:cNvSpPr>
          <p:nvPr/>
        </p:nvSpPr>
        <p:spPr>
          <a:xfrm xmlns:a="http://schemas.openxmlformats.org/drawingml/2006/main">
            <a:off x="6667500" y="3762375"/>
            <a:ext cx="619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E87924"/>
                </a:solidFill>
                <a:latin typeface="Arial"/>
                <a:ea typeface="Arial"/>
                <a:cs typeface="Arial"/>
              </a:defRPr>
            </a:defPPr>
            <a:lvl1pPr>
              <a:defRPr sz="2025" b="1">
                <a:solidFill>
                  <a:srgbClr val="E87924"/>
                </a:solidFill>
                <a:latin typeface="Arial"/>
                <a:ea typeface="Arial"/>
                <a:cs typeface="Arial"/>
              </a:defRPr>
            </a:lvl1pPr>
            <a:lvl2pPr>
              <a:defRPr sz="2025" b="1">
                <a:solidFill>
                  <a:srgbClr val="E87924"/>
                </a:solidFill>
                <a:latin typeface="Arial"/>
                <a:ea typeface="Arial"/>
                <a:cs typeface="Arial"/>
              </a:defRPr>
            </a:lvl2pPr>
            <a:lvl3pPr>
              <a:defRPr sz="2025" b="1">
                <a:solidFill>
                  <a:srgbClr val="E87924"/>
                </a:solidFill>
                <a:latin typeface="Arial"/>
                <a:ea typeface="Arial"/>
                <a:cs typeface="Arial"/>
              </a:defRPr>
            </a:lvl3pPr>
            <a:lvl4pPr>
              <a:defRPr sz="2025" b="1">
                <a:solidFill>
                  <a:srgbClr val="E87924"/>
                </a:solidFill>
                <a:latin typeface="Arial"/>
                <a:ea typeface="Arial"/>
                <a:cs typeface="Arial"/>
              </a:defRPr>
            </a:lvl4pPr>
            <a:lvl5pPr>
              <a:defRPr sz="2025" b="1">
                <a:solidFill>
                  <a:srgbClr val="E87924"/>
                </a:solidFill>
                <a:latin typeface="Arial"/>
                <a:ea typeface="Arial"/>
                <a:cs typeface="Arial"/>
              </a:defRPr>
            </a:lvl5pPr>
            <a:lvl6pPr>
              <a:defRPr sz="2025" b="1">
                <a:solidFill>
                  <a:srgbClr val="E87924"/>
                </a:solidFill>
                <a:latin typeface="Arial"/>
                <a:ea typeface="Arial"/>
                <a:cs typeface="Arial"/>
              </a:defRPr>
            </a:lvl6pPr>
            <a:lvl7pPr>
              <a:defRPr sz="2025" b="1">
                <a:solidFill>
                  <a:srgbClr val="E87924"/>
                </a:solidFill>
                <a:latin typeface="Arial"/>
                <a:ea typeface="Arial"/>
                <a:cs typeface="Arial"/>
              </a:defRPr>
            </a:lvl7pPr>
            <a:lvl8pPr>
              <a:defRPr sz="2025" b="1">
                <a:solidFill>
                  <a:srgbClr val="E87924"/>
                </a:solidFill>
                <a:latin typeface="Arial"/>
                <a:ea typeface="Arial"/>
                <a:cs typeface="Arial"/>
              </a:defRPr>
            </a:lvl8pPr>
            <a:lvl9pPr>
              <a:defRPr sz="2025" b="1">
                <a:solidFill>
                  <a:srgbClr val="E87924"/>
                </a:solidFill>
                <a:latin typeface="Arial"/>
                <a:ea typeface="Arial"/>
                <a:cs typeface="Arial"/>
              </a:defRPr>
            </a:lvl9pPr>
          </a:lstStyle>
          <a:p xmlns:a="http://schemas.openxmlformats.org/drawingml/2006/main">
            <a:pPr>
              <a:defRPr sz="2025" b="1">
                <a:solidFill>
                  <a:srgbClr val="E87924"/>
                </a:solidFill>
                <a:latin typeface="Arial"/>
                <a:ea typeface="Arial"/>
                <a:cs typeface="Arial"/>
              </a:defRPr>
            </a:pPr>
            <a:r>
              <a:rPr sz="2025" b="1">
                <a:solidFill>
                  <a:srgbClr val="E87924"/>
                </a:solidFill>
                <a:latin typeface="Arial"/>
                <a:ea typeface="Arial"/>
                <a:cs typeface="Arial"/>
              </a:rPr>
              <a:t>07</a:t>
            </a:r>
          </a:p>
        </p:txBody>
      </p:sp>
      <p:sp>
        <p:nvSpPr>
          <p:cNvPr id="16" name="">
            <a:extLst xmlns:a="http://schemas.openxmlformats.org/drawingml/2006/main">
              <a:ext uri="{FF2B5EF4-FFF2-40B4-BE49-F238E27FC236}">
                <a16:creationId xmlns:a16="http://schemas.microsoft.com/office/drawing/2014/main" id="{519FDCAB-4012-4021-BCE4-64162BF0E86E}"/>
              </a:ext>
            </a:extLst>
          </p:cNvPr>
          <p:cNvSpPr>
            <a:spLocks xmlns:a="http://schemas.openxmlformats.org/drawingml/2006/main" noGrp="1"/>
          </p:cNvSpPr>
          <p:nvPr/>
        </p:nvSpPr>
        <p:spPr>
          <a:xfrm xmlns:a="http://schemas.openxmlformats.org/drawingml/2006/main">
            <a:off x="7429500" y="3762375"/>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4535"/>
                </a:solidFill>
                <a:latin typeface="Arial"/>
                <a:ea typeface="Arial"/>
                <a:cs typeface="Arial"/>
              </a:defRPr>
            </a:defPPr>
            <a:lvl1pPr>
              <a:defRPr sz="2325" b="1">
                <a:solidFill>
                  <a:srgbClr val="174535"/>
                </a:solidFill>
                <a:latin typeface="Arial"/>
                <a:ea typeface="Arial"/>
                <a:cs typeface="Arial"/>
              </a:defRPr>
            </a:lvl1pPr>
            <a:lvl2pPr>
              <a:defRPr sz="2325" b="1">
                <a:solidFill>
                  <a:srgbClr val="174535"/>
                </a:solidFill>
                <a:latin typeface="Arial"/>
                <a:ea typeface="Arial"/>
                <a:cs typeface="Arial"/>
              </a:defRPr>
            </a:lvl2pPr>
            <a:lvl3pPr>
              <a:defRPr sz="2325" b="1">
                <a:solidFill>
                  <a:srgbClr val="174535"/>
                </a:solidFill>
                <a:latin typeface="Arial"/>
                <a:ea typeface="Arial"/>
                <a:cs typeface="Arial"/>
              </a:defRPr>
            </a:lvl3pPr>
            <a:lvl4pPr>
              <a:defRPr sz="2325" b="1">
                <a:solidFill>
                  <a:srgbClr val="174535"/>
                </a:solidFill>
                <a:latin typeface="Arial"/>
                <a:ea typeface="Arial"/>
                <a:cs typeface="Arial"/>
              </a:defRPr>
            </a:lvl4pPr>
            <a:lvl5pPr>
              <a:defRPr sz="2325" b="1">
                <a:solidFill>
                  <a:srgbClr val="174535"/>
                </a:solidFill>
                <a:latin typeface="Arial"/>
                <a:ea typeface="Arial"/>
                <a:cs typeface="Arial"/>
              </a:defRPr>
            </a:lvl5pPr>
            <a:lvl6pPr>
              <a:defRPr sz="2325" b="1">
                <a:solidFill>
                  <a:srgbClr val="174535"/>
                </a:solidFill>
                <a:latin typeface="Arial"/>
                <a:ea typeface="Arial"/>
                <a:cs typeface="Arial"/>
              </a:defRPr>
            </a:lvl6pPr>
            <a:lvl7pPr>
              <a:defRPr sz="2325" b="1">
                <a:solidFill>
                  <a:srgbClr val="174535"/>
                </a:solidFill>
                <a:latin typeface="Arial"/>
                <a:ea typeface="Arial"/>
                <a:cs typeface="Arial"/>
              </a:defRPr>
            </a:lvl7pPr>
            <a:lvl8pPr>
              <a:defRPr sz="2325" b="1">
                <a:solidFill>
                  <a:srgbClr val="174535"/>
                </a:solidFill>
                <a:latin typeface="Arial"/>
                <a:ea typeface="Arial"/>
                <a:cs typeface="Arial"/>
              </a:defRPr>
            </a:lvl8pPr>
            <a:lvl9pPr>
              <a:defRPr sz="2325" b="1">
                <a:solidFill>
                  <a:srgbClr val="174535"/>
                </a:solidFill>
                <a:latin typeface="Arial"/>
                <a:ea typeface="Arial"/>
                <a:cs typeface="Arial"/>
              </a:defRPr>
            </a:lvl9pPr>
          </a:lstStyle>
          <a:p xmlns:a="http://schemas.openxmlformats.org/drawingml/2006/main">
            <a:pPr>
              <a:defRPr sz="2325" b="1">
                <a:solidFill>
                  <a:srgbClr val="174535"/>
                </a:solidFill>
                <a:latin typeface="Arial"/>
                <a:ea typeface="Arial"/>
                <a:cs typeface="Arial"/>
              </a:defRPr>
            </a:pPr>
            <a:r>
              <a:rPr sz="2325" b="1">
                <a:solidFill>
                  <a:srgbClr val="174535"/>
                </a:solidFill>
                <a:latin typeface="Arial"/>
                <a:ea typeface="Arial"/>
                <a:cs typeface="Arial"/>
              </a:rPr>
              <a:t>Verification</a:t>
            </a:r>
          </a:p>
        </p:txBody>
      </p:sp>
    </p:spTree>
    <p:extLst>
      <p:ext uri="{BB962C8B-B14F-4D97-AF65-F5344CB8AC3E}">
        <p14:creationId xmlns:p14="http://schemas.microsoft.com/office/powerpoint/2010/main" val="1214235864"/>
      </p:ext>
    </p:extLst>
  </p:cSld>
</p:sld>
</file>

<file path=ppt/slides/slide8.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0551E6-F8B4-4DB7-9C7D-C75F91D8A23B}"/>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The agent loop</a:t>
            </a:r>
          </a:p>
        </p:txBody>
      </p:sp>
      <p:sp>
        <p:nvSpPr>
          <p:cNvPr id="2" name="">
            <a:extLst xmlns:a="http://schemas.openxmlformats.org/drawingml/2006/main">
              <a:ext uri="{FF2B5EF4-FFF2-40B4-BE49-F238E27FC236}">
                <a16:creationId xmlns:a16="http://schemas.microsoft.com/office/drawing/2014/main" id="{71467382-1925-4C18-9436-6094124A72AA}"/>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BFD78513-8B86-4CF5-9A7A-EF13F8546CFD}"/>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1   Request an action</a:t>
            </a:r>
          </a:p>
        </p:txBody>
      </p:sp>
      <p:sp>
        <p:nvSpPr>
          <p:cNvPr id="4" name="">
            <a:extLst xmlns:a="http://schemas.openxmlformats.org/drawingml/2006/main">
              <a:ext uri="{FF2B5EF4-FFF2-40B4-BE49-F238E27FC236}">
                <a16:creationId xmlns:a16="http://schemas.microsoft.com/office/drawing/2014/main" id="{3DDB37C3-7FB9-4BC9-9ECC-580805075AD3}"/>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Send the task, enabled project inputs and current observations.</a:t>
            </a:r>
          </a:p>
        </p:txBody>
      </p:sp>
      <p:sp>
        <p:nvSpPr>
          <p:cNvPr id="5" name="">
            <a:extLst xmlns:a="http://schemas.openxmlformats.org/drawingml/2006/main">
              <a:ext uri="{FF2B5EF4-FFF2-40B4-BE49-F238E27FC236}">
                <a16:creationId xmlns:a16="http://schemas.microsoft.com/office/drawing/2014/main" id="{F4095920-48C8-44F2-9214-EF9426D76159}"/>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2   Execute and observe</a:t>
            </a:r>
          </a:p>
        </p:txBody>
      </p:sp>
      <p:sp>
        <p:nvSpPr>
          <p:cNvPr id="6" name="">
            <a:extLst xmlns:a="http://schemas.openxmlformats.org/drawingml/2006/main">
              <a:ext uri="{FF2B5EF4-FFF2-40B4-BE49-F238E27FC236}">
                <a16:creationId xmlns:a16="http://schemas.microsoft.com/office/drawing/2014/main" id="{0871B4C9-F9A4-41CE-A73A-F65942EAA712}"/>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Validate the tool call, run it and return the measured result.</a:t>
            </a:r>
          </a:p>
        </p:txBody>
      </p:sp>
      <p:sp>
        <p:nvSpPr>
          <p:cNvPr id="7" name="">
            <a:extLst xmlns:a="http://schemas.openxmlformats.org/drawingml/2006/main">
              <a:ext uri="{FF2B5EF4-FFF2-40B4-BE49-F238E27FC236}">
                <a16:creationId xmlns:a16="http://schemas.microsoft.com/office/drawing/2014/main" id="{6045AC80-6F96-44B8-8217-C380619BB998}"/>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3   Continue or stop</a:t>
            </a:r>
          </a:p>
        </p:txBody>
      </p:sp>
      <p:sp>
        <p:nvSpPr>
          <p:cNvPr id="8" name="">
            <a:extLst xmlns:a="http://schemas.openxmlformats.org/drawingml/2006/main">
              <a:ext uri="{FF2B5EF4-FFF2-40B4-BE49-F238E27FC236}">
                <a16:creationId xmlns:a16="http://schemas.microsoft.com/office/drawing/2014/main" id="{3117E37E-8DEA-4B52-A310-A613C0D56F89}"/>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Repeat until completion, a budget, a failure or a human interruption.</a:t>
            </a:r>
          </a:p>
        </p:txBody>
      </p:sp>
    </p:spTree>
    <p:extLst>
      <p:ext uri="{BB962C8B-B14F-4D97-AF65-F5344CB8AC3E}">
        <p14:creationId xmlns:p14="http://schemas.microsoft.com/office/powerpoint/2010/main" val="901570221"/>
      </p:ext>
    </p:extLst>
  </p:cSld>
</p:sld>
</file>

<file path=ppt/slides/slide9.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37D5CC-E1EC-4432-B664-A0135CA1BF59}"/>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Tools &amp; sandbox</a:t>
            </a:r>
          </a:p>
        </p:txBody>
      </p:sp>
      <p:sp>
        <p:nvSpPr>
          <p:cNvPr id="2" name="">
            <a:extLst xmlns:a="http://schemas.openxmlformats.org/drawingml/2006/main">
              <a:ext uri="{FF2B5EF4-FFF2-40B4-BE49-F238E27FC236}">
                <a16:creationId xmlns:a16="http://schemas.microsoft.com/office/drawing/2014/main" id="{54FF9476-0B77-4603-BEC8-29EFF5EE9882}"/>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625FB6C8-3942-4665-87B9-580B84FA114F}"/>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Tools make actions possible</a:t>
            </a:r>
          </a:p>
        </p:txBody>
      </p:sp>
      <p:sp>
        <p:nvSpPr>
          <p:cNvPr id="4" name="">
            <a:extLst xmlns:a="http://schemas.openxmlformats.org/drawingml/2006/main">
              <a:ext uri="{FF2B5EF4-FFF2-40B4-BE49-F238E27FC236}">
                <a16:creationId xmlns:a16="http://schemas.microsoft.com/office/drawing/2014/main" id="{C198A89A-FBA6-4C50-9EB6-9257A78E8A7A}"/>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Files, browser operations and readable results</a:t>
            </a:r>
          </a:p>
        </p:txBody>
      </p:sp>
      <p:sp>
        <p:nvSpPr>
          <p:cNvPr id="5" name="">
            <a:extLst xmlns:a="http://schemas.openxmlformats.org/drawingml/2006/main">
              <a:ext uri="{FF2B5EF4-FFF2-40B4-BE49-F238E27FC236}">
                <a16:creationId xmlns:a16="http://schemas.microsoft.com/office/drawing/2014/main" id="{98F04D31-0374-46C7-997B-72DB561B4B9E}"/>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Tool design affects the next decision</a:t>
            </a:r>
          </a:p>
        </p:txBody>
      </p:sp>
      <p:sp>
        <p:nvSpPr>
          <p:cNvPr id="6" name="">
            <a:extLst xmlns:a="http://schemas.openxmlformats.org/drawingml/2006/main">
              <a:ext uri="{FF2B5EF4-FFF2-40B4-BE49-F238E27FC236}">
                <a16:creationId xmlns:a16="http://schemas.microsoft.com/office/drawing/2014/main" id="{E4012F9F-A02A-4B4F-98A7-A2D0D268A50A}"/>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Clear schemas, narrow operations and useful errors</a:t>
            </a:r>
          </a:p>
        </p:txBody>
      </p:sp>
      <p:sp>
        <p:nvSpPr>
          <p:cNvPr id="7" name="">
            <a:extLst xmlns:a="http://schemas.openxmlformats.org/drawingml/2006/main">
              <a:ext uri="{FF2B5EF4-FFF2-40B4-BE49-F238E27FC236}">
                <a16:creationId xmlns:a16="http://schemas.microsoft.com/office/drawing/2014/main" id="{6349C00A-F2AA-472F-829E-CAC544454514}"/>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The sandbox limits the action</a:t>
            </a:r>
          </a:p>
        </p:txBody>
      </p:sp>
      <p:sp>
        <p:nvSpPr>
          <p:cNvPr id="8" name="">
            <a:extLst xmlns:a="http://schemas.openxmlformats.org/drawingml/2006/main">
              <a:ext uri="{FF2B5EF4-FFF2-40B4-BE49-F238E27FC236}">
                <a16:creationId xmlns:a16="http://schemas.microsoft.com/office/drawing/2014/main" id="{AC2A3F8C-E19C-45D7-BEED-17728A827147}"/>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Allowed paths, isolated copies and controlled browser access</a:t>
            </a:r>
          </a:p>
        </p:txBody>
      </p:sp>
    </p:spTree>
    <p:extLst>
      <p:ext uri="{BB962C8B-B14F-4D97-AF65-F5344CB8AC3E}">
        <p14:creationId xmlns:p14="http://schemas.microsoft.com/office/powerpoint/2010/main" val="5483259"/>
      </p:ext>
    </p:extLst>
  </p:cSld>
</p:sld>
</file>

<file path=ppt/slides/slide10.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5CA001C-059B-4F77-AB62-11E9CC4A34BC}"/>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Instructions &amp; policies and context</a:t>
            </a:r>
          </a:p>
        </p:txBody>
      </p:sp>
      <p:sp>
        <p:nvSpPr>
          <p:cNvPr id="2" name="">
            <a:extLst xmlns:a="http://schemas.openxmlformats.org/drawingml/2006/main">
              <a:ext uri="{FF2B5EF4-FFF2-40B4-BE49-F238E27FC236}">
                <a16:creationId xmlns:a16="http://schemas.microsoft.com/office/drawing/2014/main" id="{B164A96C-09E0-4C6D-96E2-D3D74AA8E059}"/>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2D331FF8-05F7-4FE7-AC67-496956725963}"/>
              </a:ext>
            </a:extLst>
          </p:cNvPr>
          <p:cNvSpPr>
            <a:spLocks xmlns:a="http://schemas.openxmlformats.org/drawingml/2006/main" noGrp="1"/>
          </p:cNvSpPr>
          <p:nvPr/>
        </p:nvSpPr>
        <p:spPr>
          <a:xfrm xmlns:a="http://schemas.openxmlformats.org/drawingml/2006/main">
            <a:off x="666750" y="180975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4B91"/>
                </a:solidFill>
                <a:latin typeface="Arial"/>
                <a:ea typeface="Arial"/>
                <a:cs typeface="Arial"/>
              </a:defRPr>
            </a:defPPr>
            <a:lvl1pPr>
              <a:defRPr sz="2400" b="1">
                <a:solidFill>
                  <a:srgbClr val="174B91"/>
                </a:solidFill>
                <a:latin typeface="Arial"/>
                <a:ea typeface="Arial"/>
                <a:cs typeface="Arial"/>
              </a:defRPr>
            </a:lvl1pPr>
            <a:lvl2pPr>
              <a:defRPr sz="2400" b="1">
                <a:solidFill>
                  <a:srgbClr val="174B91"/>
                </a:solidFill>
                <a:latin typeface="Arial"/>
                <a:ea typeface="Arial"/>
                <a:cs typeface="Arial"/>
              </a:defRPr>
            </a:lvl2pPr>
            <a:lvl3pPr>
              <a:defRPr sz="2400" b="1">
                <a:solidFill>
                  <a:srgbClr val="174B91"/>
                </a:solidFill>
                <a:latin typeface="Arial"/>
                <a:ea typeface="Arial"/>
                <a:cs typeface="Arial"/>
              </a:defRPr>
            </a:lvl3pPr>
            <a:lvl4pPr>
              <a:defRPr sz="2400" b="1">
                <a:solidFill>
                  <a:srgbClr val="174B91"/>
                </a:solidFill>
                <a:latin typeface="Arial"/>
                <a:ea typeface="Arial"/>
                <a:cs typeface="Arial"/>
              </a:defRPr>
            </a:lvl4pPr>
            <a:lvl5pPr>
              <a:defRPr sz="2400" b="1">
                <a:solidFill>
                  <a:srgbClr val="174B91"/>
                </a:solidFill>
                <a:latin typeface="Arial"/>
                <a:ea typeface="Arial"/>
                <a:cs typeface="Arial"/>
              </a:defRPr>
            </a:lvl5pPr>
            <a:lvl6pPr>
              <a:defRPr sz="2400" b="1">
                <a:solidFill>
                  <a:srgbClr val="174B91"/>
                </a:solidFill>
                <a:latin typeface="Arial"/>
                <a:ea typeface="Arial"/>
                <a:cs typeface="Arial"/>
              </a:defRPr>
            </a:lvl6pPr>
            <a:lvl7pPr>
              <a:defRPr sz="2400" b="1">
                <a:solidFill>
                  <a:srgbClr val="174B91"/>
                </a:solidFill>
                <a:latin typeface="Arial"/>
                <a:ea typeface="Arial"/>
                <a:cs typeface="Arial"/>
              </a:defRPr>
            </a:lvl7pPr>
            <a:lvl8pPr>
              <a:defRPr sz="2400" b="1">
                <a:solidFill>
                  <a:srgbClr val="174B91"/>
                </a:solidFill>
                <a:latin typeface="Arial"/>
                <a:ea typeface="Arial"/>
                <a:cs typeface="Arial"/>
              </a:defRPr>
            </a:lvl8pPr>
            <a:lvl9pPr>
              <a:defRPr sz="2400" b="1">
                <a:solidFill>
                  <a:srgbClr val="174B91"/>
                </a:solidFill>
                <a:latin typeface="Arial"/>
                <a:ea typeface="Arial"/>
                <a:cs typeface="Arial"/>
              </a:defRPr>
            </a:lvl9pPr>
          </a:lstStyle>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Instructions &amp; policies</a:t>
            </a:r>
          </a:p>
        </p:txBody>
      </p:sp>
      <p:sp>
        <p:nvSpPr>
          <p:cNvPr id="4" name="">
            <a:extLst xmlns:a="http://schemas.openxmlformats.org/drawingml/2006/main">
              <a:ext uri="{FF2B5EF4-FFF2-40B4-BE49-F238E27FC236}">
                <a16:creationId xmlns:a16="http://schemas.microsoft.com/office/drawing/2014/main" id="{30414554-A5B3-452F-99DE-650E13B43FD8}"/>
              </a:ext>
            </a:extLst>
          </p:cNvPr>
          <p:cNvSpPr>
            <a:spLocks xmlns:a="http://schemas.openxmlformats.org/drawingml/2006/main" noGrp="1"/>
          </p:cNvSpPr>
          <p:nvPr/>
        </p:nvSpPr>
        <p:spPr>
          <a:xfrm xmlns:a="http://schemas.openxmlformats.org/drawingml/2006/main">
            <a:off x="666750" y="23812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How to do the work</a:t>
            </a:r>
          </a:p>
        </p:txBody>
      </p:sp>
      <p:sp>
        <p:nvSpPr>
          <p:cNvPr id="5" name="">
            <a:extLst xmlns:a="http://schemas.openxmlformats.org/drawingml/2006/main">
              <a:ext uri="{FF2B5EF4-FFF2-40B4-BE49-F238E27FC236}">
                <a16:creationId xmlns:a16="http://schemas.microsoft.com/office/drawing/2014/main" id="{5E6E174B-97FC-4E21-85B9-934DD2F2FBEE}"/>
              </a:ext>
            </a:extLst>
          </p:cNvPr>
          <p:cNvSpPr>
            <a:spLocks xmlns:a="http://schemas.openxmlformats.org/drawingml/2006/main" noGrp="1"/>
          </p:cNvSpPr>
          <p:nvPr/>
        </p:nvSpPr>
        <p:spPr>
          <a:xfrm xmlns:a="http://schemas.openxmlformats.org/drawingml/2006/main">
            <a:off x="666750" y="3095625"/>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Preserve existing notes.</a:t>
            </a:r>
          </a:p>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Keep user text literal.</a:t>
            </a:r>
          </a:p>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Use the storage module.</a:t>
            </a:r>
          </a:p>
        </p:txBody>
      </p:sp>
      <p:sp>
        <p:nvSpPr>
          <p:cNvPr id="6" name="">
            <a:extLst xmlns:a="http://schemas.openxmlformats.org/drawingml/2006/main">
              <a:ext uri="{FF2B5EF4-FFF2-40B4-BE49-F238E27FC236}">
                <a16:creationId xmlns:a16="http://schemas.microsoft.com/office/drawing/2014/main" id="{2191FC9E-4EBB-4045-9C12-ACE61B9A229D}"/>
              </a:ext>
            </a:extLst>
          </p:cNvPr>
          <p:cNvSpPr>
            <a:spLocks xmlns:a="http://schemas.openxmlformats.org/drawingml/2006/main" noGrp="1"/>
          </p:cNvSpPr>
          <p:nvPr/>
        </p:nvSpPr>
        <p:spPr>
          <a:xfrm xmlns:a="http://schemas.openxmlformats.org/drawingml/2006/main">
            <a:off x="6477000" y="1809750"/>
            <a:ext cx="504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4B91"/>
                </a:solidFill>
                <a:latin typeface="Arial"/>
                <a:ea typeface="Arial"/>
                <a:cs typeface="Arial"/>
              </a:defRPr>
            </a:defPPr>
            <a:lvl1pPr>
              <a:defRPr sz="2400" b="1">
                <a:solidFill>
                  <a:srgbClr val="174B91"/>
                </a:solidFill>
                <a:latin typeface="Arial"/>
                <a:ea typeface="Arial"/>
                <a:cs typeface="Arial"/>
              </a:defRPr>
            </a:lvl1pPr>
            <a:lvl2pPr>
              <a:defRPr sz="2400" b="1">
                <a:solidFill>
                  <a:srgbClr val="174B91"/>
                </a:solidFill>
                <a:latin typeface="Arial"/>
                <a:ea typeface="Arial"/>
                <a:cs typeface="Arial"/>
              </a:defRPr>
            </a:lvl2pPr>
            <a:lvl3pPr>
              <a:defRPr sz="2400" b="1">
                <a:solidFill>
                  <a:srgbClr val="174B91"/>
                </a:solidFill>
                <a:latin typeface="Arial"/>
                <a:ea typeface="Arial"/>
                <a:cs typeface="Arial"/>
              </a:defRPr>
            </a:lvl3pPr>
            <a:lvl4pPr>
              <a:defRPr sz="2400" b="1">
                <a:solidFill>
                  <a:srgbClr val="174B91"/>
                </a:solidFill>
                <a:latin typeface="Arial"/>
                <a:ea typeface="Arial"/>
                <a:cs typeface="Arial"/>
              </a:defRPr>
            </a:lvl4pPr>
            <a:lvl5pPr>
              <a:defRPr sz="2400" b="1">
                <a:solidFill>
                  <a:srgbClr val="174B91"/>
                </a:solidFill>
                <a:latin typeface="Arial"/>
                <a:ea typeface="Arial"/>
                <a:cs typeface="Arial"/>
              </a:defRPr>
            </a:lvl5pPr>
            <a:lvl6pPr>
              <a:defRPr sz="2400" b="1">
                <a:solidFill>
                  <a:srgbClr val="174B91"/>
                </a:solidFill>
                <a:latin typeface="Arial"/>
                <a:ea typeface="Arial"/>
                <a:cs typeface="Arial"/>
              </a:defRPr>
            </a:lvl6pPr>
            <a:lvl7pPr>
              <a:defRPr sz="2400" b="1">
                <a:solidFill>
                  <a:srgbClr val="174B91"/>
                </a:solidFill>
                <a:latin typeface="Arial"/>
                <a:ea typeface="Arial"/>
                <a:cs typeface="Arial"/>
              </a:defRPr>
            </a:lvl7pPr>
            <a:lvl8pPr>
              <a:defRPr sz="2400" b="1">
                <a:solidFill>
                  <a:srgbClr val="174B91"/>
                </a:solidFill>
                <a:latin typeface="Arial"/>
                <a:ea typeface="Arial"/>
                <a:cs typeface="Arial"/>
              </a:defRPr>
            </a:lvl8pPr>
            <a:lvl9pPr>
              <a:defRPr sz="2400" b="1">
                <a:solidFill>
                  <a:srgbClr val="174B91"/>
                </a:solidFill>
                <a:latin typeface="Arial"/>
                <a:ea typeface="Arial"/>
                <a:cs typeface="Arial"/>
              </a:defRPr>
            </a:lvl9pPr>
          </a:lstStyle>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Context management</a:t>
            </a:r>
          </a:p>
        </p:txBody>
      </p:sp>
      <p:sp>
        <p:nvSpPr>
          <p:cNvPr id="7" name="">
            <a:extLst xmlns:a="http://schemas.openxmlformats.org/drawingml/2006/main">
              <a:ext uri="{FF2B5EF4-FFF2-40B4-BE49-F238E27FC236}">
                <a16:creationId xmlns:a16="http://schemas.microsoft.com/office/drawing/2014/main" id="{E9EB0945-9566-4464-8496-97E2883C7437}"/>
              </a:ext>
            </a:extLst>
          </p:cNvPr>
          <p:cNvSpPr>
            <a:spLocks xmlns:a="http://schemas.openxmlformats.org/drawingml/2006/main" noGrp="1"/>
          </p:cNvSpPr>
          <p:nvPr/>
        </p:nvSpPr>
        <p:spPr>
          <a:xfrm xmlns:a="http://schemas.openxmlformats.org/drawingml/2006/main">
            <a:off x="6477000" y="238125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Information for this task</a:t>
            </a:r>
          </a:p>
        </p:txBody>
      </p:sp>
      <p:sp>
        <p:nvSpPr>
          <p:cNvPr id="8" name="">
            <a:extLst xmlns:a="http://schemas.openxmlformats.org/drawingml/2006/main">
              <a:ext uri="{FF2B5EF4-FFF2-40B4-BE49-F238E27FC236}">
                <a16:creationId xmlns:a16="http://schemas.microsoft.com/office/drawing/2014/main" id="{04CB2E28-C463-454F-A155-2E0DFAB7246C}"/>
              </a:ext>
            </a:extLst>
          </p:cNvPr>
          <p:cNvSpPr>
            <a:spLocks xmlns:a="http://schemas.openxmlformats.org/drawingml/2006/main" noGrp="1"/>
          </p:cNvSpPr>
          <p:nvPr/>
        </p:nvSpPr>
        <p:spPr>
          <a:xfrm xmlns:a="http://schemas.openxmlformats.org/drawingml/2006/main">
            <a:off x="6477000" y="3095625"/>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storage.js handles persistence.</a:t>
            </a:r>
          </a:p>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app.js handles interactions.</a:t>
            </a:r>
          </a:p>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This is the current source revision.</a:t>
            </a:r>
          </a:p>
        </p:txBody>
      </p:sp>
      <p:sp>
        <p:nvSpPr>
          <p:cNvPr id="9" name="">
            <a:extLst xmlns:a="http://schemas.openxmlformats.org/drawingml/2006/main">
              <a:ext uri="{FF2B5EF4-FFF2-40B4-BE49-F238E27FC236}">
                <a16:creationId xmlns:a16="http://schemas.microsoft.com/office/drawing/2014/main" id="{D93C3588-63C0-40A1-80E7-03466784EF96}"/>
              </a:ext>
            </a:extLst>
          </p:cNvPr>
          <p:cNvSpPr>
            <a:spLocks xmlns:a="http://schemas.openxmlformats.org/drawingml/2006/main" noGrp="1"/>
          </p:cNvSpPr>
          <p:nvPr/>
        </p:nvSpPr>
        <p:spPr>
          <a:xfrm xmlns:a="http://schemas.openxmlformats.org/drawingml/2006/main">
            <a:off x="666750" y="55245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E87924"/>
                </a:solidFill>
                <a:latin typeface="Arial"/>
                <a:ea typeface="Arial"/>
                <a:cs typeface="Arial"/>
              </a:defRPr>
            </a:defPPr>
            <a:lvl1pPr>
              <a:defRPr sz="2100" b="1">
                <a:solidFill>
                  <a:srgbClr val="E87924"/>
                </a:solidFill>
                <a:latin typeface="Arial"/>
                <a:ea typeface="Arial"/>
                <a:cs typeface="Arial"/>
              </a:defRPr>
            </a:lvl1pPr>
            <a:lvl2pPr>
              <a:defRPr sz="2100" b="1">
                <a:solidFill>
                  <a:srgbClr val="E87924"/>
                </a:solidFill>
                <a:latin typeface="Arial"/>
                <a:ea typeface="Arial"/>
                <a:cs typeface="Arial"/>
              </a:defRPr>
            </a:lvl2pPr>
            <a:lvl3pPr>
              <a:defRPr sz="2100" b="1">
                <a:solidFill>
                  <a:srgbClr val="E87924"/>
                </a:solidFill>
                <a:latin typeface="Arial"/>
                <a:ea typeface="Arial"/>
                <a:cs typeface="Arial"/>
              </a:defRPr>
            </a:lvl3pPr>
            <a:lvl4pPr>
              <a:defRPr sz="2100" b="1">
                <a:solidFill>
                  <a:srgbClr val="E87924"/>
                </a:solidFill>
                <a:latin typeface="Arial"/>
                <a:ea typeface="Arial"/>
                <a:cs typeface="Arial"/>
              </a:defRPr>
            </a:lvl4pPr>
            <a:lvl5pPr>
              <a:defRPr sz="2100" b="1">
                <a:solidFill>
                  <a:srgbClr val="E87924"/>
                </a:solidFill>
                <a:latin typeface="Arial"/>
                <a:ea typeface="Arial"/>
                <a:cs typeface="Arial"/>
              </a:defRPr>
            </a:lvl5pPr>
            <a:lvl6pPr>
              <a:defRPr sz="2100" b="1">
                <a:solidFill>
                  <a:srgbClr val="E87924"/>
                </a:solidFill>
                <a:latin typeface="Arial"/>
                <a:ea typeface="Arial"/>
                <a:cs typeface="Arial"/>
              </a:defRPr>
            </a:lvl6pPr>
            <a:lvl7pPr>
              <a:defRPr sz="2100" b="1">
                <a:solidFill>
                  <a:srgbClr val="E87924"/>
                </a:solidFill>
                <a:latin typeface="Arial"/>
                <a:ea typeface="Arial"/>
                <a:cs typeface="Arial"/>
              </a:defRPr>
            </a:lvl7pPr>
            <a:lvl8pPr>
              <a:defRPr sz="2100" b="1">
                <a:solidFill>
                  <a:srgbClr val="E87924"/>
                </a:solidFill>
                <a:latin typeface="Arial"/>
                <a:ea typeface="Arial"/>
                <a:cs typeface="Arial"/>
              </a:defRPr>
            </a:lvl8pPr>
            <a:lvl9pPr>
              <a:defRPr sz="2100" b="1">
                <a:solidFill>
                  <a:srgbClr val="E87924"/>
                </a:solidFill>
                <a:latin typeface="Arial"/>
                <a:ea typeface="Arial"/>
                <a:cs typeface="Arial"/>
              </a:defRPr>
            </a:lvl9pPr>
          </a:lstStyle>
          <a:p xmlns:a="http://schemas.openxmlformats.org/drawingml/2006/main">
            <a:pPr>
              <a:defRPr sz="2100" b="1">
                <a:solidFill>
                  <a:srgbClr val="E87924"/>
                </a:solidFill>
                <a:latin typeface="Arial"/>
                <a:ea typeface="Arial"/>
                <a:cs typeface="Arial"/>
              </a:defRPr>
            </a:pPr>
            <a:r>
              <a:rPr sz="2100" b="1">
                <a:solidFill>
                  <a:srgbClr val="E87924"/>
                </a:solidFill>
                <a:latin typeface="Arial"/>
                <a:ea typeface="Arial"/>
                <a:cs typeface="Arial"/>
              </a:rPr>
              <a:t>Supplying a rule does not prove the model followed it.</a:t>
            </a:r>
          </a:p>
        </p:txBody>
      </p:sp>
    </p:spTree>
    <p:extLst>
      <p:ext uri="{BB962C8B-B14F-4D97-AF65-F5344CB8AC3E}">
        <p14:creationId xmlns:p14="http://schemas.microsoft.com/office/powerpoint/2010/main" val="1088964073"/>
      </p:ext>
    </p:extLst>
  </p:cSld>
</p:sld>
</file>

<file path=ppt/slides/slide11.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9CADE8-1E16-4F05-B88F-8D570DD83F5F}"/>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Context beyond a project map</a:t>
            </a:r>
          </a:p>
        </p:txBody>
      </p:sp>
      <p:sp>
        <p:nvSpPr>
          <p:cNvPr id="2" name="">
            <a:extLst xmlns:a="http://schemas.openxmlformats.org/drawingml/2006/main">
              <a:ext uri="{FF2B5EF4-FFF2-40B4-BE49-F238E27FC236}">
                <a16:creationId xmlns:a16="http://schemas.microsoft.com/office/drawing/2014/main" id="{BA9BE870-4318-495F-861D-9A6E797C1829}"/>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D88D9DC7-7E0C-4F2B-BB37-94C8BE867C40}"/>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Load relevant information when needed</a:t>
            </a:r>
          </a:p>
        </p:txBody>
      </p:sp>
      <p:sp>
        <p:nvSpPr>
          <p:cNvPr id="4" name="">
            <a:extLst xmlns:a="http://schemas.openxmlformats.org/drawingml/2006/main">
              <a:ext uri="{FF2B5EF4-FFF2-40B4-BE49-F238E27FC236}">
                <a16:creationId xmlns:a16="http://schemas.microsoft.com/office/drawing/2014/main" id="{BBB4C1A6-BEA6-4327-BA47-F7A43362C5AC}"/>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Retrieve the file or document for the current decision.</a:t>
            </a:r>
          </a:p>
        </p:txBody>
      </p:sp>
      <p:sp>
        <p:nvSpPr>
          <p:cNvPr id="5" name="">
            <a:extLst xmlns:a="http://schemas.openxmlformats.org/drawingml/2006/main">
              <a:ext uri="{FF2B5EF4-FFF2-40B4-BE49-F238E27FC236}">
                <a16:creationId xmlns:a16="http://schemas.microsoft.com/office/drawing/2014/main" id="{C75A8F6A-6219-46CC-901F-BB94E1F38837}"/>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Keep large outputs outside the prompt</a:t>
            </a:r>
          </a:p>
        </p:txBody>
      </p:sp>
      <p:sp>
        <p:nvSpPr>
          <p:cNvPr id="6" name="">
            <a:extLst xmlns:a="http://schemas.openxmlformats.org/drawingml/2006/main">
              <a:ext uri="{FF2B5EF4-FFF2-40B4-BE49-F238E27FC236}">
                <a16:creationId xmlns:a16="http://schemas.microsoft.com/office/drawing/2014/main" id="{9F261F29-0F5F-4875-BD3D-75C623E64A1A}"/>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Store artifacts and provide a useful summary or reference.</a:t>
            </a:r>
          </a:p>
        </p:txBody>
      </p:sp>
      <p:sp>
        <p:nvSpPr>
          <p:cNvPr id="7" name="">
            <a:extLst xmlns:a="http://schemas.openxmlformats.org/drawingml/2006/main">
              <a:ext uri="{FF2B5EF4-FFF2-40B4-BE49-F238E27FC236}">
                <a16:creationId xmlns:a16="http://schemas.microsoft.com/office/drawing/2014/main" id="{B04503CD-BF90-492A-B68B-5E881EB3F678}"/>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Manage long conversations</a:t>
            </a:r>
          </a:p>
        </p:txBody>
      </p:sp>
      <p:sp>
        <p:nvSpPr>
          <p:cNvPr id="8" name="">
            <a:extLst xmlns:a="http://schemas.openxmlformats.org/drawingml/2006/main">
              <a:ext uri="{FF2B5EF4-FFF2-40B4-BE49-F238E27FC236}">
                <a16:creationId xmlns:a16="http://schemas.microsoft.com/office/drawing/2014/main" id="{5E2DB393-462A-46BB-BCEF-3EDC90E9CB49}"/>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Compact carefully and preserve evidence needed for the next step.</a:t>
            </a:r>
          </a:p>
        </p:txBody>
      </p:sp>
    </p:spTree>
    <p:extLst>
      <p:ext uri="{BB962C8B-B14F-4D97-AF65-F5344CB8AC3E}">
        <p14:creationId xmlns:p14="http://schemas.microsoft.com/office/powerpoint/2010/main" val="988362228"/>
      </p:ext>
    </p:extLst>
  </p:cSld>
</p:sld>
</file>

<file path=ppt/slides/slide12.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6E1A5BD-B845-4DB6-AC31-6937F1DCDD50}"/>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Memory &amp; state</a:t>
            </a:r>
          </a:p>
        </p:txBody>
      </p:sp>
      <p:sp>
        <p:nvSpPr>
          <p:cNvPr id="2" name="">
            <a:extLst xmlns:a="http://schemas.openxmlformats.org/drawingml/2006/main">
              <a:ext uri="{FF2B5EF4-FFF2-40B4-BE49-F238E27FC236}">
                <a16:creationId xmlns:a16="http://schemas.microsoft.com/office/drawing/2014/main" id="{64F3CC82-F7BA-4E07-A99E-720CE34C029D}"/>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12</a:t>
            </a:r>
          </a:p>
        </p:txBody>
      </p:sp>
      <p:graphicFrame>
        <p:nvGraphicFramePr>
          <p:cNvPr id="3" name="">
            <a:extLst xmlns:a="http://schemas.openxmlformats.org/drawingml/2006/main">
              <a:ext uri="{FF2B5EF4-FFF2-40B4-BE49-F238E27FC236}">
                <a16:creationId xmlns:a16="http://schemas.microsoft.com/office/drawing/2014/main" id="{5AD6E42A-708F-4C71-AA3F-5F2B7EBE7559}"/>
              </a:ext>
            </a:extLst>
          </p:cNvPr>
          <p:cNvGraphicFramePr/>
          <p:nvPr/>
        </p:nvGraphicFramePr>
        <p:xfrm>
          <a:off xmlns:a="http://schemas.openxmlformats.org/drawingml/2006/main" x="619125" y="1733550"/>
          <a:ext xmlns:a="http://schemas.openxmlformats.org/drawingml/2006/main" cx="10953750" cy="3143250"/>
        </p:xfrm>
        <a:graphic xmlns:a="http://schemas.openxmlformats.org/drawingml/2006/main">
          <a:graphicData uri="http://schemas.openxmlformats.org/drawingml/2006/table">
            <a:tbl>
              <a:tblPr/>
              <a:tblGrid>
                <a:gridCol w="5810250"/>
                <a:gridCol w="2571750"/>
                <a:gridCol w="2571750"/>
              </a:tblGrid>
              <a:tr h="785813">
                <a:tc>
                  <a:txBody>
                    <a:bodyPr/>
                    <a:lstStyle/>
                    <a:p>
                      <a:r>
                        <a:rPr sz="1875" b="1">
                          <a:solidFill>
                            <a:srgbClr val="FFFFFF"/>
                          </a:solidFill>
                          <a:latin typeface="Arial"/>
                          <a:ea typeface="Arial"/>
                          <a:cs typeface="Arial"/>
                        </a:rPr>
                        <a:t>State</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Minimal</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Engineered</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785813">
                <a:tc>
                  <a:txBody>
                    <a:bodyPr/>
                    <a:lstStyle/>
                    <a:p>
                      <a:r>
                        <a:rPr sz="1875" b="0">
                          <a:solidFill>
                            <a:srgbClr val="174535"/>
                          </a:solidFill>
                          <a:latin typeface="Arial"/>
                          <a:ea typeface="Arial"/>
                          <a:cs typeface="Arial"/>
                        </a:rPr>
                        <a:t>Working files</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Remain</a:t>
                      </a:r>
                    </a:p>
                  </a:txBody>
                  <a:tcPr marL="91440" marR="91440" marT="45720" marB="45720">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Remain</a:t>
                      </a:r>
                    </a:p>
                  </a:txBody>
                  <a:tcPr marL="91440" marR="91440" marT="45720" marB="45720">
                    <a:lnR w="9525">
                      <a:solidFill>
                        <a:srgbClr val="D4DDD5"/>
                      </a:solidFill>
                    </a:lnR>
                    <a:lnB w="9525">
                      <a:solidFill>
                        <a:srgbClr val="D4DDD5"/>
                      </a:solidFill>
                    </a:lnB>
                    <a:solidFill>
                      <a:srgbClr val="FFFFFF"/>
                    </a:solidFill>
                  </a:tcPr>
                </a:tc>
              </a:tr>
              <a:tr h="785813">
                <a:tc>
                  <a:txBody>
                    <a:bodyPr/>
                    <a:lstStyle/>
                    <a:p>
                      <a:r>
                        <a:rPr sz="1875" b="0">
                          <a:solidFill>
                            <a:srgbClr val="174535"/>
                          </a:solidFill>
                          <a:latin typeface="Arial"/>
                          <a:ea typeface="Arial"/>
                          <a:cs typeface="Arial"/>
                        </a:rPr>
                        <a:t>Previous API conversation in a new session</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Cleared</a:t>
                      </a:r>
                    </a:p>
                  </a:txBody>
                  <a:tcPr marL="91440" marR="91440" marT="45720" marB="45720">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Cleared</a:t>
                      </a:r>
                    </a:p>
                  </a:txBody>
                  <a:tcPr marL="91440" marR="91440" marT="45720" marB="45720">
                    <a:lnR w="9525">
                      <a:solidFill>
                        <a:srgbClr val="D4DDD5"/>
                      </a:solidFill>
                    </a:lnR>
                    <a:lnB w="9525">
                      <a:solidFill>
                        <a:srgbClr val="D4DDD5"/>
                      </a:solidFill>
                    </a:lnB>
                    <a:solidFill>
                      <a:srgbClr val="EEF2EA"/>
                    </a:solidFill>
                  </a:tcPr>
                </a:tc>
              </a:tr>
              <a:tr h="785813">
                <a:tc>
                  <a:txBody>
                    <a:bodyPr/>
                    <a:lstStyle/>
                    <a:p>
                      <a:r>
                        <a:rPr sz="1875" b="0">
                          <a:solidFill>
                            <a:srgbClr val="174535"/>
                          </a:solidFill>
                          <a:latin typeface="Arial"/>
                          <a:ea typeface="Arial"/>
                          <a:cs typeface="Arial"/>
                        </a:rPr>
                        <a:t>Saved progress supplied to the new session</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Off</a:t>
                      </a:r>
                    </a:p>
                  </a:txBody>
                  <a:tcPr marL="91440" marR="91440" marT="45720" marB="45720">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Enabled</a:t>
                      </a:r>
                    </a:p>
                  </a:txBody>
                  <a:tcPr marL="91440" marR="91440" marT="45720" marB="45720">
                    <a:lnR w="9525">
                      <a:solidFill>
                        <a:srgbClr val="D4DDD5"/>
                      </a:solidFill>
                    </a:lnR>
                    <a:lnB w="9525">
                      <a:solidFill>
                        <a:srgbClr val="D4DDD5"/>
                      </a:solidFill>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398AA2DE-C10D-4248-B239-721784642DBA}"/>
              </a:ext>
            </a:extLst>
          </p:cNvPr>
          <p:cNvSpPr>
            <a:spLocks xmlns:a="http://schemas.openxmlformats.org/drawingml/2006/main" noGrp="1"/>
          </p:cNvSpPr>
          <p:nvPr/>
        </p:nvSpPr>
        <p:spPr>
          <a:xfrm xmlns:a="http://schemas.openxmlformats.org/drawingml/2006/main">
            <a:off x="666750" y="54768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Saved progress helps the next session understand what already happened.</a:t>
            </a:r>
          </a:p>
        </p:txBody>
      </p:sp>
    </p:spTree>
    <p:extLst>
      <p:ext uri="{BB962C8B-B14F-4D97-AF65-F5344CB8AC3E}">
        <p14:creationId xmlns:p14="http://schemas.microsoft.com/office/powerpoint/2010/main" val="1247911520"/>
      </p:ext>
    </p:extLst>
  </p:cSld>
</p:sld>
</file>

<file path=ppt/slides/slide13.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846281-331D-41B4-A79D-317628616CA7}"/>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Guardrails</a:t>
            </a:r>
          </a:p>
        </p:txBody>
      </p:sp>
      <p:sp>
        <p:nvSpPr>
          <p:cNvPr id="2" name="">
            <a:extLst xmlns:a="http://schemas.openxmlformats.org/drawingml/2006/main">
              <a:ext uri="{FF2B5EF4-FFF2-40B4-BE49-F238E27FC236}">
                <a16:creationId xmlns:a16="http://schemas.microsoft.com/office/drawing/2014/main" id="{17D74551-01B8-45BA-8023-D7339A59A82D}"/>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9DF91D7B-E115-4F3E-96E7-FAE0D9BAF6DD}"/>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Permissions constrain available actions</a:t>
            </a:r>
          </a:p>
        </p:txBody>
      </p:sp>
      <p:sp>
        <p:nvSpPr>
          <p:cNvPr id="4" name="">
            <a:extLst xmlns:a="http://schemas.openxmlformats.org/drawingml/2006/main">
              <a:ext uri="{FF2B5EF4-FFF2-40B4-BE49-F238E27FC236}">
                <a16:creationId xmlns:a16="http://schemas.microsoft.com/office/drawing/2014/main" id="{E4D6E16D-4D13-4D3A-82D5-36C5D22E07FE}"/>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Use scoped tools, paths and credentials.</a:t>
            </a:r>
          </a:p>
        </p:txBody>
      </p:sp>
      <p:sp>
        <p:nvSpPr>
          <p:cNvPr id="5" name="">
            <a:extLst xmlns:a="http://schemas.openxmlformats.org/drawingml/2006/main">
              <a:ext uri="{FF2B5EF4-FFF2-40B4-BE49-F238E27FC236}">
                <a16:creationId xmlns:a16="http://schemas.microsoft.com/office/drawing/2014/main" id="{FAF56036-5D61-4988-9CA4-F52E0E8BC25B}"/>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Budgets bound continued execution</a:t>
            </a:r>
          </a:p>
        </p:txBody>
      </p:sp>
      <p:sp>
        <p:nvSpPr>
          <p:cNvPr id="6" name="">
            <a:extLst xmlns:a="http://schemas.openxmlformats.org/drawingml/2006/main">
              <a:ext uri="{FF2B5EF4-FFF2-40B4-BE49-F238E27FC236}">
                <a16:creationId xmlns:a16="http://schemas.microsoft.com/office/drawing/2014/main" id="{89EBD0F1-1F85-416B-8D41-727F13E63051}"/>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Stop excessive calls or token use and preserve evidence.</a:t>
            </a:r>
          </a:p>
        </p:txBody>
      </p:sp>
      <p:sp>
        <p:nvSpPr>
          <p:cNvPr id="7" name="">
            <a:extLst xmlns:a="http://schemas.openxmlformats.org/drawingml/2006/main">
              <a:ext uri="{FF2B5EF4-FFF2-40B4-BE49-F238E27FC236}">
                <a16:creationId xmlns:a16="http://schemas.microsoft.com/office/drawing/2014/main" id="{5C864DA1-A6A6-4831-852E-8BDB1225AF4F}"/>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Approval controls application of a patch</a:t>
            </a:r>
          </a:p>
        </p:txBody>
      </p:sp>
      <p:sp>
        <p:nvSpPr>
          <p:cNvPr id="8" name="">
            <a:extLst xmlns:a="http://schemas.openxmlformats.org/drawingml/2006/main">
              <a:ext uri="{FF2B5EF4-FFF2-40B4-BE49-F238E27FC236}">
                <a16:creationId xmlns:a16="http://schemas.microsoft.com/office/drawing/2014/main" id="{220769B7-FB37-46E1-A2BE-2E7A12F84EA7}"/>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Require a human decision on the exact reviewed revision.</a:t>
            </a:r>
          </a:p>
        </p:txBody>
      </p:sp>
    </p:spTree>
    <p:extLst>
      <p:ext uri="{BB962C8B-B14F-4D97-AF65-F5344CB8AC3E}">
        <p14:creationId xmlns:p14="http://schemas.microsoft.com/office/powerpoint/2010/main" val="1297365371"/>
      </p:ext>
    </p:extLst>
  </p:cSld>
</p:sld>
</file>

<file path=ppt/slides/slide14.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351844-2EC4-4355-BF25-CC46A2A46B23}"/>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Verification</a:t>
            </a:r>
          </a:p>
        </p:txBody>
      </p:sp>
      <p:sp>
        <p:nvSpPr>
          <p:cNvPr id="2" name="">
            <a:extLst xmlns:a="http://schemas.openxmlformats.org/drawingml/2006/main">
              <a:ext uri="{FF2B5EF4-FFF2-40B4-BE49-F238E27FC236}">
                <a16:creationId xmlns:a16="http://schemas.microsoft.com/office/drawing/2014/main" id="{2C3A14B7-31F5-4F97-ABCF-6892F89A4199}"/>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F81310AE-06D9-4D4B-88CD-12B894767CFB}"/>
              </a:ext>
            </a:extLst>
          </p:cNvPr>
          <p:cNvSpPr>
            <a:spLocks xmlns:a="http://schemas.openxmlformats.org/drawingml/2006/main" noGrp="1"/>
          </p:cNvSpPr>
          <p:nvPr/>
        </p:nvSpPr>
        <p:spPr>
          <a:xfrm xmlns:a="http://schemas.openxmlformats.org/drawingml/2006/main">
            <a:off x="666750" y="18097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4B91"/>
                </a:solidFill>
                <a:latin typeface="Arial"/>
                <a:ea typeface="Arial"/>
                <a:cs typeface="Arial"/>
              </a:defRPr>
            </a:defPPr>
            <a:lvl1pPr>
              <a:defRPr sz="2925" b="1">
                <a:solidFill>
                  <a:srgbClr val="174B91"/>
                </a:solidFill>
                <a:latin typeface="Arial"/>
                <a:ea typeface="Arial"/>
                <a:cs typeface="Arial"/>
              </a:defRPr>
            </a:lvl1pPr>
            <a:lvl2pPr>
              <a:defRPr sz="2925" b="1">
                <a:solidFill>
                  <a:srgbClr val="174B91"/>
                </a:solidFill>
                <a:latin typeface="Arial"/>
                <a:ea typeface="Arial"/>
                <a:cs typeface="Arial"/>
              </a:defRPr>
            </a:lvl2pPr>
            <a:lvl3pPr>
              <a:defRPr sz="2925" b="1">
                <a:solidFill>
                  <a:srgbClr val="174B91"/>
                </a:solidFill>
                <a:latin typeface="Arial"/>
                <a:ea typeface="Arial"/>
                <a:cs typeface="Arial"/>
              </a:defRPr>
            </a:lvl3pPr>
            <a:lvl4pPr>
              <a:defRPr sz="2925" b="1">
                <a:solidFill>
                  <a:srgbClr val="174B91"/>
                </a:solidFill>
                <a:latin typeface="Arial"/>
                <a:ea typeface="Arial"/>
                <a:cs typeface="Arial"/>
              </a:defRPr>
            </a:lvl4pPr>
            <a:lvl5pPr>
              <a:defRPr sz="2925" b="1">
                <a:solidFill>
                  <a:srgbClr val="174B91"/>
                </a:solidFill>
                <a:latin typeface="Arial"/>
                <a:ea typeface="Arial"/>
                <a:cs typeface="Arial"/>
              </a:defRPr>
            </a:lvl5pPr>
            <a:lvl6pPr>
              <a:defRPr sz="2925" b="1">
                <a:solidFill>
                  <a:srgbClr val="174B91"/>
                </a:solidFill>
                <a:latin typeface="Arial"/>
                <a:ea typeface="Arial"/>
                <a:cs typeface="Arial"/>
              </a:defRPr>
            </a:lvl6pPr>
            <a:lvl7pPr>
              <a:defRPr sz="2925" b="1">
                <a:solidFill>
                  <a:srgbClr val="174B91"/>
                </a:solidFill>
                <a:latin typeface="Arial"/>
                <a:ea typeface="Arial"/>
                <a:cs typeface="Arial"/>
              </a:defRPr>
            </a:lvl7pPr>
            <a:lvl8pPr>
              <a:defRPr sz="2925" b="1">
                <a:solidFill>
                  <a:srgbClr val="174B91"/>
                </a:solidFill>
                <a:latin typeface="Arial"/>
                <a:ea typeface="Arial"/>
                <a:cs typeface="Arial"/>
              </a:defRPr>
            </a:lvl8pPr>
            <a:lvl9pPr>
              <a:defRPr sz="2925" b="1">
                <a:solidFill>
                  <a:srgbClr val="174B91"/>
                </a:solidFill>
                <a:latin typeface="Arial"/>
                <a:ea typeface="Arial"/>
                <a:cs typeface="Arial"/>
              </a:defRPr>
            </a:lvl9pPr>
          </a:lstStyle>
          <a:p xmlns:a="http://schemas.openxmlformats.org/drawingml/2006/main">
            <a:pPr>
              <a:defRPr sz="2925" b="1">
                <a:solidFill>
                  <a:srgbClr val="174B91"/>
                </a:solidFill>
                <a:latin typeface="Arial"/>
                <a:ea typeface="Arial"/>
                <a:cs typeface="Arial"/>
              </a:defRPr>
            </a:pPr>
            <a:r>
              <a:rPr sz="2925" b="1">
                <a:solidFill>
                  <a:srgbClr val="174B91"/>
                </a:solidFill>
                <a:latin typeface="Arial"/>
                <a:ea typeface="Arial"/>
                <a:cs typeface="Arial"/>
              </a:rPr>
              <a:t>A completion claim needs evidence.</a:t>
            </a:r>
          </a:p>
        </p:txBody>
      </p:sp>
      <p:sp>
        <p:nvSpPr>
          <p:cNvPr id="4" name="">
            <a:extLst xmlns:a="http://schemas.openxmlformats.org/drawingml/2006/main">
              <a:ext uri="{FF2B5EF4-FFF2-40B4-BE49-F238E27FC236}">
                <a16:creationId xmlns:a16="http://schemas.microsoft.com/office/drawing/2014/main" id="{13E70DB3-69CA-437B-A2B9-4BAFE6AEDD25}"/>
              </a:ext>
            </a:extLst>
          </p:cNvPr>
          <p:cNvSpPr>
            <a:spLocks xmlns:a="http://schemas.openxmlformats.org/drawingml/2006/main" noGrp="1"/>
          </p:cNvSpPr>
          <p:nvPr/>
        </p:nvSpPr>
        <p:spPr>
          <a:xfrm xmlns:a="http://schemas.openxmlformats.org/drawingml/2006/main">
            <a:off x="666750" y="2857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4B91"/>
                </a:solidFill>
                <a:latin typeface="Arial"/>
                <a:ea typeface="Arial"/>
                <a:cs typeface="Arial"/>
              </a:defRPr>
            </a:defPPr>
            <a:lvl1pPr>
              <a:defRPr sz="1950" b="1">
                <a:solidFill>
                  <a:srgbClr val="174B91"/>
                </a:solidFill>
                <a:latin typeface="Arial"/>
                <a:ea typeface="Arial"/>
                <a:cs typeface="Arial"/>
              </a:defRPr>
            </a:lvl1pPr>
            <a:lvl2pPr>
              <a:defRPr sz="1950" b="1">
                <a:solidFill>
                  <a:srgbClr val="174B91"/>
                </a:solidFill>
                <a:latin typeface="Arial"/>
                <a:ea typeface="Arial"/>
                <a:cs typeface="Arial"/>
              </a:defRPr>
            </a:lvl2pPr>
            <a:lvl3pPr>
              <a:defRPr sz="1950" b="1">
                <a:solidFill>
                  <a:srgbClr val="174B91"/>
                </a:solidFill>
                <a:latin typeface="Arial"/>
                <a:ea typeface="Arial"/>
                <a:cs typeface="Arial"/>
              </a:defRPr>
            </a:lvl3pPr>
            <a:lvl4pPr>
              <a:defRPr sz="1950" b="1">
                <a:solidFill>
                  <a:srgbClr val="174B91"/>
                </a:solidFill>
                <a:latin typeface="Arial"/>
                <a:ea typeface="Arial"/>
                <a:cs typeface="Arial"/>
              </a:defRPr>
            </a:lvl4pPr>
            <a:lvl5pPr>
              <a:defRPr sz="1950" b="1">
                <a:solidFill>
                  <a:srgbClr val="174B91"/>
                </a:solidFill>
                <a:latin typeface="Arial"/>
                <a:ea typeface="Arial"/>
                <a:cs typeface="Arial"/>
              </a:defRPr>
            </a:lvl5pPr>
            <a:lvl6pPr>
              <a:defRPr sz="1950" b="1">
                <a:solidFill>
                  <a:srgbClr val="174B91"/>
                </a:solidFill>
                <a:latin typeface="Arial"/>
                <a:ea typeface="Arial"/>
                <a:cs typeface="Arial"/>
              </a:defRPr>
            </a:lvl6pPr>
            <a:lvl7pPr>
              <a:defRPr sz="1950" b="1">
                <a:solidFill>
                  <a:srgbClr val="174B91"/>
                </a:solidFill>
                <a:latin typeface="Arial"/>
                <a:ea typeface="Arial"/>
                <a:cs typeface="Arial"/>
              </a:defRPr>
            </a:lvl7pPr>
            <a:lvl8pPr>
              <a:defRPr sz="1950" b="1">
                <a:solidFill>
                  <a:srgbClr val="174B91"/>
                </a:solidFill>
                <a:latin typeface="Arial"/>
                <a:ea typeface="Arial"/>
                <a:cs typeface="Arial"/>
              </a:defRPr>
            </a:lvl8pPr>
            <a:lvl9pPr>
              <a:defRPr sz="1950" b="1">
                <a:solidFill>
                  <a:srgbClr val="174B91"/>
                </a:solidFill>
                <a:latin typeface="Arial"/>
                <a:ea typeface="Arial"/>
                <a:cs typeface="Arial"/>
              </a:defRPr>
            </a:lvl9pPr>
          </a:lstStyle>
          <a:p xmlns:a="http://schemas.openxmlformats.org/drawingml/2006/main">
            <a:pPr>
              <a:defRPr sz="1950" b="1">
                <a:solidFill>
                  <a:srgbClr val="174B91"/>
                </a:solidFill>
                <a:latin typeface="Arial"/>
                <a:ea typeface="Arial"/>
                <a:cs typeface="Arial"/>
              </a:defRPr>
            </a:pPr>
            <a:r>
              <a:rPr sz="1950" b="1">
                <a:solidFill>
                  <a:srgbClr val="174B91"/>
                </a:solidFill>
                <a:latin typeface="Arial"/>
                <a:ea typeface="Arial"/>
                <a:cs typeface="Arial"/>
              </a:rPr>
              <a:t>Behavioral checks</a:t>
            </a:r>
          </a:p>
        </p:txBody>
      </p:sp>
      <p:sp>
        <p:nvSpPr>
          <p:cNvPr id="5" name="">
            <a:extLst xmlns:a="http://schemas.openxmlformats.org/drawingml/2006/main">
              <a:ext uri="{FF2B5EF4-FFF2-40B4-BE49-F238E27FC236}">
                <a16:creationId xmlns:a16="http://schemas.microsoft.com/office/drawing/2014/main" id="{DA9D79C6-F9A9-4150-BB4D-F7E4B2EA2FB9}"/>
              </a:ext>
            </a:extLst>
          </p:cNvPr>
          <p:cNvSpPr>
            <a:spLocks xmlns:a="http://schemas.openxmlformats.org/drawingml/2006/main" noGrp="1"/>
          </p:cNvSpPr>
          <p:nvPr/>
        </p:nvSpPr>
        <p:spPr>
          <a:xfrm xmlns:a="http://schemas.openxmlformats.org/drawingml/2006/main">
            <a:off x="666750" y="3238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Does the draft survive navigation and refresh? Does saving preserve text?</a:t>
            </a:r>
          </a:p>
        </p:txBody>
      </p:sp>
      <p:sp>
        <p:nvSpPr>
          <p:cNvPr id="6" name="">
            <a:extLst xmlns:a="http://schemas.openxmlformats.org/drawingml/2006/main">
              <a:ext uri="{FF2B5EF4-FFF2-40B4-BE49-F238E27FC236}">
                <a16:creationId xmlns:a16="http://schemas.microsoft.com/office/drawing/2014/main" id="{01DB0609-FB35-49E7-B31D-B2A10E6EE2D4}"/>
              </a:ext>
            </a:extLst>
          </p:cNvPr>
          <p:cNvSpPr>
            <a:spLocks xmlns:a="http://schemas.openxmlformats.org/drawingml/2006/main" noGrp="1"/>
          </p:cNvSpPr>
          <p:nvPr/>
        </p:nvSpPr>
        <p:spPr>
          <a:xfrm xmlns:a="http://schemas.openxmlformats.org/drawingml/2006/main">
            <a:off x="666750" y="38862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4B91"/>
                </a:solidFill>
                <a:latin typeface="Arial"/>
                <a:ea typeface="Arial"/>
                <a:cs typeface="Arial"/>
              </a:defRPr>
            </a:defPPr>
            <a:lvl1pPr>
              <a:defRPr sz="1950" b="1">
                <a:solidFill>
                  <a:srgbClr val="174B91"/>
                </a:solidFill>
                <a:latin typeface="Arial"/>
                <a:ea typeface="Arial"/>
                <a:cs typeface="Arial"/>
              </a:defRPr>
            </a:lvl1pPr>
            <a:lvl2pPr>
              <a:defRPr sz="1950" b="1">
                <a:solidFill>
                  <a:srgbClr val="174B91"/>
                </a:solidFill>
                <a:latin typeface="Arial"/>
                <a:ea typeface="Arial"/>
                <a:cs typeface="Arial"/>
              </a:defRPr>
            </a:lvl2pPr>
            <a:lvl3pPr>
              <a:defRPr sz="1950" b="1">
                <a:solidFill>
                  <a:srgbClr val="174B91"/>
                </a:solidFill>
                <a:latin typeface="Arial"/>
                <a:ea typeface="Arial"/>
                <a:cs typeface="Arial"/>
              </a:defRPr>
            </a:lvl3pPr>
            <a:lvl4pPr>
              <a:defRPr sz="1950" b="1">
                <a:solidFill>
                  <a:srgbClr val="174B91"/>
                </a:solidFill>
                <a:latin typeface="Arial"/>
                <a:ea typeface="Arial"/>
                <a:cs typeface="Arial"/>
              </a:defRPr>
            </a:lvl4pPr>
            <a:lvl5pPr>
              <a:defRPr sz="1950" b="1">
                <a:solidFill>
                  <a:srgbClr val="174B91"/>
                </a:solidFill>
                <a:latin typeface="Arial"/>
                <a:ea typeface="Arial"/>
                <a:cs typeface="Arial"/>
              </a:defRPr>
            </a:lvl5pPr>
            <a:lvl6pPr>
              <a:defRPr sz="1950" b="1">
                <a:solidFill>
                  <a:srgbClr val="174B91"/>
                </a:solidFill>
                <a:latin typeface="Arial"/>
                <a:ea typeface="Arial"/>
                <a:cs typeface="Arial"/>
              </a:defRPr>
            </a:lvl6pPr>
            <a:lvl7pPr>
              <a:defRPr sz="1950" b="1">
                <a:solidFill>
                  <a:srgbClr val="174B91"/>
                </a:solidFill>
                <a:latin typeface="Arial"/>
                <a:ea typeface="Arial"/>
                <a:cs typeface="Arial"/>
              </a:defRPr>
            </a:lvl7pPr>
            <a:lvl8pPr>
              <a:defRPr sz="1950" b="1">
                <a:solidFill>
                  <a:srgbClr val="174B91"/>
                </a:solidFill>
                <a:latin typeface="Arial"/>
                <a:ea typeface="Arial"/>
                <a:cs typeface="Arial"/>
              </a:defRPr>
            </a:lvl8pPr>
            <a:lvl9pPr>
              <a:defRPr sz="1950" b="1">
                <a:solidFill>
                  <a:srgbClr val="174B91"/>
                </a:solidFill>
                <a:latin typeface="Arial"/>
                <a:ea typeface="Arial"/>
                <a:cs typeface="Arial"/>
              </a:defRPr>
            </a:lvl9pPr>
          </a:lstStyle>
          <a:p xmlns:a="http://schemas.openxmlformats.org/drawingml/2006/main">
            <a:pPr>
              <a:defRPr sz="1950" b="1">
                <a:solidFill>
                  <a:srgbClr val="174B91"/>
                </a:solidFill>
                <a:latin typeface="Arial"/>
                <a:ea typeface="Arial"/>
                <a:cs typeface="Arial"/>
              </a:defRPr>
            </a:pPr>
            <a:r>
              <a:rPr sz="1950" b="1">
                <a:solidFill>
                  <a:srgbClr val="174B91"/>
                </a:solidFill>
                <a:latin typeface="Arial"/>
                <a:ea typeface="Arial"/>
                <a:cs typeface="Arial"/>
              </a:rPr>
              <a:t>Independent enforcement</a:t>
            </a:r>
          </a:p>
        </p:txBody>
      </p:sp>
      <p:sp>
        <p:nvSpPr>
          <p:cNvPr id="7" name="">
            <a:extLst xmlns:a="http://schemas.openxmlformats.org/drawingml/2006/main">
              <a:ext uri="{FF2B5EF4-FFF2-40B4-BE49-F238E27FC236}">
                <a16:creationId xmlns:a16="http://schemas.microsoft.com/office/drawing/2014/main" id="{2D7703ED-CA07-44E5-B690-FA8C85D965D9}"/>
              </a:ext>
            </a:extLst>
          </p:cNvPr>
          <p:cNvSpPr>
            <a:spLocks xmlns:a="http://schemas.openxmlformats.org/drawingml/2006/main" noGrp="1"/>
          </p:cNvSpPr>
          <p:nvPr/>
        </p:nvSpPr>
        <p:spPr>
          <a:xfrm xmlns:a="http://schemas.openxmlformats.org/drawingml/2006/main">
            <a:off x="666750" y="42672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 failing current revision cannot complete under Engineered.</a:t>
            </a:r>
          </a:p>
        </p:txBody>
      </p:sp>
      <p:sp>
        <p:nvSpPr>
          <p:cNvPr id="8" name="">
            <a:extLst xmlns:a="http://schemas.openxmlformats.org/drawingml/2006/main">
              <a:ext uri="{FF2B5EF4-FFF2-40B4-BE49-F238E27FC236}">
                <a16:creationId xmlns:a16="http://schemas.microsoft.com/office/drawing/2014/main" id="{10CF8DE1-1210-409F-9708-7E44967A46FC}"/>
              </a:ext>
            </a:extLst>
          </p:cNvPr>
          <p:cNvSpPr>
            <a:spLocks xmlns:a="http://schemas.openxmlformats.org/drawingml/2006/main" noGrp="1"/>
          </p:cNvSpPr>
          <p:nvPr/>
        </p:nvSpPr>
        <p:spPr>
          <a:xfrm xmlns:a="http://schemas.openxmlformats.org/drawingml/2006/main">
            <a:off x="666750" y="49149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4B91"/>
                </a:solidFill>
                <a:latin typeface="Arial"/>
                <a:ea typeface="Arial"/>
                <a:cs typeface="Arial"/>
              </a:defRPr>
            </a:defPPr>
            <a:lvl1pPr>
              <a:defRPr sz="1950" b="1">
                <a:solidFill>
                  <a:srgbClr val="174B91"/>
                </a:solidFill>
                <a:latin typeface="Arial"/>
                <a:ea typeface="Arial"/>
                <a:cs typeface="Arial"/>
              </a:defRPr>
            </a:lvl1pPr>
            <a:lvl2pPr>
              <a:defRPr sz="1950" b="1">
                <a:solidFill>
                  <a:srgbClr val="174B91"/>
                </a:solidFill>
                <a:latin typeface="Arial"/>
                <a:ea typeface="Arial"/>
                <a:cs typeface="Arial"/>
              </a:defRPr>
            </a:lvl2pPr>
            <a:lvl3pPr>
              <a:defRPr sz="1950" b="1">
                <a:solidFill>
                  <a:srgbClr val="174B91"/>
                </a:solidFill>
                <a:latin typeface="Arial"/>
                <a:ea typeface="Arial"/>
                <a:cs typeface="Arial"/>
              </a:defRPr>
            </a:lvl3pPr>
            <a:lvl4pPr>
              <a:defRPr sz="1950" b="1">
                <a:solidFill>
                  <a:srgbClr val="174B91"/>
                </a:solidFill>
                <a:latin typeface="Arial"/>
                <a:ea typeface="Arial"/>
                <a:cs typeface="Arial"/>
              </a:defRPr>
            </a:lvl4pPr>
            <a:lvl5pPr>
              <a:defRPr sz="1950" b="1">
                <a:solidFill>
                  <a:srgbClr val="174B91"/>
                </a:solidFill>
                <a:latin typeface="Arial"/>
                <a:ea typeface="Arial"/>
                <a:cs typeface="Arial"/>
              </a:defRPr>
            </a:lvl5pPr>
            <a:lvl6pPr>
              <a:defRPr sz="1950" b="1">
                <a:solidFill>
                  <a:srgbClr val="174B91"/>
                </a:solidFill>
                <a:latin typeface="Arial"/>
                <a:ea typeface="Arial"/>
                <a:cs typeface="Arial"/>
              </a:defRPr>
            </a:lvl6pPr>
            <a:lvl7pPr>
              <a:defRPr sz="1950" b="1">
                <a:solidFill>
                  <a:srgbClr val="174B91"/>
                </a:solidFill>
                <a:latin typeface="Arial"/>
                <a:ea typeface="Arial"/>
                <a:cs typeface="Arial"/>
              </a:defRPr>
            </a:lvl7pPr>
            <a:lvl8pPr>
              <a:defRPr sz="1950" b="1">
                <a:solidFill>
                  <a:srgbClr val="174B91"/>
                </a:solidFill>
                <a:latin typeface="Arial"/>
                <a:ea typeface="Arial"/>
                <a:cs typeface="Arial"/>
              </a:defRPr>
            </a:lvl8pPr>
            <a:lvl9pPr>
              <a:defRPr sz="1950" b="1">
                <a:solidFill>
                  <a:srgbClr val="174B91"/>
                </a:solidFill>
                <a:latin typeface="Arial"/>
                <a:ea typeface="Arial"/>
                <a:cs typeface="Arial"/>
              </a:defRPr>
            </a:lvl9pPr>
          </a:lstStyle>
          <a:p xmlns:a="http://schemas.openxmlformats.org/drawingml/2006/main">
            <a:pPr>
              <a:defRPr sz="1950" b="1">
                <a:solidFill>
                  <a:srgbClr val="174B91"/>
                </a:solidFill>
                <a:latin typeface="Arial"/>
                <a:ea typeface="Arial"/>
                <a:cs typeface="Arial"/>
              </a:defRPr>
            </a:pPr>
            <a:r>
              <a:rPr sz="1950" b="1">
                <a:solidFill>
                  <a:srgbClr val="174B91"/>
                </a:solidFill>
                <a:latin typeface="Arial"/>
                <a:ea typeface="Arial"/>
                <a:cs typeface="Arial"/>
              </a:rPr>
              <a:t>Feedback for another attempt</a:t>
            </a:r>
          </a:p>
        </p:txBody>
      </p:sp>
      <p:sp>
        <p:nvSpPr>
          <p:cNvPr id="9" name="">
            <a:extLst xmlns:a="http://schemas.openxmlformats.org/drawingml/2006/main">
              <a:ext uri="{FF2B5EF4-FFF2-40B4-BE49-F238E27FC236}">
                <a16:creationId xmlns:a16="http://schemas.microsoft.com/office/drawing/2014/main" id="{CCE6EE7E-07B3-4A8E-9C9A-349C0F80EA70}"/>
              </a:ext>
            </a:extLst>
          </p:cNvPr>
          <p:cNvSpPr>
            <a:spLocks xmlns:a="http://schemas.openxmlformats.org/drawingml/2006/main" noGrp="1"/>
          </p:cNvSpPr>
          <p:nvPr/>
        </p:nvSpPr>
        <p:spPr>
          <a:xfrm xmlns:a="http://schemas.openxmlformats.org/drawingml/2006/main">
            <a:off x="666750" y="52959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Return the failure so the model can revise within its remaining budget.</a:t>
            </a:r>
          </a:p>
        </p:txBody>
      </p:sp>
    </p:spTree>
    <p:extLst>
      <p:ext uri="{BB962C8B-B14F-4D97-AF65-F5344CB8AC3E}">
        <p14:creationId xmlns:p14="http://schemas.microsoft.com/office/powerpoint/2010/main" val="1656381130"/>
      </p:ext>
    </p:extLst>
  </p:cSld>
</p:sld>
</file>

<file path=ppt/slides/slide15.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13547EF-73AB-4DC2-A656-7DCBE5C7447E}"/>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Guides and sensors</a:t>
            </a:r>
          </a:p>
        </p:txBody>
      </p:sp>
      <p:sp>
        <p:nvSpPr>
          <p:cNvPr id="2" name="">
            <a:extLst xmlns:a="http://schemas.openxmlformats.org/drawingml/2006/main">
              <a:ext uri="{FF2B5EF4-FFF2-40B4-BE49-F238E27FC236}">
                <a16:creationId xmlns:a16="http://schemas.microsoft.com/office/drawing/2014/main" id="{CFCE7DA7-1863-4EA7-B969-E72ED4F28341}"/>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15</a:t>
            </a:r>
          </a:p>
        </p:txBody>
      </p:sp>
      <p:graphicFrame>
        <p:nvGraphicFramePr>
          <p:cNvPr id="3" name="">
            <a:extLst xmlns:a="http://schemas.openxmlformats.org/drawingml/2006/main">
              <a:ext uri="{FF2B5EF4-FFF2-40B4-BE49-F238E27FC236}">
                <a16:creationId xmlns:a16="http://schemas.microsoft.com/office/drawing/2014/main" id="{7EA07E4F-F28D-4A51-BCD9-0A6CF0A2DA89}"/>
              </a:ext>
            </a:extLst>
          </p:cNvPr>
          <p:cNvGraphicFramePr/>
          <p:nvPr/>
        </p:nvGraphicFramePr>
        <p:xfrm>
          <a:off xmlns:a="http://schemas.openxmlformats.org/drawingml/2006/main" x="619125" y="1733550"/>
          <a:ext xmlns:a="http://schemas.openxmlformats.org/drawingml/2006/main" cx="10953750" cy="2952750"/>
        </p:xfrm>
        <a:graphic xmlns:a="http://schemas.openxmlformats.org/drawingml/2006/main">
          <a:graphicData uri="http://schemas.openxmlformats.org/drawingml/2006/table">
            <a:tbl>
              <a:tblPr/>
              <a:tblGrid>
                <a:gridCol w="2857500"/>
                <a:gridCol w="4000500"/>
                <a:gridCol w="4095750"/>
              </a:tblGrid>
              <a:tr h="984250">
                <a:tc>
                  <a:txBody>
                    <a:bodyPr/>
                    <a:lstStyle/>
                    <a:p>
                      <a:r>
                        <a:rPr sz="1875" b="1">
                          <a:solidFill>
                            <a:srgbClr val="FFFFFF"/>
                          </a:solidFill>
                          <a:latin typeface="Arial"/>
                          <a:ea typeface="Arial"/>
                          <a:cs typeface="Arial"/>
                        </a:rPr>
                        <a:t>Control</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Deterministic example</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Model-based example</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984250">
                <a:tc>
                  <a:txBody>
                    <a:bodyPr/>
                    <a:lstStyle/>
                    <a:p>
                      <a:r>
                        <a:rPr sz="1875" b="0">
                          <a:solidFill>
                            <a:srgbClr val="174535"/>
                          </a:solidFill>
                          <a:latin typeface="Arial"/>
                          <a:ea typeface="Arial"/>
                          <a:cs typeface="Arial"/>
                        </a:rPr>
                        <a:t>Guide before action</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Bootstrap script or allowed tool schema</a:t>
                      </a:r>
                    </a:p>
                  </a:txBody>
                  <a:tcPr marL="91440" marR="91440" marT="45720" marB="45720">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Project instructions or a skill</a:t>
                      </a:r>
                    </a:p>
                  </a:txBody>
                  <a:tcPr marL="91440" marR="91440" marT="45720" marB="45720">
                    <a:lnR w="9525">
                      <a:solidFill>
                        <a:srgbClr val="D4DDD5"/>
                      </a:solidFill>
                    </a:lnR>
                    <a:lnB w="9525">
                      <a:solidFill>
                        <a:srgbClr val="D4DDD5"/>
                      </a:solidFill>
                    </a:lnB>
                    <a:solidFill>
                      <a:srgbClr val="FFFFFF"/>
                    </a:solidFill>
                  </a:tcPr>
                </a:tc>
              </a:tr>
              <a:tr h="984250">
                <a:tc>
                  <a:txBody>
                    <a:bodyPr/>
                    <a:lstStyle/>
                    <a:p>
                      <a:r>
                        <a:rPr sz="1875" b="0">
                          <a:solidFill>
                            <a:srgbClr val="174535"/>
                          </a:solidFill>
                          <a:latin typeface="Arial"/>
                          <a:ea typeface="Arial"/>
                          <a:cs typeface="Arial"/>
                        </a:rPr>
                        <a:t>Sensor after action</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Tests, type checks and linters</a:t>
                      </a:r>
                    </a:p>
                  </a:txBody>
                  <a:tcPr marL="91440" marR="91440" marT="45720" marB="45720">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Rubric review or LLM judge</a:t>
                      </a:r>
                    </a:p>
                  </a:txBody>
                  <a:tcPr marL="91440" marR="91440" marT="45720" marB="45720">
                    <a:lnR w="9525">
                      <a:solidFill>
                        <a:srgbClr val="D4DDD5"/>
                      </a:solidFill>
                    </a:lnR>
                    <a:lnB w="9525">
                      <a:solidFill>
                        <a:srgbClr val="D4DDD5"/>
                      </a:solidFill>
                    </a:lnB>
                    <a:solidFill>
                      <a:srgbClr val="EEF2EA"/>
                    </a:solidFill>
                  </a:tcPr>
                </a:tc>
              </a:tr>
            </a:tbl>
          </a:graphicData>
        </a:graphic>
      </p:graphicFrame>
      <p:sp>
        <p:nvSpPr>
          <p:cNvPr id="4" name="">
            <a:extLst xmlns:a="http://schemas.openxmlformats.org/drawingml/2006/main">
              <a:ext uri="{FF2B5EF4-FFF2-40B4-BE49-F238E27FC236}">
                <a16:creationId xmlns:a16="http://schemas.microsoft.com/office/drawing/2014/main" id="{1560AB2E-BE1B-4235-9348-0C999E094A60}"/>
              </a:ext>
            </a:extLst>
          </p:cNvPr>
          <p:cNvSpPr>
            <a:spLocks xmlns:a="http://schemas.openxmlformats.org/drawingml/2006/main" noGrp="1"/>
          </p:cNvSpPr>
          <p:nvPr/>
        </p:nvSpPr>
        <p:spPr>
          <a:xfrm xmlns:a="http://schemas.openxmlformats.org/drawingml/2006/main">
            <a:off x="666750" y="53340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54685D"/>
                </a:solidFill>
                <a:latin typeface="Arial"/>
                <a:ea typeface="Arial"/>
                <a:cs typeface="Arial"/>
              </a:defRPr>
            </a:defPPr>
            <a:lvl1pPr>
              <a:defRPr sz="2175" b="0">
                <a:solidFill>
                  <a:srgbClr val="54685D"/>
                </a:solidFill>
                <a:latin typeface="Arial"/>
                <a:ea typeface="Arial"/>
                <a:cs typeface="Arial"/>
              </a:defRPr>
            </a:lvl1pPr>
            <a:lvl2pPr>
              <a:defRPr sz="2175" b="0">
                <a:solidFill>
                  <a:srgbClr val="54685D"/>
                </a:solidFill>
                <a:latin typeface="Arial"/>
                <a:ea typeface="Arial"/>
                <a:cs typeface="Arial"/>
              </a:defRPr>
            </a:lvl2pPr>
            <a:lvl3pPr>
              <a:defRPr sz="2175" b="0">
                <a:solidFill>
                  <a:srgbClr val="54685D"/>
                </a:solidFill>
                <a:latin typeface="Arial"/>
                <a:ea typeface="Arial"/>
                <a:cs typeface="Arial"/>
              </a:defRPr>
            </a:lvl3pPr>
            <a:lvl4pPr>
              <a:defRPr sz="2175" b="0">
                <a:solidFill>
                  <a:srgbClr val="54685D"/>
                </a:solidFill>
                <a:latin typeface="Arial"/>
                <a:ea typeface="Arial"/>
                <a:cs typeface="Arial"/>
              </a:defRPr>
            </a:lvl4pPr>
            <a:lvl5pPr>
              <a:defRPr sz="2175" b="0">
                <a:solidFill>
                  <a:srgbClr val="54685D"/>
                </a:solidFill>
                <a:latin typeface="Arial"/>
                <a:ea typeface="Arial"/>
                <a:cs typeface="Arial"/>
              </a:defRPr>
            </a:lvl5pPr>
            <a:lvl6pPr>
              <a:defRPr sz="2175" b="0">
                <a:solidFill>
                  <a:srgbClr val="54685D"/>
                </a:solidFill>
                <a:latin typeface="Arial"/>
                <a:ea typeface="Arial"/>
                <a:cs typeface="Arial"/>
              </a:defRPr>
            </a:lvl6pPr>
            <a:lvl7pPr>
              <a:defRPr sz="2175" b="0">
                <a:solidFill>
                  <a:srgbClr val="54685D"/>
                </a:solidFill>
                <a:latin typeface="Arial"/>
                <a:ea typeface="Arial"/>
                <a:cs typeface="Arial"/>
              </a:defRPr>
            </a:lvl7pPr>
            <a:lvl8pPr>
              <a:defRPr sz="2175" b="0">
                <a:solidFill>
                  <a:srgbClr val="54685D"/>
                </a:solidFill>
                <a:latin typeface="Arial"/>
                <a:ea typeface="Arial"/>
                <a:cs typeface="Arial"/>
              </a:defRPr>
            </a:lvl8pPr>
            <a:lvl9pPr>
              <a:defRPr sz="2175" b="0">
                <a:solidFill>
                  <a:srgbClr val="54685D"/>
                </a:solidFill>
                <a:latin typeface="Arial"/>
                <a:ea typeface="Arial"/>
                <a:cs typeface="Arial"/>
              </a:defRPr>
            </a:lvl9pPr>
          </a:lstStyle>
          <a:p xmlns:a="http://schemas.openxmlformats.org/drawingml/2006/main">
            <a:pPr>
              <a:defRPr sz="2175" b="0">
                <a:solidFill>
                  <a:srgbClr val="54685D"/>
                </a:solidFill>
                <a:latin typeface="Arial"/>
                <a:ea typeface="Arial"/>
                <a:cs typeface="Arial"/>
              </a:defRPr>
            </a:pPr>
            <a:r>
              <a:rPr sz="2175" b="0">
                <a:solidFill>
                  <a:srgbClr val="54685D"/>
                </a:solidFill>
                <a:latin typeface="Arial"/>
                <a:ea typeface="Arial"/>
                <a:cs typeface="Arial"/>
              </a:rPr>
              <a:t>Useful feedback tells the agent what failed and what evidence to inspect.</a:t>
            </a:r>
          </a:p>
        </p:txBody>
      </p:sp>
    </p:spTree>
    <p:extLst>
      <p:ext uri="{BB962C8B-B14F-4D97-AF65-F5344CB8AC3E}">
        <p14:creationId xmlns:p14="http://schemas.microsoft.com/office/powerpoint/2010/main" val="2058542249"/>
      </p:ext>
    </p:extLst>
  </p:cSld>
</p:sld>
</file>

<file path=ppt/slides/slide16.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BAA5919-4B00-4E46-A6DE-B604282B8B8A}"/>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Observability and orchestration</a:t>
            </a:r>
          </a:p>
        </p:txBody>
      </p:sp>
      <p:sp>
        <p:nvSpPr>
          <p:cNvPr id="2" name="">
            <a:extLst xmlns:a="http://schemas.openxmlformats.org/drawingml/2006/main">
              <a:ext uri="{FF2B5EF4-FFF2-40B4-BE49-F238E27FC236}">
                <a16:creationId xmlns:a16="http://schemas.microsoft.com/office/drawing/2014/main" id="{2AFFC2EE-5372-4279-9ADE-5BA8BA8AC812}"/>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953507F8-8A6D-4E2B-9E21-44B8F1DA4178}"/>
              </a:ext>
            </a:extLst>
          </p:cNvPr>
          <p:cNvSpPr>
            <a:spLocks xmlns:a="http://schemas.openxmlformats.org/drawingml/2006/main" noGrp="1"/>
          </p:cNvSpPr>
          <p:nvPr/>
        </p:nvSpPr>
        <p:spPr>
          <a:xfrm xmlns:a="http://schemas.openxmlformats.org/drawingml/2006/main">
            <a:off x="666750" y="1905000"/>
            <a:ext cx="5095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74B91"/>
                </a:solidFill>
                <a:latin typeface="Arial"/>
                <a:ea typeface="Arial"/>
                <a:cs typeface="Arial"/>
              </a:defRPr>
            </a:defPPr>
            <a:lvl1pPr>
              <a:defRPr sz="2475" b="1">
                <a:solidFill>
                  <a:srgbClr val="174B91"/>
                </a:solidFill>
                <a:latin typeface="Arial"/>
                <a:ea typeface="Arial"/>
                <a:cs typeface="Arial"/>
              </a:defRPr>
            </a:lvl1pPr>
            <a:lvl2pPr>
              <a:defRPr sz="2475" b="1">
                <a:solidFill>
                  <a:srgbClr val="174B91"/>
                </a:solidFill>
                <a:latin typeface="Arial"/>
                <a:ea typeface="Arial"/>
                <a:cs typeface="Arial"/>
              </a:defRPr>
            </a:lvl2pPr>
            <a:lvl3pPr>
              <a:defRPr sz="2475" b="1">
                <a:solidFill>
                  <a:srgbClr val="174B91"/>
                </a:solidFill>
                <a:latin typeface="Arial"/>
                <a:ea typeface="Arial"/>
                <a:cs typeface="Arial"/>
              </a:defRPr>
            </a:lvl3pPr>
            <a:lvl4pPr>
              <a:defRPr sz="2475" b="1">
                <a:solidFill>
                  <a:srgbClr val="174B91"/>
                </a:solidFill>
                <a:latin typeface="Arial"/>
                <a:ea typeface="Arial"/>
                <a:cs typeface="Arial"/>
              </a:defRPr>
            </a:lvl4pPr>
            <a:lvl5pPr>
              <a:defRPr sz="2475" b="1">
                <a:solidFill>
                  <a:srgbClr val="174B91"/>
                </a:solidFill>
                <a:latin typeface="Arial"/>
                <a:ea typeface="Arial"/>
                <a:cs typeface="Arial"/>
              </a:defRPr>
            </a:lvl5pPr>
            <a:lvl6pPr>
              <a:defRPr sz="2475" b="1">
                <a:solidFill>
                  <a:srgbClr val="174B91"/>
                </a:solidFill>
                <a:latin typeface="Arial"/>
                <a:ea typeface="Arial"/>
                <a:cs typeface="Arial"/>
              </a:defRPr>
            </a:lvl6pPr>
            <a:lvl7pPr>
              <a:defRPr sz="2475" b="1">
                <a:solidFill>
                  <a:srgbClr val="174B91"/>
                </a:solidFill>
                <a:latin typeface="Arial"/>
                <a:ea typeface="Arial"/>
                <a:cs typeface="Arial"/>
              </a:defRPr>
            </a:lvl7pPr>
            <a:lvl8pPr>
              <a:defRPr sz="2475" b="1">
                <a:solidFill>
                  <a:srgbClr val="174B91"/>
                </a:solidFill>
                <a:latin typeface="Arial"/>
                <a:ea typeface="Arial"/>
                <a:cs typeface="Arial"/>
              </a:defRPr>
            </a:lvl8pPr>
            <a:lvl9pPr>
              <a:defRPr sz="2475" b="1">
                <a:solidFill>
                  <a:srgbClr val="174B91"/>
                </a:solidFill>
                <a:latin typeface="Arial"/>
                <a:ea typeface="Arial"/>
                <a:cs typeface="Arial"/>
              </a:defRPr>
            </a:lvl9pPr>
          </a:lstStyle>
          <a:p xmlns:a="http://schemas.openxmlformats.org/drawingml/2006/main">
            <a:pPr>
              <a:defRPr sz="2475" b="1">
                <a:solidFill>
                  <a:srgbClr val="174B91"/>
                </a:solidFill>
                <a:latin typeface="Arial"/>
                <a:ea typeface="Arial"/>
                <a:cs typeface="Arial"/>
              </a:defRPr>
            </a:pPr>
            <a:r>
              <a:rPr sz="2475" b="1">
                <a:solidFill>
                  <a:srgbClr val="174B91"/>
                </a:solidFill>
                <a:latin typeface="Arial"/>
                <a:ea typeface="Arial"/>
                <a:cs typeface="Arial"/>
              </a:rPr>
              <a:t>Observability and evals</a:t>
            </a:r>
          </a:p>
        </p:txBody>
      </p:sp>
      <p:sp>
        <p:nvSpPr>
          <p:cNvPr id="4" name="">
            <a:extLst xmlns:a="http://schemas.openxmlformats.org/drawingml/2006/main">
              <a:ext uri="{FF2B5EF4-FFF2-40B4-BE49-F238E27FC236}">
                <a16:creationId xmlns:a16="http://schemas.microsoft.com/office/drawing/2014/main" id="{7D166B13-D0CD-4F84-8007-578F72A356EE}"/>
              </a:ext>
            </a:extLst>
          </p:cNvPr>
          <p:cNvSpPr>
            <a:spLocks xmlns:a="http://schemas.openxmlformats.org/drawingml/2006/main" noGrp="1"/>
          </p:cNvSpPr>
          <p:nvPr/>
        </p:nvSpPr>
        <p:spPr>
          <a:xfrm xmlns:a="http://schemas.openxmlformats.org/drawingml/2006/main">
            <a:off x="666750" y="2667000"/>
            <a:ext cx="495300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4535"/>
                </a:solidFill>
                <a:latin typeface="Arial"/>
                <a:ea typeface="Arial"/>
                <a:cs typeface="Arial"/>
              </a:defRPr>
            </a:defPPr>
            <a:lvl1pPr>
              <a:defRPr sz="2100" b="0">
                <a:solidFill>
                  <a:srgbClr val="174535"/>
                </a:solidFill>
                <a:latin typeface="Arial"/>
                <a:ea typeface="Arial"/>
                <a:cs typeface="Arial"/>
              </a:defRPr>
            </a:lvl1pPr>
            <a:lvl2pPr>
              <a:defRPr sz="2100" b="0">
                <a:solidFill>
                  <a:srgbClr val="174535"/>
                </a:solidFill>
                <a:latin typeface="Arial"/>
                <a:ea typeface="Arial"/>
                <a:cs typeface="Arial"/>
              </a:defRPr>
            </a:lvl2pPr>
            <a:lvl3pPr>
              <a:defRPr sz="2100" b="0">
                <a:solidFill>
                  <a:srgbClr val="174535"/>
                </a:solidFill>
                <a:latin typeface="Arial"/>
                <a:ea typeface="Arial"/>
                <a:cs typeface="Arial"/>
              </a:defRPr>
            </a:lvl3pPr>
            <a:lvl4pPr>
              <a:defRPr sz="2100" b="0">
                <a:solidFill>
                  <a:srgbClr val="174535"/>
                </a:solidFill>
                <a:latin typeface="Arial"/>
                <a:ea typeface="Arial"/>
                <a:cs typeface="Arial"/>
              </a:defRPr>
            </a:lvl4pPr>
            <a:lvl5pPr>
              <a:defRPr sz="2100" b="0">
                <a:solidFill>
                  <a:srgbClr val="174535"/>
                </a:solidFill>
                <a:latin typeface="Arial"/>
                <a:ea typeface="Arial"/>
                <a:cs typeface="Arial"/>
              </a:defRPr>
            </a:lvl5pPr>
            <a:lvl6pPr>
              <a:defRPr sz="2100" b="0">
                <a:solidFill>
                  <a:srgbClr val="174535"/>
                </a:solidFill>
                <a:latin typeface="Arial"/>
                <a:ea typeface="Arial"/>
                <a:cs typeface="Arial"/>
              </a:defRPr>
            </a:lvl6pPr>
            <a:lvl7pPr>
              <a:defRPr sz="2100" b="0">
                <a:solidFill>
                  <a:srgbClr val="174535"/>
                </a:solidFill>
                <a:latin typeface="Arial"/>
                <a:ea typeface="Arial"/>
                <a:cs typeface="Arial"/>
              </a:defRPr>
            </a:lvl7pPr>
            <a:lvl8pPr>
              <a:defRPr sz="2100" b="0">
                <a:solidFill>
                  <a:srgbClr val="174535"/>
                </a:solidFill>
                <a:latin typeface="Arial"/>
                <a:ea typeface="Arial"/>
                <a:cs typeface="Arial"/>
              </a:defRPr>
            </a:lvl8pPr>
            <a:lvl9pPr>
              <a:defRPr sz="2100" b="0">
                <a:solidFill>
                  <a:srgbClr val="174535"/>
                </a:solidFill>
                <a:latin typeface="Arial"/>
                <a:ea typeface="Arial"/>
                <a:cs typeface="Arial"/>
              </a:defRPr>
            </a:lvl9pPr>
          </a:lstStyle>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Record requests, tool results, checks and failures.</a:t>
            </a:r>
          </a:p>
          <a:p xmlns:a="http://schemas.openxmlformats.org/drawingml/2006/main">
            <a:r>
              <a:t/>
            </a:r>
          </a:p>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Compare outcome, steps, tokens and time across repeated tasks.</a:t>
            </a:r>
          </a:p>
        </p:txBody>
      </p:sp>
      <p:sp>
        <p:nvSpPr>
          <p:cNvPr id="5" name="">
            <a:extLst xmlns:a="http://schemas.openxmlformats.org/drawingml/2006/main">
              <a:ext uri="{FF2B5EF4-FFF2-40B4-BE49-F238E27FC236}">
                <a16:creationId xmlns:a16="http://schemas.microsoft.com/office/drawing/2014/main" id="{61536ECB-24FA-4FAA-9256-EF84982571E9}"/>
              </a:ext>
            </a:extLst>
          </p:cNvPr>
          <p:cNvSpPr>
            <a:spLocks xmlns:a="http://schemas.openxmlformats.org/drawingml/2006/main" noGrp="1"/>
          </p:cNvSpPr>
          <p:nvPr/>
        </p:nvSpPr>
        <p:spPr>
          <a:xfrm xmlns:a="http://schemas.openxmlformats.org/drawingml/2006/main">
            <a:off x="6477000" y="1905000"/>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74B91"/>
                </a:solidFill>
                <a:latin typeface="Arial"/>
                <a:ea typeface="Arial"/>
                <a:cs typeface="Arial"/>
              </a:defRPr>
            </a:defPPr>
            <a:lvl1pPr>
              <a:defRPr sz="2475" b="1">
                <a:solidFill>
                  <a:srgbClr val="174B91"/>
                </a:solidFill>
                <a:latin typeface="Arial"/>
                <a:ea typeface="Arial"/>
                <a:cs typeface="Arial"/>
              </a:defRPr>
            </a:lvl1pPr>
            <a:lvl2pPr>
              <a:defRPr sz="2475" b="1">
                <a:solidFill>
                  <a:srgbClr val="174B91"/>
                </a:solidFill>
                <a:latin typeface="Arial"/>
                <a:ea typeface="Arial"/>
                <a:cs typeface="Arial"/>
              </a:defRPr>
            </a:lvl2pPr>
            <a:lvl3pPr>
              <a:defRPr sz="2475" b="1">
                <a:solidFill>
                  <a:srgbClr val="174B91"/>
                </a:solidFill>
                <a:latin typeface="Arial"/>
                <a:ea typeface="Arial"/>
                <a:cs typeface="Arial"/>
              </a:defRPr>
            </a:lvl3pPr>
            <a:lvl4pPr>
              <a:defRPr sz="2475" b="1">
                <a:solidFill>
                  <a:srgbClr val="174B91"/>
                </a:solidFill>
                <a:latin typeface="Arial"/>
                <a:ea typeface="Arial"/>
                <a:cs typeface="Arial"/>
              </a:defRPr>
            </a:lvl4pPr>
            <a:lvl5pPr>
              <a:defRPr sz="2475" b="1">
                <a:solidFill>
                  <a:srgbClr val="174B91"/>
                </a:solidFill>
                <a:latin typeface="Arial"/>
                <a:ea typeface="Arial"/>
                <a:cs typeface="Arial"/>
              </a:defRPr>
            </a:lvl5pPr>
            <a:lvl6pPr>
              <a:defRPr sz="2475" b="1">
                <a:solidFill>
                  <a:srgbClr val="174B91"/>
                </a:solidFill>
                <a:latin typeface="Arial"/>
                <a:ea typeface="Arial"/>
                <a:cs typeface="Arial"/>
              </a:defRPr>
            </a:lvl6pPr>
            <a:lvl7pPr>
              <a:defRPr sz="2475" b="1">
                <a:solidFill>
                  <a:srgbClr val="174B91"/>
                </a:solidFill>
                <a:latin typeface="Arial"/>
                <a:ea typeface="Arial"/>
                <a:cs typeface="Arial"/>
              </a:defRPr>
            </a:lvl7pPr>
            <a:lvl8pPr>
              <a:defRPr sz="2475" b="1">
                <a:solidFill>
                  <a:srgbClr val="174B91"/>
                </a:solidFill>
                <a:latin typeface="Arial"/>
                <a:ea typeface="Arial"/>
                <a:cs typeface="Arial"/>
              </a:defRPr>
            </a:lvl8pPr>
            <a:lvl9pPr>
              <a:defRPr sz="2475" b="1">
                <a:solidFill>
                  <a:srgbClr val="174B91"/>
                </a:solidFill>
                <a:latin typeface="Arial"/>
                <a:ea typeface="Arial"/>
                <a:cs typeface="Arial"/>
              </a:defRPr>
            </a:lvl9pPr>
          </a:lstStyle>
          <a:p xmlns:a="http://schemas.openxmlformats.org/drawingml/2006/main">
            <a:pPr>
              <a:defRPr sz="2475" b="1">
                <a:solidFill>
                  <a:srgbClr val="174B91"/>
                </a:solidFill>
                <a:latin typeface="Arial"/>
                <a:ea typeface="Arial"/>
                <a:cs typeface="Arial"/>
              </a:defRPr>
            </a:pPr>
            <a:r>
              <a:rPr sz="2475" b="1">
                <a:solidFill>
                  <a:srgbClr val="174B91"/>
                </a:solidFill>
                <a:latin typeface="Arial"/>
                <a:ea typeface="Arial"/>
                <a:cs typeface="Arial"/>
              </a:rPr>
              <a:t>Orchestration</a:t>
            </a:r>
          </a:p>
        </p:txBody>
      </p:sp>
      <p:sp>
        <p:nvSpPr>
          <p:cNvPr id="6" name="">
            <a:extLst xmlns:a="http://schemas.openxmlformats.org/drawingml/2006/main">
              <a:ext uri="{FF2B5EF4-FFF2-40B4-BE49-F238E27FC236}">
                <a16:creationId xmlns:a16="http://schemas.microsoft.com/office/drawing/2014/main" id="{C2AA8499-CD28-4C30-AE97-F4EB068AFCD2}"/>
              </a:ext>
            </a:extLst>
          </p:cNvPr>
          <p:cNvSpPr>
            <a:spLocks xmlns:a="http://schemas.openxmlformats.org/drawingml/2006/main" noGrp="1"/>
          </p:cNvSpPr>
          <p:nvPr/>
        </p:nvSpPr>
        <p:spPr>
          <a:xfrm xmlns:a="http://schemas.openxmlformats.org/drawingml/2006/main">
            <a:off x="6477000" y="2667000"/>
            <a:ext cx="4857750" cy="2428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4535"/>
                </a:solidFill>
                <a:latin typeface="Arial"/>
                <a:ea typeface="Arial"/>
                <a:cs typeface="Arial"/>
              </a:defRPr>
            </a:defPPr>
            <a:lvl1pPr>
              <a:defRPr sz="2100" b="0">
                <a:solidFill>
                  <a:srgbClr val="174535"/>
                </a:solidFill>
                <a:latin typeface="Arial"/>
                <a:ea typeface="Arial"/>
                <a:cs typeface="Arial"/>
              </a:defRPr>
            </a:lvl1pPr>
            <a:lvl2pPr>
              <a:defRPr sz="2100" b="0">
                <a:solidFill>
                  <a:srgbClr val="174535"/>
                </a:solidFill>
                <a:latin typeface="Arial"/>
                <a:ea typeface="Arial"/>
                <a:cs typeface="Arial"/>
              </a:defRPr>
            </a:lvl2pPr>
            <a:lvl3pPr>
              <a:defRPr sz="2100" b="0">
                <a:solidFill>
                  <a:srgbClr val="174535"/>
                </a:solidFill>
                <a:latin typeface="Arial"/>
                <a:ea typeface="Arial"/>
                <a:cs typeface="Arial"/>
              </a:defRPr>
            </a:lvl3pPr>
            <a:lvl4pPr>
              <a:defRPr sz="2100" b="0">
                <a:solidFill>
                  <a:srgbClr val="174535"/>
                </a:solidFill>
                <a:latin typeface="Arial"/>
                <a:ea typeface="Arial"/>
                <a:cs typeface="Arial"/>
              </a:defRPr>
            </a:lvl4pPr>
            <a:lvl5pPr>
              <a:defRPr sz="2100" b="0">
                <a:solidFill>
                  <a:srgbClr val="174535"/>
                </a:solidFill>
                <a:latin typeface="Arial"/>
                <a:ea typeface="Arial"/>
                <a:cs typeface="Arial"/>
              </a:defRPr>
            </a:lvl5pPr>
            <a:lvl6pPr>
              <a:defRPr sz="2100" b="0">
                <a:solidFill>
                  <a:srgbClr val="174535"/>
                </a:solidFill>
                <a:latin typeface="Arial"/>
                <a:ea typeface="Arial"/>
                <a:cs typeface="Arial"/>
              </a:defRPr>
            </a:lvl6pPr>
            <a:lvl7pPr>
              <a:defRPr sz="2100" b="0">
                <a:solidFill>
                  <a:srgbClr val="174535"/>
                </a:solidFill>
                <a:latin typeface="Arial"/>
                <a:ea typeface="Arial"/>
                <a:cs typeface="Arial"/>
              </a:defRPr>
            </a:lvl7pPr>
            <a:lvl8pPr>
              <a:defRPr sz="2100" b="0">
                <a:solidFill>
                  <a:srgbClr val="174535"/>
                </a:solidFill>
                <a:latin typeface="Arial"/>
                <a:ea typeface="Arial"/>
                <a:cs typeface="Arial"/>
              </a:defRPr>
            </a:lvl8pPr>
            <a:lvl9pPr>
              <a:defRPr sz="2100" b="0">
                <a:solidFill>
                  <a:srgbClr val="174535"/>
                </a:solidFill>
                <a:latin typeface="Arial"/>
                <a:ea typeface="Arial"/>
                <a:cs typeface="Arial"/>
              </a:defRPr>
            </a:lvl9pPr>
          </a:lstStyle>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Split work when roles or isolation help.</a:t>
            </a:r>
          </a:p>
          <a:p xmlns:a="http://schemas.openxmlformats.org/drawingml/2006/main">
            <a:r>
              <a:t/>
            </a:r>
          </a:p>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Use clear ownership, handoffs and shared-state rules.</a:t>
            </a:r>
          </a:p>
        </p:txBody>
      </p:sp>
      <p:sp>
        <p:nvSpPr>
          <p:cNvPr id="7" name="">
            <a:extLst xmlns:a="http://schemas.openxmlformats.org/drawingml/2006/main">
              <a:ext uri="{FF2B5EF4-FFF2-40B4-BE49-F238E27FC236}">
                <a16:creationId xmlns:a16="http://schemas.microsoft.com/office/drawing/2014/main" id="{D27E4300-C43F-4EEE-9248-8261A8402CAA}"/>
              </a:ext>
            </a:extLst>
          </p:cNvPr>
          <p:cNvSpPr>
            <a:spLocks xmlns:a="http://schemas.openxmlformats.org/drawingml/2006/main" noGrp="1"/>
          </p:cNvSpPr>
          <p:nvPr/>
        </p:nvSpPr>
        <p:spPr>
          <a:xfrm xmlns:a="http://schemas.openxmlformats.org/drawingml/2006/main">
            <a:off x="666750" y="5667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4685D"/>
                </a:solidFill>
                <a:latin typeface="Arial"/>
                <a:ea typeface="Arial"/>
                <a:cs typeface="Arial"/>
              </a:defRPr>
            </a:defPPr>
            <a:lvl1pPr>
              <a:defRPr sz="2025" b="0">
                <a:solidFill>
                  <a:srgbClr val="54685D"/>
                </a:solidFill>
                <a:latin typeface="Arial"/>
                <a:ea typeface="Arial"/>
                <a:cs typeface="Arial"/>
              </a:defRPr>
            </a:lvl1pPr>
            <a:lvl2pPr>
              <a:defRPr sz="2025" b="0">
                <a:solidFill>
                  <a:srgbClr val="54685D"/>
                </a:solidFill>
                <a:latin typeface="Arial"/>
                <a:ea typeface="Arial"/>
                <a:cs typeface="Arial"/>
              </a:defRPr>
            </a:lvl2pPr>
            <a:lvl3pPr>
              <a:defRPr sz="2025" b="0">
                <a:solidFill>
                  <a:srgbClr val="54685D"/>
                </a:solidFill>
                <a:latin typeface="Arial"/>
                <a:ea typeface="Arial"/>
                <a:cs typeface="Arial"/>
              </a:defRPr>
            </a:lvl3pPr>
            <a:lvl4pPr>
              <a:defRPr sz="2025" b="0">
                <a:solidFill>
                  <a:srgbClr val="54685D"/>
                </a:solidFill>
                <a:latin typeface="Arial"/>
                <a:ea typeface="Arial"/>
                <a:cs typeface="Arial"/>
              </a:defRPr>
            </a:lvl4pPr>
            <a:lvl5pPr>
              <a:defRPr sz="2025" b="0">
                <a:solidFill>
                  <a:srgbClr val="54685D"/>
                </a:solidFill>
                <a:latin typeface="Arial"/>
                <a:ea typeface="Arial"/>
                <a:cs typeface="Arial"/>
              </a:defRPr>
            </a:lvl5pPr>
            <a:lvl6pPr>
              <a:defRPr sz="2025" b="0">
                <a:solidFill>
                  <a:srgbClr val="54685D"/>
                </a:solidFill>
                <a:latin typeface="Arial"/>
                <a:ea typeface="Arial"/>
                <a:cs typeface="Arial"/>
              </a:defRPr>
            </a:lvl6pPr>
            <a:lvl7pPr>
              <a:defRPr sz="2025" b="0">
                <a:solidFill>
                  <a:srgbClr val="54685D"/>
                </a:solidFill>
                <a:latin typeface="Arial"/>
                <a:ea typeface="Arial"/>
                <a:cs typeface="Arial"/>
              </a:defRPr>
            </a:lvl7pPr>
            <a:lvl8pPr>
              <a:defRPr sz="2025" b="0">
                <a:solidFill>
                  <a:srgbClr val="54685D"/>
                </a:solidFill>
                <a:latin typeface="Arial"/>
                <a:ea typeface="Arial"/>
                <a:cs typeface="Arial"/>
              </a:defRPr>
            </a:lvl8pPr>
            <a:lvl9pPr>
              <a:defRPr sz="2025" b="0">
                <a:solidFill>
                  <a:srgbClr val="54685D"/>
                </a:solidFill>
                <a:latin typeface="Arial"/>
                <a:ea typeface="Arial"/>
                <a:cs typeface="Arial"/>
              </a:defRPr>
            </a:lvl9pPr>
          </a:lstStyle>
          <a:p xmlns:a="http://schemas.openxmlformats.org/drawingml/2006/main">
            <a:pPr>
              <a:defRPr sz="2025" b="0">
                <a:solidFill>
                  <a:srgbClr val="54685D"/>
                </a:solidFill>
                <a:latin typeface="Arial"/>
                <a:ea typeface="Arial"/>
                <a:cs typeface="Arial"/>
              </a:defRPr>
            </a:pPr>
            <a:r>
              <a:rPr sz="2025" b="0">
                <a:solidFill>
                  <a:srgbClr val="54685D"/>
                </a:solidFill>
                <a:latin typeface="Arial"/>
                <a:ea typeface="Arial"/>
                <a:cs typeface="Arial"/>
              </a:rPr>
              <a:t>This demo records both runs and uses one coding agent per run.</a:t>
            </a:r>
          </a:p>
        </p:txBody>
      </p:sp>
    </p:spTree>
    <p:extLst>
      <p:ext uri="{BB962C8B-B14F-4D97-AF65-F5344CB8AC3E}">
        <p14:creationId xmlns:p14="http://schemas.microsoft.com/office/powerpoint/2010/main" val="1352007056"/>
      </p:ext>
    </p:extLst>
  </p:cSld>
</p:sld>
</file>

<file path=ppt/slides/slide17.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859EF9-B7DF-40AB-A6D5-E5F279136FEB}"/>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Harness engineering as a practice</a:t>
            </a:r>
          </a:p>
        </p:txBody>
      </p:sp>
      <p:sp>
        <p:nvSpPr>
          <p:cNvPr id="2" name="">
            <a:extLst xmlns:a="http://schemas.openxmlformats.org/drawingml/2006/main">
              <a:ext uri="{FF2B5EF4-FFF2-40B4-BE49-F238E27FC236}">
                <a16:creationId xmlns:a16="http://schemas.microsoft.com/office/drawing/2014/main" id="{3E4E76D6-B89C-42CB-94FA-02CE608B1665}"/>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787EC948-F0E6-4276-A7AE-46A946030D3A}"/>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Observe and diagnose</a:t>
            </a:r>
          </a:p>
        </p:txBody>
      </p:sp>
      <p:sp>
        <p:nvSpPr>
          <p:cNvPr id="4" name="">
            <a:extLst xmlns:a="http://schemas.openxmlformats.org/drawingml/2006/main">
              <a:ext uri="{FF2B5EF4-FFF2-40B4-BE49-F238E27FC236}">
                <a16:creationId xmlns:a16="http://schemas.microsoft.com/office/drawing/2014/main" id="{70A2091F-CB8F-457F-9E0F-0B017A37889D}"/>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Read the trace and identify the missing information, action or check.</a:t>
            </a:r>
          </a:p>
        </p:txBody>
      </p:sp>
      <p:sp>
        <p:nvSpPr>
          <p:cNvPr id="5" name="">
            <a:extLst xmlns:a="http://schemas.openxmlformats.org/drawingml/2006/main">
              <a:ext uri="{FF2B5EF4-FFF2-40B4-BE49-F238E27FC236}">
                <a16:creationId xmlns:a16="http://schemas.microsoft.com/office/drawing/2014/main" id="{CDCA4A3F-1C11-4A26-B807-0EDF7EC57CF7}"/>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Encode a durable change</a:t>
            </a:r>
          </a:p>
        </p:txBody>
      </p:sp>
      <p:sp>
        <p:nvSpPr>
          <p:cNvPr id="6" name="">
            <a:extLst xmlns:a="http://schemas.openxmlformats.org/drawingml/2006/main">
              <a:ext uri="{FF2B5EF4-FFF2-40B4-BE49-F238E27FC236}">
                <a16:creationId xmlns:a16="http://schemas.microsoft.com/office/drawing/2014/main" id="{2AF41DA8-E18E-494E-981B-BF586B8E7462}"/>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Update a rule, tool, project document, test or runtime control.</a:t>
            </a:r>
          </a:p>
        </p:txBody>
      </p:sp>
      <p:sp>
        <p:nvSpPr>
          <p:cNvPr id="7" name="">
            <a:extLst xmlns:a="http://schemas.openxmlformats.org/drawingml/2006/main">
              <a:ext uri="{FF2B5EF4-FFF2-40B4-BE49-F238E27FC236}">
                <a16:creationId xmlns:a16="http://schemas.microsoft.com/office/drawing/2014/main" id="{FF8D5F5E-D91F-40EF-9569-07DF1853A545}"/>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Measure and revise</a:t>
            </a:r>
          </a:p>
        </p:txBody>
      </p:sp>
      <p:sp>
        <p:nvSpPr>
          <p:cNvPr id="8" name="">
            <a:extLst xmlns:a="http://schemas.openxmlformats.org/drawingml/2006/main">
              <a:ext uri="{FF2B5EF4-FFF2-40B4-BE49-F238E27FC236}">
                <a16:creationId xmlns:a16="http://schemas.microsoft.com/office/drawing/2014/main" id="{A74CB50D-C8FF-4841-BE27-B27201996EED}"/>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Re-run comparable tasks and check quality, overhead and new failure modes.</a:t>
            </a:r>
          </a:p>
        </p:txBody>
      </p:sp>
    </p:spTree>
    <p:extLst>
      <p:ext uri="{BB962C8B-B14F-4D97-AF65-F5344CB8AC3E}">
        <p14:creationId xmlns:p14="http://schemas.microsoft.com/office/powerpoint/2010/main" val="1699634078"/>
      </p:ext>
    </p:extLst>
  </p:cSld>
</p:sld>
</file>

<file path=ppt/slides/slide18.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F7E4B6-6233-4824-BA49-5C099874F839}"/>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Examples from engineering teams</a:t>
            </a:r>
          </a:p>
        </p:txBody>
      </p:sp>
      <p:sp>
        <p:nvSpPr>
          <p:cNvPr id="2" name="">
            <a:extLst xmlns:a="http://schemas.openxmlformats.org/drawingml/2006/main">
              <a:ext uri="{FF2B5EF4-FFF2-40B4-BE49-F238E27FC236}">
                <a16:creationId xmlns:a16="http://schemas.microsoft.com/office/drawing/2014/main" id="{65565902-4D15-4416-B594-422752AC75A9}"/>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F3F81A59-5A37-4114-8D7C-36EC4EB8FD3E}"/>
              </a:ext>
            </a:extLst>
          </p:cNvPr>
          <p:cNvSpPr>
            <a:spLocks xmlns:a="http://schemas.openxmlformats.org/drawingml/2006/main" noGrp="1"/>
          </p:cNvSpPr>
          <p:nvPr/>
        </p:nvSpPr>
        <p:spPr>
          <a:xfrm xmlns:a="http://schemas.openxmlformats.org/drawingml/2006/main">
            <a:off x="666750" y="182880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4B91"/>
                </a:solidFill>
                <a:latin typeface="Arial"/>
                <a:ea typeface="Arial"/>
                <a:cs typeface="Arial"/>
              </a:defRPr>
            </a:defPPr>
            <a:lvl1pPr>
              <a:defRPr sz="2550" b="1">
                <a:solidFill>
                  <a:srgbClr val="174B91"/>
                </a:solidFill>
                <a:latin typeface="Arial"/>
                <a:ea typeface="Arial"/>
                <a:cs typeface="Arial"/>
              </a:defRPr>
            </a:lvl1pPr>
            <a:lvl2pPr>
              <a:defRPr sz="2550" b="1">
                <a:solidFill>
                  <a:srgbClr val="174B91"/>
                </a:solidFill>
                <a:latin typeface="Arial"/>
                <a:ea typeface="Arial"/>
                <a:cs typeface="Arial"/>
              </a:defRPr>
            </a:lvl2pPr>
            <a:lvl3pPr>
              <a:defRPr sz="2550" b="1">
                <a:solidFill>
                  <a:srgbClr val="174B91"/>
                </a:solidFill>
                <a:latin typeface="Arial"/>
                <a:ea typeface="Arial"/>
                <a:cs typeface="Arial"/>
              </a:defRPr>
            </a:lvl3pPr>
            <a:lvl4pPr>
              <a:defRPr sz="2550" b="1">
                <a:solidFill>
                  <a:srgbClr val="174B91"/>
                </a:solidFill>
                <a:latin typeface="Arial"/>
                <a:ea typeface="Arial"/>
                <a:cs typeface="Arial"/>
              </a:defRPr>
            </a:lvl4pPr>
            <a:lvl5pPr>
              <a:defRPr sz="2550" b="1">
                <a:solidFill>
                  <a:srgbClr val="174B91"/>
                </a:solidFill>
                <a:latin typeface="Arial"/>
                <a:ea typeface="Arial"/>
                <a:cs typeface="Arial"/>
              </a:defRPr>
            </a:lvl5pPr>
            <a:lvl6pPr>
              <a:defRPr sz="2550" b="1">
                <a:solidFill>
                  <a:srgbClr val="174B91"/>
                </a:solidFill>
                <a:latin typeface="Arial"/>
                <a:ea typeface="Arial"/>
                <a:cs typeface="Arial"/>
              </a:defRPr>
            </a:lvl6pPr>
            <a:lvl7pPr>
              <a:defRPr sz="2550" b="1">
                <a:solidFill>
                  <a:srgbClr val="174B91"/>
                </a:solidFill>
                <a:latin typeface="Arial"/>
                <a:ea typeface="Arial"/>
                <a:cs typeface="Arial"/>
              </a:defRPr>
            </a:lvl7pPr>
            <a:lvl8pPr>
              <a:defRPr sz="2550" b="1">
                <a:solidFill>
                  <a:srgbClr val="174B91"/>
                </a:solidFill>
                <a:latin typeface="Arial"/>
                <a:ea typeface="Arial"/>
                <a:cs typeface="Arial"/>
              </a:defRPr>
            </a:lvl8pPr>
            <a:lvl9pPr>
              <a:defRPr sz="2550" b="1">
                <a:solidFill>
                  <a:srgbClr val="174B91"/>
                </a:solidFill>
                <a:latin typeface="Arial"/>
                <a:ea typeface="Arial"/>
                <a:cs typeface="Arial"/>
              </a:defRPr>
            </a:lvl9pPr>
          </a:lstStyle>
          <a:p xmlns:a="http://schemas.openxmlformats.org/drawingml/2006/main">
            <a:pPr>
              <a:defRPr sz="2550" b="1">
                <a:solidFill>
                  <a:srgbClr val="174B91"/>
                </a:solidFill>
                <a:latin typeface="Arial"/>
                <a:ea typeface="Arial"/>
                <a:cs typeface="Arial"/>
              </a:defRPr>
            </a:pPr>
            <a:r>
              <a:rPr sz="2550" b="1">
                <a:solidFill>
                  <a:srgbClr val="174B91"/>
                </a:solidFill>
                <a:latin typeface="Arial"/>
                <a:ea typeface="Arial"/>
                <a:cs typeface="Arial"/>
              </a:rPr>
              <a:t>Anthropic</a:t>
            </a:r>
          </a:p>
        </p:txBody>
      </p:sp>
      <p:sp>
        <p:nvSpPr>
          <p:cNvPr id="4" name="">
            <a:extLst xmlns:a="http://schemas.openxmlformats.org/drawingml/2006/main">
              <a:ext uri="{FF2B5EF4-FFF2-40B4-BE49-F238E27FC236}">
                <a16:creationId xmlns:a16="http://schemas.microsoft.com/office/drawing/2014/main" id="{415556FB-0759-4D21-89A5-01854772252A}"/>
              </a:ext>
            </a:extLst>
          </p:cNvPr>
          <p:cNvSpPr>
            <a:spLocks xmlns:a="http://schemas.openxmlformats.org/drawingml/2006/main" noGrp="1"/>
          </p:cNvSpPr>
          <p:nvPr/>
        </p:nvSpPr>
        <p:spPr>
          <a:xfrm xmlns:a="http://schemas.openxmlformats.org/drawingml/2006/main">
            <a:off x="666750" y="2571750"/>
            <a:ext cx="48577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An initializer prepares the environment. Coding sessions leave progress artifacts and Git history for the next session.</a:t>
            </a:r>
          </a:p>
        </p:txBody>
      </p:sp>
      <p:sp>
        <p:nvSpPr>
          <p:cNvPr id="5" name="">
            <a:extLst xmlns:a="http://schemas.openxmlformats.org/drawingml/2006/main">
              <a:ext uri="{FF2B5EF4-FFF2-40B4-BE49-F238E27FC236}">
                <a16:creationId xmlns:a16="http://schemas.microsoft.com/office/drawing/2014/main" id="{7B94DB3D-E191-4BDA-97E4-BEF64E5B2C1A}"/>
              </a:ext>
            </a:extLst>
          </p:cNvPr>
          <p:cNvSpPr>
            <a:spLocks xmlns:a="http://schemas.openxmlformats.org/drawingml/2006/main" noGrp="1"/>
          </p:cNvSpPr>
          <p:nvPr/>
        </p:nvSpPr>
        <p:spPr>
          <a:xfrm xmlns:a="http://schemas.openxmlformats.org/drawingml/2006/main">
            <a:off x="6477000" y="182880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74B91"/>
                </a:solidFill>
                <a:latin typeface="Arial"/>
                <a:ea typeface="Arial"/>
                <a:cs typeface="Arial"/>
              </a:defRPr>
            </a:defPPr>
            <a:lvl1pPr>
              <a:defRPr sz="2550" b="1">
                <a:solidFill>
                  <a:srgbClr val="174B91"/>
                </a:solidFill>
                <a:latin typeface="Arial"/>
                <a:ea typeface="Arial"/>
                <a:cs typeface="Arial"/>
              </a:defRPr>
            </a:lvl1pPr>
            <a:lvl2pPr>
              <a:defRPr sz="2550" b="1">
                <a:solidFill>
                  <a:srgbClr val="174B91"/>
                </a:solidFill>
                <a:latin typeface="Arial"/>
                <a:ea typeface="Arial"/>
                <a:cs typeface="Arial"/>
              </a:defRPr>
            </a:lvl2pPr>
            <a:lvl3pPr>
              <a:defRPr sz="2550" b="1">
                <a:solidFill>
                  <a:srgbClr val="174B91"/>
                </a:solidFill>
                <a:latin typeface="Arial"/>
                <a:ea typeface="Arial"/>
                <a:cs typeface="Arial"/>
              </a:defRPr>
            </a:lvl3pPr>
            <a:lvl4pPr>
              <a:defRPr sz="2550" b="1">
                <a:solidFill>
                  <a:srgbClr val="174B91"/>
                </a:solidFill>
                <a:latin typeface="Arial"/>
                <a:ea typeface="Arial"/>
                <a:cs typeface="Arial"/>
              </a:defRPr>
            </a:lvl4pPr>
            <a:lvl5pPr>
              <a:defRPr sz="2550" b="1">
                <a:solidFill>
                  <a:srgbClr val="174B91"/>
                </a:solidFill>
                <a:latin typeface="Arial"/>
                <a:ea typeface="Arial"/>
                <a:cs typeface="Arial"/>
              </a:defRPr>
            </a:lvl5pPr>
            <a:lvl6pPr>
              <a:defRPr sz="2550" b="1">
                <a:solidFill>
                  <a:srgbClr val="174B91"/>
                </a:solidFill>
                <a:latin typeface="Arial"/>
                <a:ea typeface="Arial"/>
                <a:cs typeface="Arial"/>
              </a:defRPr>
            </a:lvl6pPr>
            <a:lvl7pPr>
              <a:defRPr sz="2550" b="1">
                <a:solidFill>
                  <a:srgbClr val="174B91"/>
                </a:solidFill>
                <a:latin typeface="Arial"/>
                <a:ea typeface="Arial"/>
                <a:cs typeface="Arial"/>
              </a:defRPr>
            </a:lvl7pPr>
            <a:lvl8pPr>
              <a:defRPr sz="2550" b="1">
                <a:solidFill>
                  <a:srgbClr val="174B91"/>
                </a:solidFill>
                <a:latin typeface="Arial"/>
                <a:ea typeface="Arial"/>
                <a:cs typeface="Arial"/>
              </a:defRPr>
            </a:lvl8pPr>
            <a:lvl9pPr>
              <a:defRPr sz="2550" b="1">
                <a:solidFill>
                  <a:srgbClr val="174B91"/>
                </a:solidFill>
                <a:latin typeface="Arial"/>
                <a:ea typeface="Arial"/>
                <a:cs typeface="Arial"/>
              </a:defRPr>
            </a:lvl9pPr>
          </a:lstStyle>
          <a:p xmlns:a="http://schemas.openxmlformats.org/drawingml/2006/main">
            <a:pPr>
              <a:defRPr sz="2550" b="1">
                <a:solidFill>
                  <a:srgbClr val="174B91"/>
                </a:solidFill>
                <a:latin typeface="Arial"/>
                <a:ea typeface="Arial"/>
                <a:cs typeface="Arial"/>
              </a:defRPr>
            </a:pPr>
            <a:r>
              <a:rPr sz="2550" b="1">
                <a:solidFill>
                  <a:srgbClr val="174B91"/>
                </a:solidFill>
                <a:latin typeface="Arial"/>
                <a:ea typeface="Arial"/>
                <a:cs typeface="Arial"/>
              </a:rPr>
              <a:t>OpenAI</a:t>
            </a:r>
          </a:p>
        </p:txBody>
      </p:sp>
      <p:sp>
        <p:nvSpPr>
          <p:cNvPr id="6" name="">
            <a:extLst xmlns:a="http://schemas.openxmlformats.org/drawingml/2006/main">
              <a:ext uri="{FF2B5EF4-FFF2-40B4-BE49-F238E27FC236}">
                <a16:creationId xmlns:a16="http://schemas.microsoft.com/office/drawing/2014/main" id="{577692A5-FADD-4143-8641-E6CD6DF75D7C}"/>
              </a:ext>
            </a:extLst>
          </p:cNvPr>
          <p:cNvSpPr>
            <a:spLocks xmlns:a="http://schemas.openxmlformats.org/drawingml/2006/main" noGrp="1"/>
          </p:cNvSpPr>
          <p:nvPr/>
        </p:nvSpPr>
        <p:spPr>
          <a:xfrm xmlns:a="http://schemas.openxmlformats.org/drawingml/2006/main">
            <a:off x="6477000" y="2571750"/>
            <a:ext cx="48577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An internal project used repository documentation, enforced architecture and agent-accessible feedback to support coding work.</a:t>
            </a:r>
          </a:p>
        </p:txBody>
      </p:sp>
      <p:sp>
        <p:nvSpPr>
          <p:cNvPr id="7" name="">
            <a:extLst xmlns:a="http://schemas.openxmlformats.org/drawingml/2006/main">
              <a:ext uri="{FF2B5EF4-FFF2-40B4-BE49-F238E27FC236}">
                <a16:creationId xmlns:a16="http://schemas.microsoft.com/office/drawing/2014/main" id="{ADDD02F3-65CB-4222-AB5F-2CF082BA6CE5}"/>
              </a:ext>
            </a:extLst>
          </p:cNvPr>
          <p:cNvSpPr>
            <a:spLocks xmlns:a="http://schemas.openxmlformats.org/drawingml/2006/main" noGrp="1"/>
          </p:cNvSpPr>
          <p:nvPr/>
        </p:nvSpPr>
        <p:spPr>
          <a:xfrm xmlns:a="http://schemas.openxmlformats.org/drawingml/2006/main">
            <a:off x="666750" y="55245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Shared lesson: the working environment needs deliberate engineering.</a:t>
            </a:r>
          </a:p>
        </p:txBody>
      </p:sp>
    </p:spTree>
    <p:extLst>
      <p:ext uri="{BB962C8B-B14F-4D97-AF65-F5344CB8AC3E}">
        <p14:creationId xmlns:p14="http://schemas.microsoft.com/office/powerpoint/2010/main" val="963835160"/>
      </p:ext>
    </p:extLst>
  </p:cSld>
</p:sld>
</file>

<file path=ppt/slides/slide19.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1D98819-5910-4EA8-AFF4-1BDBFA1F9BE3}"/>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Failures and useful controls</a:t>
            </a:r>
          </a:p>
        </p:txBody>
      </p:sp>
      <p:sp>
        <p:nvSpPr>
          <p:cNvPr id="2" name="">
            <a:extLst xmlns:a="http://schemas.openxmlformats.org/drawingml/2006/main">
              <a:ext uri="{FF2B5EF4-FFF2-40B4-BE49-F238E27FC236}">
                <a16:creationId xmlns:a16="http://schemas.microsoft.com/office/drawing/2014/main" id="{753B8BF4-E2E5-4B28-84E4-72D1DCF81DA7}"/>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19</a:t>
            </a:r>
          </a:p>
        </p:txBody>
      </p:sp>
      <p:graphicFrame>
        <p:nvGraphicFramePr>
          <p:cNvPr id="3" name="">
            <a:extLst xmlns:a="http://schemas.openxmlformats.org/drawingml/2006/main">
              <a:ext uri="{FF2B5EF4-FFF2-40B4-BE49-F238E27FC236}">
                <a16:creationId xmlns:a16="http://schemas.microsoft.com/office/drawing/2014/main" id="{209ABB57-EC9F-49D5-AD95-0AC97F728F51}"/>
              </a:ext>
            </a:extLst>
          </p:cNvPr>
          <p:cNvGraphicFramePr/>
          <p:nvPr/>
        </p:nvGraphicFramePr>
        <p:xfrm>
          <a:off xmlns:a="http://schemas.openxmlformats.org/drawingml/2006/main" x="619125" y="1733550"/>
          <a:ext xmlns:a="http://schemas.openxmlformats.org/drawingml/2006/main" cx="10953750" cy="4000500"/>
        </p:xfrm>
        <a:graphic xmlns:a="http://schemas.openxmlformats.org/drawingml/2006/main">
          <a:graphicData uri="http://schemas.openxmlformats.org/drawingml/2006/table">
            <a:tbl>
              <a:tblPr/>
              <a:tblGrid>
                <a:gridCol w="5476875"/>
                <a:gridCol w="5476875"/>
              </a:tblGrid>
              <a:tr h="666750">
                <a:tc>
                  <a:txBody>
                    <a:bodyPr/>
                    <a:lstStyle/>
                    <a:p>
                      <a:r>
                        <a:rPr sz="1875" b="1">
                          <a:solidFill>
                            <a:srgbClr val="FFFFFF"/>
                          </a:solidFill>
                          <a:latin typeface="Arial"/>
                          <a:ea typeface="Arial"/>
                          <a:cs typeface="Arial"/>
                        </a:rPr>
                        <a:t>Observed failure</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875" b="1">
                          <a:solidFill>
                            <a:srgbClr val="FFFFFF"/>
                          </a:solidFill>
                          <a:latin typeface="Arial"/>
                          <a:ea typeface="Arial"/>
                          <a:cs typeface="Arial"/>
                        </a:rPr>
                        <a:t>Candidate control</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666750">
                <a:tc>
                  <a:txBody>
                    <a:bodyPr/>
                    <a:lstStyle/>
                    <a:p>
                      <a:r>
                        <a:rPr sz="1875" b="0">
                          <a:solidFill>
                            <a:srgbClr val="174535"/>
                          </a:solidFill>
                          <a:latin typeface="Arial"/>
                          <a:ea typeface="Arial"/>
                          <a:cs typeface="Arial"/>
                        </a:rPr>
                        <a:t>Repeated investigation after restart</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Saved progress and revision evidence</a:t>
                      </a:r>
                    </a:p>
                  </a:txBody>
                  <a:tcPr marL="91440" marR="91440" marT="45720" marB="45720">
                    <a:lnR w="9525">
                      <a:solidFill>
                        <a:srgbClr val="D4DDD5"/>
                      </a:solidFill>
                    </a:lnR>
                    <a:lnB w="9525">
                      <a:solidFill>
                        <a:srgbClr val="D4DDD5"/>
                      </a:solidFill>
                    </a:lnB>
                    <a:solidFill>
                      <a:srgbClr val="FFFFFF"/>
                    </a:solidFill>
                  </a:tcPr>
                </a:tc>
              </a:tr>
              <a:tr h="666750">
                <a:tc>
                  <a:txBody>
                    <a:bodyPr/>
                    <a:lstStyle/>
                    <a:p>
                      <a:r>
                        <a:rPr sz="1875" b="0">
                          <a:solidFill>
                            <a:srgbClr val="174535"/>
                          </a:solidFill>
                          <a:latin typeface="Arial"/>
                          <a:ea typeface="Arial"/>
                          <a:cs typeface="Arial"/>
                        </a:rPr>
                        <a:t>Completion with a broken behavior</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Protected tests and a completion gate</a:t>
                      </a:r>
                    </a:p>
                  </a:txBody>
                  <a:tcPr marL="91440" marR="91440" marT="45720" marB="45720">
                    <a:lnR w="9525">
                      <a:solidFill>
                        <a:srgbClr val="D4DDD5"/>
                      </a:solidFill>
                    </a:lnR>
                    <a:lnB w="9525">
                      <a:solidFill>
                        <a:srgbClr val="D4DDD5"/>
                      </a:solidFill>
                    </a:lnB>
                    <a:solidFill>
                      <a:srgbClr val="EEF2EA"/>
                    </a:solidFill>
                  </a:tcPr>
                </a:tc>
              </a:tr>
              <a:tr h="666750">
                <a:tc>
                  <a:txBody>
                    <a:bodyPr/>
                    <a:lstStyle/>
                    <a:p>
                      <a:r>
                        <a:rPr sz="1875" b="0">
                          <a:solidFill>
                            <a:srgbClr val="174535"/>
                          </a:solidFill>
                          <a:latin typeface="Arial"/>
                          <a:ea typeface="Arial"/>
                          <a:cs typeface="Arial"/>
                        </a:rPr>
                        <a:t>Too much irrelevant context</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Selective loading and compact tool output</a:t>
                      </a:r>
                    </a:p>
                  </a:txBody>
                  <a:tcPr marL="91440" marR="91440" marT="45720" marB="45720">
                    <a:lnR w="9525">
                      <a:solidFill>
                        <a:srgbClr val="D4DDD5"/>
                      </a:solidFill>
                    </a:lnR>
                    <a:lnB w="9525">
                      <a:solidFill>
                        <a:srgbClr val="D4DDD5"/>
                      </a:solidFill>
                    </a:lnB>
                    <a:solidFill>
                      <a:srgbClr val="FFFFFF"/>
                    </a:solidFill>
                  </a:tcPr>
                </a:tc>
              </a:tr>
              <a:tr h="666750">
                <a:tc>
                  <a:txBody>
                    <a:bodyPr/>
                    <a:lstStyle/>
                    <a:p>
                      <a:r>
                        <a:rPr sz="1875" b="0">
                          <a:solidFill>
                            <a:srgbClr val="174535"/>
                          </a:solidFill>
                          <a:latin typeface="Arial"/>
                          <a:ea typeface="Arial"/>
                          <a:cs typeface="Arial"/>
                        </a:rPr>
                        <a:t>Unwanted publication</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75" b="0">
                          <a:solidFill>
                            <a:srgbClr val="174535"/>
                          </a:solidFill>
                          <a:latin typeface="Arial"/>
                          <a:ea typeface="Arial"/>
                          <a:cs typeface="Arial"/>
                        </a:rPr>
                        <a:t>Revision-bound approval</a:t>
                      </a:r>
                    </a:p>
                  </a:txBody>
                  <a:tcPr marL="91440" marR="91440" marT="45720" marB="45720">
                    <a:lnR w="9525">
                      <a:solidFill>
                        <a:srgbClr val="D4DDD5"/>
                      </a:solidFill>
                    </a:lnR>
                    <a:lnB w="9525">
                      <a:solidFill>
                        <a:srgbClr val="D4DDD5"/>
                      </a:solidFill>
                    </a:lnB>
                    <a:solidFill>
                      <a:srgbClr val="EEF2EA"/>
                    </a:solidFill>
                  </a:tcPr>
                </a:tc>
              </a:tr>
              <a:tr h="666750">
                <a:tc>
                  <a:txBody>
                    <a:bodyPr/>
                    <a:lstStyle/>
                    <a:p>
                      <a:r>
                        <a:rPr sz="1875" b="0">
                          <a:solidFill>
                            <a:srgbClr val="174535"/>
                          </a:solidFill>
                          <a:latin typeface="Arial"/>
                          <a:ea typeface="Arial"/>
                          <a:cs typeface="Arial"/>
                        </a:rPr>
                        <a:t>Conflicting changes across agents</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75" b="0">
                          <a:solidFill>
                            <a:srgbClr val="174535"/>
                          </a:solidFill>
                          <a:latin typeface="Arial"/>
                          <a:ea typeface="Arial"/>
                          <a:cs typeface="Arial"/>
                        </a:rPr>
                        <a:t>Ownership and handoff rules</a:t>
                      </a:r>
                    </a:p>
                  </a:txBody>
                  <a:tcPr marL="91440" marR="91440" marT="45720" marB="45720">
                    <a:lnR w="9525">
                      <a:solidFill>
                        <a:srgbClr val="D4DDD5"/>
                      </a:solidFill>
                    </a:lnR>
                    <a:lnB w="9525">
                      <a:solidFill>
                        <a:srgbClr val="D4DDD5"/>
                      </a:solidFill>
                    </a:lnB>
                    <a:solidFill>
                      <a:srgbClr val="FFFFFF"/>
                    </a:solidFill>
                  </a:tcPr>
                </a:tc>
              </a:tr>
            </a:tbl>
          </a:graphicData>
        </a:graphic>
      </p:graphicFrame>
    </p:spTree>
    <p:extLst>
      <p:ext uri="{BB962C8B-B14F-4D97-AF65-F5344CB8AC3E}">
        <p14:creationId xmlns:p14="http://schemas.microsoft.com/office/powerpoint/2010/main" val="362552723"/>
      </p:ext>
    </p:extLst>
  </p:cSld>
</p:sld>
</file>

<file path=ppt/slides/slide20.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E4E8D8-98C0-4BFC-A1E2-C502FC75DDDC}"/>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Design principles</a:t>
            </a:r>
          </a:p>
        </p:txBody>
      </p:sp>
      <p:sp>
        <p:nvSpPr>
          <p:cNvPr id="2" name="">
            <a:extLst xmlns:a="http://schemas.openxmlformats.org/drawingml/2006/main">
              <a:ext uri="{FF2B5EF4-FFF2-40B4-BE49-F238E27FC236}">
                <a16:creationId xmlns:a16="http://schemas.microsoft.com/office/drawing/2014/main" id="{26BE0D3D-598F-4C55-B0B6-719322480857}"/>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20</a:t>
            </a:r>
          </a:p>
        </p:txBody>
      </p:sp>
      <p:sp>
        <p:nvSpPr>
          <p:cNvPr id="3" name="">
            <a:extLst xmlns:a="http://schemas.openxmlformats.org/drawingml/2006/main">
              <a:ext uri="{FF2B5EF4-FFF2-40B4-BE49-F238E27FC236}">
                <a16:creationId xmlns:a16="http://schemas.microsoft.com/office/drawing/2014/main" id="{24AB4144-F2FB-4EBE-8FA3-3D28CA39BDD5}"/>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Start with a useful, small workflow</a:t>
            </a:r>
          </a:p>
        </p:txBody>
      </p:sp>
      <p:sp>
        <p:nvSpPr>
          <p:cNvPr id="4" name="">
            <a:extLst xmlns:a="http://schemas.openxmlformats.org/drawingml/2006/main">
              <a:ext uri="{FF2B5EF4-FFF2-40B4-BE49-F238E27FC236}">
                <a16:creationId xmlns:a16="http://schemas.microsoft.com/office/drawing/2014/main" id="{0BB81947-0112-4454-A7D5-A145D9929B9B}"/>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Add components in response to observed needs.</a:t>
            </a:r>
          </a:p>
        </p:txBody>
      </p:sp>
      <p:sp>
        <p:nvSpPr>
          <p:cNvPr id="5" name="">
            <a:extLst xmlns:a="http://schemas.openxmlformats.org/drawingml/2006/main">
              <a:ext uri="{FF2B5EF4-FFF2-40B4-BE49-F238E27FC236}">
                <a16:creationId xmlns:a16="http://schemas.microsoft.com/office/drawing/2014/main" id="{576D6DE7-5C25-4482-805E-6CAB040810C1}"/>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Make knowledge and acceptance explicit</a:t>
            </a:r>
          </a:p>
        </p:txBody>
      </p:sp>
      <p:sp>
        <p:nvSpPr>
          <p:cNvPr id="6" name="">
            <a:extLst xmlns:a="http://schemas.openxmlformats.org/drawingml/2006/main">
              <a:ext uri="{FF2B5EF4-FFF2-40B4-BE49-F238E27FC236}">
                <a16:creationId xmlns:a16="http://schemas.microsoft.com/office/drawing/2014/main" id="{C2C3203A-883D-4281-A71A-83DEB46F8E8D}"/>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Keep project rules accessible and checks executable.</a:t>
            </a:r>
          </a:p>
        </p:txBody>
      </p:sp>
      <p:sp>
        <p:nvSpPr>
          <p:cNvPr id="7" name="">
            <a:extLst xmlns:a="http://schemas.openxmlformats.org/drawingml/2006/main">
              <a:ext uri="{FF2B5EF4-FFF2-40B4-BE49-F238E27FC236}">
                <a16:creationId xmlns:a16="http://schemas.microsoft.com/office/drawing/2014/main" id="{79681A68-0DFD-4581-885B-D1845163AEC9}"/>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Keep feedback actionable and review changes</a:t>
            </a:r>
          </a:p>
        </p:txBody>
      </p:sp>
      <p:sp>
        <p:nvSpPr>
          <p:cNvPr id="8" name="">
            <a:extLst xmlns:a="http://schemas.openxmlformats.org/drawingml/2006/main">
              <a:ext uri="{FF2B5EF4-FFF2-40B4-BE49-F238E27FC236}">
                <a16:creationId xmlns:a16="http://schemas.microsoft.com/office/drawing/2014/main" id="{CFB3F615-68C6-469E-9B32-3372865E60EC}"/>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Measure overhead and re-audit scaffolding as models improve.</a:t>
            </a:r>
          </a:p>
        </p:txBody>
      </p:sp>
    </p:spTree>
    <p:extLst>
      <p:ext uri="{BB962C8B-B14F-4D97-AF65-F5344CB8AC3E}">
        <p14:creationId xmlns:p14="http://schemas.microsoft.com/office/powerpoint/2010/main" val="2077243309"/>
      </p:ext>
    </p:extLst>
  </p:cSld>
</p:sld>
</file>

<file path=ppt/slides/slide21.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4239745-406B-46BF-8354-8A68FD8999F3}"/>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Demo: the disappearing draft</a:t>
            </a:r>
          </a:p>
        </p:txBody>
      </p:sp>
      <p:sp>
        <p:nvSpPr>
          <p:cNvPr id="2" name="">
            <a:extLst xmlns:a="http://schemas.openxmlformats.org/drawingml/2006/main">
              <a:ext uri="{FF2B5EF4-FFF2-40B4-BE49-F238E27FC236}">
                <a16:creationId xmlns:a16="http://schemas.microsoft.com/office/drawing/2014/main" id="{B42EC5DF-07B1-4780-9C4A-46F983F196B0}"/>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21</a:t>
            </a:r>
          </a:p>
        </p:txBody>
      </p:sp>
      <p:sp>
        <p:nvSpPr>
          <p:cNvPr id="3" name="">
            <a:extLst xmlns:a="http://schemas.openxmlformats.org/drawingml/2006/main">
              <a:ext uri="{FF2B5EF4-FFF2-40B4-BE49-F238E27FC236}">
                <a16:creationId xmlns:a16="http://schemas.microsoft.com/office/drawing/2014/main" id="{B5227E5A-891A-4AB4-80C6-43721CB7B7D0}"/>
              </a:ext>
            </a:extLst>
          </p:cNvPr>
          <p:cNvSpPr>
            <a:spLocks xmlns:a="http://schemas.openxmlformats.org/drawingml/2006/main" noGrp="1"/>
          </p:cNvSpPr>
          <p:nvPr/>
        </p:nvSpPr>
        <p:spPr>
          <a:xfrm xmlns:a="http://schemas.openxmlformats.org/drawingml/2006/main">
            <a:off x="666750" y="1809750"/>
            <a:ext cx="619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4B91"/>
                </a:solidFill>
                <a:latin typeface="Arial"/>
                <a:ea typeface="Arial"/>
                <a:cs typeface="Arial"/>
              </a:defRPr>
            </a:defPPr>
            <a:lvl1pPr>
              <a:defRPr sz="2850" b="1">
                <a:solidFill>
                  <a:srgbClr val="174B91"/>
                </a:solidFill>
                <a:latin typeface="Arial"/>
                <a:ea typeface="Arial"/>
                <a:cs typeface="Arial"/>
              </a:defRPr>
            </a:lvl1pPr>
            <a:lvl2pPr>
              <a:defRPr sz="2850" b="1">
                <a:solidFill>
                  <a:srgbClr val="174B91"/>
                </a:solidFill>
                <a:latin typeface="Arial"/>
                <a:ea typeface="Arial"/>
                <a:cs typeface="Arial"/>
              </a:defRPr>
            </a:lvl2pPr>
            <a:lvl3pPr>
              <a:defRPr sz="2850" b="1">
                <a:solidFill>
                  <a:srgbClr val="174B91"/>
                </a:solidFill>
                <a:latin typeface="Arial"/>
                <a:ea typeface="Arial"/>
                <a:cs typeface="Arial"/>
              </a:defRPr>
            </a:lvl3pPr>
            <a:lvl4pPr>
              <a:defRPr sz="2850" b="1">
                <a:solidFill>
                  <a:srgbClr val="174B91"/>
                </a:solidFill>
                <a:latin typeface="Arial"/>
                <a:ea typeface="Arial"/>
                <a:cs typeface="Arial"/>
              </a:defRPr>
            </a:lvl4pPr>
            <a:lvl5pPr>
              <a:defRPr sz="2850" b="1">
                <a:solidFill>
                  <a:srgbClr val="174B91"/>
                </a:solidFill>
                <a:latin typeface="Arial"/>
                <a:ea typeface="Arial"/>
                <a:cs typeface="Arial"/>
              </a:defRPr>
            </a:lvl5pPr>
            <a:lvl6pPr>
              <a:defRPr sz="2850" b="1">
                <a:solidFill>
                  <a:srgbClr val="174B91"/>
                </a:solidFill>
                <a:latin typeface="Arial"/>
                <a:ea typeface="Arial"/>
                <a:cs typeface="Arial"/>
              </a:defRPr>
            </a:lvl6pPr>
            <a:lvl7pPr>
              <a:defRPr sz="2850" b="1">
                <a:solidFill>
                  <a:srgbClr val="174B91"/>
                </a:solidFill>
                <a:latin typeface="Arial"/>
                <a:ea typeface="Arial"/>
                <a:cs typeface="Arial"/>
              </a:defRPr>
            </a:lvl7pPr>
            <a:lvl8pPr>
              <a:defRPr sz="2850" b="1">
                <a:solidFill>
                  <a:srgbClr val="174B91"/>
                </a:solidFill>
                <a:latin typeface="Arial"/>
                <a:ea typeface="Arial"/>
                <a:cs typeface="Arial"/>
              </a:defRPr>
            </a:lvl8pPr>
            <a:lvl9pPr>
              <a:defRPr sz="2850" b="1">
                <a:solidFill>
                  <a:srgbClr val="174B91"/>
                </a:solidFill>
                <a:latin typeface="Arial"/>
                <a:ea typeface="Arial"/>
                <a:cs typeface="Arial"/>
              </a:defRPr>
            </a:lvl9pPr>
          </a:lstStyle>
          <a:p xmlns:a="http://schemas.openxmlformats.org/drawingml/2006/main">
            <a:pPr>
              <a:defRPr sz="2850" b="1">
                <a:solidFill>
                  <a:srgbClr val="174B91"/>
                </a:solidFill>
                <a:latin typeface="Arial"/>
                <a:ea typeface="Arial"/>
                <a:cs typeface="Arial"/>
              </a:defRPr>
            </a:pPr>
            <a:r>
              <a:rPr sz="2850" b="1">
                <a:solidFill>
                  <a:srgbClr val="174B91"/>
                </a:solidFill>
                <a:latin typeface="Arial"/>
                <a:ea typeface="Arial"/>
                <a:cs typeface="Arial"/>
              </a:rPr>
              <a:t>Pocket Notes</a:t>
            </a:r>
          </a:p>
        </p:txBody>
      </p:sp>
      <p:sp>
        <p:nvSpPr>
          <p:cNvPr id="4" name="">
            <a:extLst xmlns:a="http://schemas.openxmlformats.org/drawingml/2006/main">
              <a:ext uri="{FF2B5EF4-FFF2-40B4-BE49-F238E27FC236}">
                <a16:creationId xmlns:a16="http://schemas.microsoft.com/office/drawing/2014/main" id="{4BFC3D7B-AC05-4615-9E84-B9ED72E7D2F8}"/>
              </a:ext>
            </a:extLst>
          </p:cNvPr>
          <p:cNvSpPr>
            <a:spLocks xmlns:a="http://schemas.openxmlformats.org/drawingml/2006/main" noGrp="1"/>
          </p:cNvSpPr>
          <p:nvPr/>
        </p:nvSpPr>
        <p:spPr>
          <a:xfrm xmlns:a="http://schemas.openxmlformats.org/drawingml/2006/main">
            <a:off x="666750" y="2762250"/>
            <a:ext cx="6191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4535"/>
                </a:solidFill>
                <a:latin typeface="Arial"/>
                <a:ea typeface="Arial"/>
                <a:cs typeface="Arial"/>
              </a:defRPr>
            </a:defPPr>
            <a:lvl1pPr>
              <a:defRPr sz="2400" b="0">
                <a:solidFill>
                  <a:srgbClr val="174535"/>
                </a:solidFill>
                <a:latin typeface="Arial"/>
                <a:ea typeface="Arial"/>
                <a:cs typeface="Arial"/>
              </a:defRPr>
            </a:lvl1pPr>
            <a:lvl2pPr>
              <a:defRPr sz="2400" b="0">
                <a:solidFill>
                  <a:srgbClr val="174535"/>
                </a:solidFill>
                <a:latin typeface="Arial"/>
                <a:ea typeface="Arial"/>
                <a:cs typeface="Arial"/>
              </a:defRPr>
            </a:lvl2pPr>
            <a:lvl3pPr>
              <a:defRPr sz="2400" b="0">
                <a:solidFill>
                  <a:srgbClr val="174535"/>
                </a:solidFill>
                <a:latin typeface="Arial"/>
                <a:ea typeface="Arial"/>
                <a:cs typeface="Arial"/>
              </a:defRPr>
            </a:lvl3pPr>
            <a:lvl4pPr>
              <a:defRPr sz="2400" b="0">
                <a:solidFill>
                  <a:srgbClr val="174535"/>
                </a:solidFill>
                <a:latin typeface="Arial"/>
                <a:ea typeface="Arial"/>
                <a:cs typeface="Arial"/>
              </a:defRPr>
            </a:lvl4pPr>
            <a:lvl5pPr>
              <a:defRPr sz="2400" b="0">
                <a:solidFill>
                  <a:srgbClr val="174535"/>
                </a:solidFill>
                <a:latin typeface="Arial"/>
                <a:ea typeface="Arial"/>
                <a:cs typeface="Arial"/>
              </a:defRPr>
            </a:lvl5pPr>
            <a:lvl6pPr>
              <a:defRPr sz="2400" b="0">
                <a:solidFill>
                  <a:srgbClr val="174535"/>
                </a:solidFill>
                <a:latin typeface="Arial"/>
                <a:ea typeface="Arial"/>
                <a:cs typeface="Arial"/>
              </a:defRPr>
            </a:lvl6pPr>
            <a:lvl7pPr>
              <a:defRPr sz="2400" b="0">
                <a:solidFill>
                  <a:srgbClr val="174535"/>
                </a:solidFill>
                <a:latin typeface="Arial"/>
                <a:ea typeface="Arial"/>
                <a:cs typeface="Arial"/>
              </a:defRPr>
            </a:lvl7pPr>
            <a:lvl8pPr>
              <a:defRPr sz="2400" b="0">
                <a:solidFill>
                  <a:srgbClr val="174535"/>
                </a:solidFill>
                <a:latin typeface="Arial"/>
                <a:ea typeface="Arial"/>
                <a:cs typeface="Arial"/>
              </a:defRPr>
            </a:lvl8pPr>
            <a:lvl9pPr>
              <a:defRPr sz="2400" b="0">
                <a:solidFill>
                  <a:srgbClr val="174535"/>
                </a:solidFill>
                <a:latin typeface="Arial"/>
                <a:ea typeface="Arial"/>
                <a:cs typeface="Arial"/>
              </a:defRPr>
            </a:lvl9pPr>
          </a:lstStyle>
          <a:p xmlns:a="http://schemas.openxmlformats.org/drawingml/2006/main">
            <a:pPr>
              <a:defRPr sz="2400" b="0">
                <a:solidFill>
                  <a:srgbClr val="174535"/>
                </a:solidFill>
                <a:latin typeface="Arial"/>
                <a:ea typeface="Arial"/>
                <a:cs typeface="Arial"/>
              </a:defRPr>
            </a:pPr>
            <a:r>
              <a:rPr sz="2400" b="0">
                <a:solidFill>
                  <a:srgbClr val="174535"/>
                </a:solidFill>
                <a:latin typeface="Arial"/>
                <a:ea typeface="Arial"/>
                <a:cs typeface="Arial"/>
              </a:rPr>
              <a:t>An unfinished draft disappears when the user changes screens or refreshes.</a:t>
            </a:r>
          </a:p>
        </p:txBody>
      </p:sp>
      <p:sp>
        <p:nvSpPr>
          <p:cNvPr id="5" name="">
            <a:extLst xmlns:a="http://schemas.openxmlformats.org/drawingml/2006/main">
              <a:ext uri="{FF2B5EF4-FFF2-40B4-BE49-F238E27FC236}">
                <a16:creationId xmlns:a16="http://schemas.microsoft.com/office/drawing/2014/main" id="{EBC14E18-CAB0-4995-B169-17FC6315E2AF}"/>
              </a:ext>
            </a:extLst>
          </p:cNvPr>
          <p:cNvSpPr>
            <a:spLocks xmlns:a="http://schemas.openxmlformats.org/drawingml/2006/main" noGrp="1"/>
          </p:cNvSpPr>
          <p:nvPr/>
        </p:nvSpPr>
        <p:spPr>
          <a:xfrm xmlns:a="http://schemas.openxmlformats.org/drawingml/2006/main">
            <a:off x="666750" y="4524375"/>
            <a:ext cx="6191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54685D"/>
                </a:solidFill>
                <a:latin typeface="Arial"/>
                <a:ea typeface="Arial"/>
                <a:cs typeface="Arial"/>
              </a:defRPr>
            </a:defPPr>
            <a:lvl1pPr>
              <a:defRPr sz="2100" b="0">
                <a:solidFill>
                  <a:srgbClr val="54685D"/>
                </a:solidFill>
                <a:latin typeface="Arial"/>
                <a:ea typeface="Arial"/>
                <a:cs typeface="Arial"/>
              </a:defRPr>
            </a:lvl1pPr>
            <a:lvl2pPr>
              <a:defRPr sz="2100" b="0">
                <a:solidFill>
                  <a:srgbClr val="54685D"/>
                </a:solidFill>
                <a:latin typeface="Arial"/>
                <a:ea typeface="Arial"/>
                <a:cs typeface="Arial"/>
              </a:defRPr>
            </a:lvl2pPr>
            <a:lvl3pPr>
              <a:defRPr sz="2100" b="0">
                <a:solidFill>
                  <a:srgbClr val="54685D"/>
                </a:solidFill>
                <a:latin typeface="Arial"/>
                <a:ea typeface="Arial"/>
                <a:cs typeface="Arial"/>
              </a:defRPr>
            </a:lvl3pPr>
            <a:lvl4pPr>
              <a:defRPr sz="2100" b="0">
                <a:solidFill>
                  <a:srgbClr val="54685D"/>
                </a:solidFill>
                <a:latin typeface="Arial"/>
                <a:ea typeface="Arial"/>
                <a:cs typeface="Arial"/>
              </a:defRPr>
            </a:lvl4pPr>
            <a:lvl5pPr>
              <a:defRPr sz="2100" b="0">
                <a:solidFill>
                  <a:srgbClr val="54685D"/>
                </a:solidFill>
                <a:latin typeface="Arial"/>
                <a:ea typeface="Arial"/>
                <a:cs typeface="Arial"/>
              </a:defRPr>
            </a:lvl5pPr>
            <a:lvl6pPr>
              <a:defRPr sz="2100" b="0">
                <a:solidFill>
                  <a:srgbClr val="54685D"/>
                </a:solidFill>
                <a:latin typeface="Arial"/>
                <a:ea typeface="Arial"/>
                <a:cs typeface="Arial"/>
              </a:defRPr>
            </a:lvl6pPr>
            <a:lvl7pPr>
              <a:defRPr sz="2100" b="0">
                <a:solidFill>
                  <a:srgbClr val="54685D"/>
                </a:solidFill>
                <a:latin typeface="Arial"/>
                <a:ea typeface="Arial"/>
                <a:cs typeface="Arial"/>
              </a:defRPr>
            </a:lvl7pPr>
            <a:lvl8pPr>
              <a:defRPr sz="2100" b="0">
                <a:solidFill>
                  <a:srgbClr val="54685D"/>
                </a:solidFill>
                <a:latin typeface="Arial"/>
                <a:ea typeface="Arial"/>
                <a:cs typeface="Arial"/>
              </a:defRPr>
            </a:lvl8pPr>
            <a:lvl9pPr>
              <a:defRPr sz="2100" b="0">
                <a:solidFill>
                  <a:srgbClr val="54685D"/>
                </a:solidFill>
                <a:latin typeface="Arial"/>
                <a:ea typeface="Arial"/>
                <a:cs typeface="Arial"/>
              </a:defRPr>
            </a:lvl9pPr>
          </a:lstStyle>
          <a:p xmlns:a="http://schemas.openxmlformats.org/drawingml/2006/main">
            <a:pPr>
              <a:defRPr sz="2100" b="0">
                <a:solidFill>
                  <a:srgbClr val="54685D"/>
                </a:solidFill>
                <a:latin typeface="Arial"/>
                <a:ea typeface="Arial"/>
                <a:cs typeface="Arial"/>
              </a:defRPr>
            </a:pPr>
            <a:r>
              <a:rPr sz="2100" b="0">
                <a:solidFill>
                  <a:srgbClr val="54685D"/>
                </a:solidFill>
                <a:latin typeface="Arial"/>
                <a:ea typeface="Arial"/>
                <a:cs typeface="Arial"/>
              </a:rPr>
              <a:t>The fix must preserve normal saving and existing notes.</a:t>
            </a:r>
          </a:p>
        </p:txBody>
      </p:sp>
      <p:pic>
        <p:nvPicPr>
          <p:cNvPr id="6" name="">
            <a:extLst xmlns:a="http://schemas.openxmlformats.org/drawingml/2006/main">
              <a:ext uri="{FF2B5EF4-FFF2-40B4-BE49-F238E27FC236}">
                <a16:creationId xmlns:a16="http://schemas.microsoft.com/office/drawing/2014/main" id="{6BDC47FE-09D1-4AE6-A044-E4D22A2D8A9F}"/>
              </a:ext>
            </a:extLst>
          </p:cNvPr>
          <p:cNvPicPr>
            <a:picLocks xmlns:a="http://schemas.openxmlformats.org/drawingml/2006/main" noChangeAspect="1"/>
          </p:cNvPicPr>
          <p:nvPr/>
        </p:nvPicPr>
        <p:blipFill>
          <a:blip xmlns:r="http://schemas.openxmlformats.org/officeDocument/2006/relationships" xmlns:a="http://schemas.openxmlformats.org/drawingml/2006/main" r:embed="R6e9f9018498d4484"/>
          <a:stretch xmlns:a="http://schemas.openxmlformats.org/drawingml/2006/main"/>
        </p:blipFill>
        <p:spPr>
          <a:xfrm xmlns:a="http://schemas.openxmlformats.org/drawingml/2006/main">
            <a:off x="8096250" y="1819235"/>
            <a:ext cx="2476500" cy="4172029"/>
          </a:xfrm>
          <a:prstGeom xmlns:a="http://schemas.openxmlformats.org/drawingml/2006/main" prst="rect">
            <a:avLst/>
          </a:prstGeom>
        </p:spPr>
      </p:pic>
    </p:spTree>
    <p:extLst>
      <p:ext uri="{BB962C8B-B14F-4D97-AF65-F5344CB8AC3E}">
        <p14:creationId xmlns:p14="http://schemas.microsoft.com/office/powerpoint/2010/main" val="131714771"/>
      </p:ext>
    </p:extLst>
  </p:cSld>
</p:sld>
</file>

<file path=ppt/slides/slide22.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97AD88F-4031-429A-A326-4D9EF977579F}"/>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Minimal: two enabled components</a:t>
            </a:r>
          </a:p>
        </p:txBody>
      </p:sp>
      <p:sp>
        <p:nvSpPr>
          <p:cNvPr id="2" name="">
            <a:extLst xmlns:a="http://schemas.openxmlformats.org/drawingml/2006/main">
              <a:ext uri="{FF2B5EF4-FFF2-40B4-BE49-F238E27FC236}">
                <a16:creationId xmlns:a16="http://schemas.microsoft.com/office/drawing/2014/main" id="{D6EB75A6-FCA4-42C7-9514-C51E21C9A089}"/>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22</a:t>
            </a:r>
          </a:p>
        </p:txBody>
      </p:sp>
      <p:pic>
        <p:nvPicPr>
          <p:cNvPr id="3" name="">
            <a:extLst xmlns:a="http://schemas.openxmlformats.org/drawingml/2006/main">
              <a:ext uri="{FF2B5EF4-FFF2-40B4-BE49-F238E27FC236}">
                <a16:creationId xmlns:a16="http://schemas.microsoft.com/office/drawing/2014/main" id="{604C8F0C-A07B-465F-B95B-501C6AB64552}"/>
              </a:ext>
            </a:extLst>
          </p:cNvPr>
          <p:cNvPicPr>
            <a:picLocks xmlns:a="http://schemas.openxmlformats.org/drawingml/2006/main" noChangeAspect="1"/>
          </p:cNvPicPr>
          <p:nvPr/>
        </p:nvPicPr>
        <p:blipFill>
          <a:blip xmlns:r="http://schemas.openxmlformats.org/officeDocument/2006/relationships" xmlns:a="http://schemas.openxmlformats.org/drawingml/2006/main" r:embed="R2fb43ad28cee4da6"/>
          <a:stretch xmlns:a="http://schemas.openxmlformats.org/drawingml/2006/main"/>
        </p:blipFill>
        <p:spPr>
          <a:xfrm xmlns:a="http://schemas.openxmlformats.org/drawingml/2006/main">
            <a:off x="609600" y="1755884"/>
            <a:ext cx="10972800" cy="163173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77F8EEF-2B71-4148-B1D7-CBD5972694A5}"/>
              </a:ext>
            </a:extLst>
          </p:cNvPr>
          <p:cNvSpPr>
            <a:spLocks xmlns:a="http://schemas.openxmlformats.org/drawingml/2006/main" noGrp="1"/>
          </p:cNvSpPr>
          <p:nvPr/>
        </p:nvSpPr>
        <p:spPr>
          <a:xfrm xmlns:a="http://schemas.openxmlformats.org/drawingml/2006/main">
            <a:off x="666750" y="39052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74B91"/>
                </a:solidFill>
                <a:latin typeface="Arial"/>
                <a:ea typeface="Arial"/>
                <a:cs typeface="Arial"/>
              </a:defRPr>
            </a:defPPr>
            <a:lvl1pPr>
              <a:defRPr sz="2475" b="1">
                <a:solidFill>
                  <a:srgbClr val="174B91"/>
                </a:solidFill>
                <a:latin typeface="Arial"/>
                <a:ea typeface="Arial"/>
                <a:cs typeface="Arial"/>
              </a:defRPr>
            </a:lvl1pPr>
            <a:lvl2pPr>
              <a:defRPr sz="2475" b="1">
                <a:solidFill>
                  <a:srgbClr val="174B91"/>
                </a:solidFill>
                <a:latin typeface="Arial"/>
                <a:ea typeface="Arial"/>
                <a:cs typeface="Arial"/>
              </a:defRPr>
            </a:lvl2pPr>
            <a:lvl3pPr>
              <a:defRPr sz="2475" b="1">
                <a:solidFill>
                  <a:srgbClr val="174B91"/>
                </a:solidFill>
                <a:latin typeface="Arial"/>
                <a:ea typeface="Arial"/>
                <a:cs typeface="Arial"/>
              </a:defRPr>
            </a:lvl3pPr>
            <a:lvl4pPr>
              <a:defRPr sz="2475" b="1">
                <a:solidFill>
                  <a:srgbClr val="174B91"/>
                </a:solidFill>
                <a:latin typeface="Arial"/>
                <a:ea typeface="Arial"/>
                <a:cs typeface="Arial"/>
              </a:defRPr>
            </a:lvl4pPr>
            <a:lvl5pPr>
              <a:defRPr sz="2475" b="1">
                <a:solidFill>
                  <a:srgbClr val="174B91"/>
                </a:solidFill>
                <a:latin typeface="Arial"/>
                <a:ea typeface="Arial"/>
                <a:cs typeface="Arial"/>
              </a:defRPr>
            </a:lvl5pPr>
            <a:lvl6pPr>
              <a:defRPr sz="2475" b="1">
                <a:solidFill>
                  <a:srgbClr val="174B91"/>
                </a:solidFill>
                <a:latin typeface="Arial"/>
                <a:ea typeface="Arial"/>
                <a:cs typeface="Arial"/>
              </a:defRPr>
            </a:lvl6pPr>
            <a:lvl7pPr>
              <a:defRPr sz="2475" b="1">
                <a:solidFill>
                  <a:srgbClr val="174B91"/>
                </a:solidFill>
                <a:latin typeface="Arial"/>
                <a:ea typeface="Arial"/>
                <a:cs typeface="Arial"/>
              </a:defRPr>
            </a:lvl7pPr>
            <a:lvl8pPr>
              <a:defRPr sz="2475" b="1">
                <a:solidFill>
                  <a:srgbClr val="174B91"/>
                </a:solidFill>
                <a:latin typeface="Arial"/>
                <a:ea typeface="Arial"/>
                <a:cs typeface="Arial"/>
              </a:defRPr>
            </a:lvl8pPr>
            <a:lvl9pPr>
              <a:defRPr sz="2475" b="1">
                <a:solidFill>
                  <a:srgbClr val="174B91"/>
                </a:solidFill>
                <a:latin typeface="Arial"/>
                <a:ea typeface="Arial"/>
                <a:cs typeface="Arial"/>
              </a:defRPr>
            </a:lvl9pPr>
          </a:lstStyle>
          <a:p xmlns:a="http://schemas.openxmlformats.org/drawingml/2006/main">
            <a:pPr>
              <a:defRPr sz="2475" b="1">
                <a:solidFill>
                  <a:srgbClr val="174B91"/>
                </a:solidFill>
                <a:latin typeface="Arial"/>
                <a:ea typeface="Arial"/>
                <a:cs typeface="Arial"/>
              </a:defRPr>
            </a:pPr>
            <a:r>
              <a:rPr sz="2475" b="1">
                <a:solidFill>
                  <a:srgbClr val="174B91"/>
                </a:solidFill>
                <a:latin typeface="Arial"/>
                <a:ea typeface="Arial"/>
                <a:cs typeface="Arial"/>
              </a:rPr>
              <a:t>The model can request actions and use real tools.</a:t>
            </a:r>
          </a:p>
        </p:txBody>
      </p:sp>
      <p:sp>
        <p:nvSpPr>
          <p:cNvPr id="5" name="">
            <a:extLst xmlns:a="http://schemas.openxmlformats.org/drawingml/2006/main">
              <a:ext uri="{FF2B5EF4-FFF2-40B4-BE49-F238E27FC236}">
                <a16:creationId xmlns:a16="http://schemas.microsoft.com/office/drawing/2014/main" id="{850A9082-B234-4AB1-A0AC-36D7992A08C1}"/>
              </a:ext>
            </a:extLst>
          </p:cNvPr>
          <p:cNvSpPr>
            <a:spLocks xmlns:a="http://schemas.openxmlformats.org/drawingml/2006/main" noGrp="1"/>
          </p:cNvSpPr>
          <p:nvPr/>
        </p:nvSpPr>
        <p:spPr>
          <a:xfrm xmlns:a="http://schemas.openxmlformats.org/drawingml/2006/main">
            <a:off x="666750" y="481012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4535"/>
                </a:solidFill>
                <a:latin typeface="Arial"/>
                <a:ea typeface="Arial"/>
                <a:cs typeface="Arial"/>
              </a:defRPr>
            </a:defPPr>
            <a:lvl1pPr>
              <a:defRPr sz="2100" b="0">
                <a:solidFill>
                  <a:srgbClr val="174535"/>
                </a:solidFill>
                <a:latin typeface="Arial"/>
                <a:ea typeface="Arial"/>
                <a:cs typeface="Arial"/>
              </a:defRPr>
            </a:lvl1pPr>
            <a:lvl2pPr>
              <a:defRPr sz="2100" b="0">
                <a:solidFill>
                  <a:srgbClr val="174535"/>
                </a:solidFill>
                <a:latin typeface="Arial"/>
                <a:ea typeface="Arial"/>
                <a:cs typeface="Arial"/>
              </a:defRPr>
            </a:lvl2pPr>
            <a:lvl3pPr>
              <a:defRPr sz="2100" b="0">
                <a:solidFill>
                  <a:srgbClr val="174535"/>
                </a:solidFill>
                <a:latin typeface="Arial"/>
                <a:ea typeface="Arial"/>
                <a:cs typeface="Arial"/>
              </a:defRPr>
            </a:lvl3pPr>
            <a:lvl4pPr>
              <a:defRPr sz="2100" b="0">
                <a:solidFill>
                  <a:srgbClr val="174535"/>
                </a:solidFill>
                <a:latin typeface="Arial"/>
                <a:ea typeface="Arial"/>
                <a:cs typeface="Arial"/>
              </a:defRPr>
            </a:lvl4pPr>
            <a:lvl5pPr>
              <a:defRPr sz="2100" b="0">
                <a:solidFill>
                  <a:srgbClr val="174535"/>
                </a:solidFill>
                <a:latin typeface="Arial"/>
                <a:ea typeface="Arial"/>
                <a:cs typeface="Arial"/>
              </a:defRPr>
            </a:lvl5pPr>
            <a:lvl6pPr>
              <a:defRPr sz="2100" b="0">
                <a:solidFill>
                  <a:srgbClr val="174535"/>
                </a:solidFill>
                <a:latin typeface="Arial"/>
                <a:ea typeface="Arial"/>
                <a:cs typeface="Arial"/>
              </a:defRPr>
            </a:lvl6pPr>
            <a:lvl7pPr>
              <a:defRPr sz="2100" b="0">
                <a:solidFill>
                  <a:srgbClr val="174535"/>
                </a:solidFill>
                <a:latin typeface="Arial"/>
                <a:ea typeface="Arial"/>
                <a:cs typeface="Arial"/>
              </a:defRPr>
            </a:lvl7pPr>
            <a:lvl8pPr>
              <a:defRPr sz="2100" b="0">
                <a:solidFill>
                  <a:srgbClr val="174535"/>
                </a:solidFill>
                <a:latin typeface="Arial"/>
                <a:ea typeface="Arial"/>
                <a:cs typeface="Arial"/>
              </a:defRPr>
            </a:lvl8pPr>
            <a:lvl9pPr>
              <a:defRPr sz="2100" b="0">
                <a:solidFill>
                  <a:srgbClr val="174535"/>
                </a:solidFill>
                <a:latin typeface="Arial"/>
                <a:ea typeface="Arial"/>
                <a:cs typeface="Arial"/>
              </a:defRPr>
            </a:lvl9pPr>
          </a:lstStyle>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No automatic project inputs, saved handoff, acceptance checks or approval.</a:t>
            </a:r>
          </a:p>
        </p:txBody>
      </p:sp>
    </p:spTree>
    <p:extLst>
      <p:ext uri="{BB962C8B-B14F-4D97-AF65-F5344CB8AC3E}">
        <p14:creationId xmlns:p14="http://schemas.microsoft.com/office/powerpoint/2010/main" val="1697135153"/>
      </p:ext>
    </p:extLst>
  </p:cSld>
</p:sld>
</file>

<file path=ppt/slides/slide23.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63A7828-A72A-43E4-9865-3CA35D4DB66B}"/>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Engineered: inputs in a real request</a:t>
            </a:r>
          </a:p>
        </p:txBody>
      </p:sp>
      <p:sp>
        <p:nvSpPr>
          <p:cNvPr id="2" name="">
            <a:extLst xmlns:a="http://schemas.openxmlformats.org/drawingml/2006/main">
              <a:ext uri="{FF2B5EF4-FFF2-40B4-BE49-F238E27FC236}">
                <a16:creationId xmlns:a16="http://schemas.microsoft.com/office/drawing/2014/main" id="{E9C33E4F-4A91-44AD-9464-5F5A4322FD16}"/>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23</a:t>
            </a:r>
          </a:p>
        </p:txBody>
      </p:sp>
      <p:pic>
        <p:nvPicPr>
          <p:cNvPr id="3" name="">
            <a:extLst xmlns:a="http://schemas.openxmlformats.org/drawingml/2006/main">
              <a:ext uri="{FF2B5EF4-FFF2-40B4-BE49-F238E27FC236}">
                <a16:creationId xmlns:a16="http://schemas.microsoft.com/office/drawing/2014/main" id="{788ECE82-40BB-45CD-81F4-9075CF538575}"/>
              </a:ext>
            </a:extLst>
          </p:cNvPr>
          <p:cNvPicPr>
            <a:picLocks xmlns:a="http://schemas.openxmlformats.org/drawingml/2006/main" noChangeAspect="1"/>
          </p:cNvPicPr>
          <p:nvPr/>
        </p:nvPicPr>
        <p:blipFill>
          <a:blip xmlns:r="http://schemas.openxmlformats.org/officeDocument/2006/relationships" xmlns:a="http://schemas.openxmlformats.org/drawingml/2006/main" r:embed="Rc4f71e880fa5414c"/>
          <a:srcRect xmlns:a="http://schemas.openxmlformats.org/drawingml/2006/main" l="1700" t="10600" r="1700" b="72100"/>
          <a:stretch xmlns:a="http://schemas.openxmlformats.org/drawingml/2006/main"/>
        </p:blipFill>
        <p:spPr>
          <a:xfrm xmlns:a="http://schemas.openxmlformats.org/drawingml/2006/main">
            <a:off x="609600" y="1666875"/>
            <a:ext cx="10972800" cy="2095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7BFD78F-C349-464B-8D67-64C92156F16F}"/>
              </a:ext>
            </a:extLst>
          </p:cNvPr>
          <p:cNvSpPr>
            <a:spLocks xmlns:a="http://schemas.openxmlformats.org/drawingml/2006/main" noGrp="1"/>
          </p:cNvSpPr>
          <p:nvPr/>
        </p:nvSpPr>
        <p:spPr>
          <a:xfrm xmlns:a="http://schemas.openxmlformats.org/drawingml/2006/main">
            <a:off x="666750" y="4333875"/>
            <a:ext cx="285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4B91"/>
                </a:solidFill>
                <a:latin typeface="Arial"/>
                <a:ea typeface="Arial"/>
                <a:cs typeface="Arial"/>
              </a:defRPr>
            </a:defPPr>
            <a:lvl1pPr>
              <a:defRPr sz="2400" b="1">
                <a:solidFill>
                  <a:srgbClr val="174B91"/>
                </a:solidFill>
                <a:latin typeface="Arial"/>
                <a:ea typeface="Arial"/>
                <a:cs typeface="Arial"/>
              </a:defRPr>
            </a:lvl1pPr>
            <a:lvl2pPr>
              <a:defRPr sz="2400" b="1">
                <a:solidFill>
                  <a:srgbClr val="174B91"/>
                </a:solidFill>
                <a:latin typeface="Arial"/>
                <a:ea typeface="Arial"/>
                <a:cs typeface="Arial"/>
              </a:defRPr>
            </a:lvl2pPr>
            <a:lvl3pPr>
              <a:defRPr sz="2400" b="1">
                <a:solidFill>
                  <a:srgbClr val="174B91"/>
                </a:solidFill>
                <a:latin typeface="Arial"/>
                <a:ea typeface="Arial"/>
                <a:cs typeface="Arial"/>
              </a:defRPr>
            </a:lvl3pPr>
            <a:lvl4pPr>
              <a:defRPr sz="2400" b="1">
                <a:solidFill>
                  <a:srgbClr val="174B91"/>
                </a:solidFill>
                <a:latin typeface="Arial"/>
                <a:ea typeface="Arial"/>
                <a:cs typeface="Arial"/>
              </a:defRPr>
            </a:lvl4pPr>
            <a:lvl5pPr>
              <a:defRPr sz="2400" b="1">
                <a:solidFill>
                  <a:srgbClr val="174B91"/>
                </a:solidFill>
                <a:latin typeface="Arial"/>
                <a:ea typeface="Arial"/>
                <a:cs typeface="Arial"/>
              </a:defRPr>
            </a:lvl5pPr>
            <a:lvl6pPr>
              <a:defRPr sz="2400" b="1">
                <a:solidFill>
                  <a:srgbClr val="174B91"/>
                </a:solidFill>
                <a:latin typeface="Arial"/>
                <a:ea typeface="Arial"/>
                <a:cs typeface="Arial"/>
              </a:defRPr>
            </a:lvl6pPr>
            <a:lvl7pPr>
              <a:defRPr sz="2400" b="1">
                <a:solidFill>
                  <a:srgbClr val="174B91"/>
                </a:solidFill>
                <a:latin typeface="Arial"/>
                <a:ea typeface="Arial"/>
                <a:cs typeface="Arial"/>
              </a:defRPr>
            </a:lvl7pPr>
            <a:lvl8pPr>
              <a:defRPr sz="2400" b="1">
                <a:solidFill>
                  <a:srgbClr val="174B91"/>
                </a:solidFill>
                <a:latin typeface="Arial"/>
                <a:ea typeface="Arial"/>
                <a:cs typeface="Arial"/>
              </a:defRPr>
            </a:lvl8pPr>
            <a:lvl9pPr>
              <a:defRPr sz="2400" b="1">
                <a:solidFill>
                  <a:srgbClr val="174B91"/>
                </a:solidFill>
                <a:latin typeface="Arial"/>
                <a:ea typeface="Arial"/>
                <a:cs typeface="Arial"/>
              </a:defRPr>
            </a:lvl9pPr>
          </a:lstStyle>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Blue</a:t>
            </a:r>
          </a:p>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Enabled</a:t>
            </a:r>
          </a:p>
        </p:txBody>
      </p:sp>
      <p:sp>
        <p:nvSpPr>
          <p:cNvPr id="5" name="">
            <a:extLst xmlns:a="http://schemas.openxmlformats.org/drawingml/2006/main">
              <a:ext uri="{FF2B5EF4-FFF2-40B4-BE49-F238E27FC236}">
                <a16:creationId xmlns:a16="http://schemas.microsoft.com/office/drawing/2014/main" id="{B8B3E2F7-C007-44B0-AF81-D96DBA8E1C9C}"/>
              </a:ext>
            </a:extLst>
          </p:cNvPr>
          <p:cNvSpPr>
            <a:spLocks xmlns:a="http://schemas.openxmlformats.org/drawingml/2006/main" noGrp="1"/>
          </p:cNvSpPr>
          <p:nvPr/>
        </p:nvSpPr>
        <p:spPr>
          <a:xfrm xmlns:a="http://schemas.openxmlformats.org/drawingml/2006/main">
            <a:off x="4476750" y="4333875"/>
            <a:ext cx="333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E87924"/>
                </a:solidFill>
                <a:latin typeface="Arial"/>
                <a:ea typeface="Arial"/>
                <a:cs typeface="Arial"/>
              </a:defRPr>
            </a:defPPr>
            <a:lvl1pPr>
              <a:defRPr sz="2250" b="1">
                <a:solidFill>
                  <a:srgbClr val="E87924"/>
                </a:solidFill>
                <a:latin typeface="Arial"/>
                <a:ea typeface="Arial"/>
                <a:cs typeface="Arial"/>
              </a:defRPr>
            </a:lvl1pPr>
            <a:lvl2pPr>
              <a:defRPr sz="2250" b="1">
                <a:solidFill>
                  <a:srgbClr val="E87924"/>
                </a:solidFill>
                <a:latin typeface="Arial"/>
                <a:ea typeface="Arial"/>
                <a:cs typeface="Arial"/>
              </a:defRPr>
            </a:lvl2pPr>
            <a:lvl3pPr>
              <a:defRPr sz="2250" b="1">
                <a:solidFill>
                  <a:srgbClr val="E87924"/>
                </a:solidFill>
                <a:latin typeface="Arial"/>
                <a:ea typeface="Arial"/>
                <a:cs typeface="Arial"/>
              </a:defRPr>
            </a:lvl3pPr>
            <a:lvl4pPr>
              <a:defRPr sz="2250" b="1">
                <a:solidFill>
                  <a:srgbClr val="E87924"/>
                </a:solidFill>
                <a:latin typeface="Arial"/>
                <a:ea typeface="Arial"/>
                <a:cs typeface="Arial"/>
              </a:defRPr>
            </a:lvl4pPr>
            <a:lvl5pPr>
              <a:defRPr sz="2250" b="1">
                <a:solidFill>
                  <a:srgbClr val="E87924"/>
                </a:solidFill>
                <a:latin typeface="Arial"/>
                <a:ea typeface="Arial"/>
                <a:cs typeface="Arial"/>
              </a:defRPr>
            </a:lvl5pPr>
            <a:lvl6pPr>
              <a:defRPr sz="2250" b="1">
                <a:solidFill>
                  <a:srgbClr val="E87924"/>
                </a:solidFill>
                <a:latin typeface="Arial"/>
                <a:ea typeface="Arial"/>
                <a:cs typeface="Arial"/>
              </a:defRPr>
            </a:lvl6pPr>
            <a:lvl7pPr>
              <a:defRPr sz="2250" b="1">
                <a:solidFill>
                  <a:srgbClr val="E87924"/>
                </a:solidFill>
                <a:latin typeface="Arial"/>
                <a:ea typeface="Arial"/>
                <a:cs typeface="Arial"/>
              </a:defRPr>
            </a:lvl7pPr>
            <a:lvl8pPr>
              <a:defRPr sz="2250" b="1">
                <a:solidFill>
                  <a:srgbClr val="E87924"/>
                </a:solidFill>
                <a:latin typeface="Arial"/>
                <a:ea typeface="Arial"/>
                <a:cs typeface="Arial"/>
              </a:defRPr>
            </a:lvl8pPr>
            <a:lvl9pPr>
              <a:defRPr sz="2250" b="1">
                <a:solidFill>
                  <a:srgbClr val="E87924"/>
                </a:solidFill>
                <a:latin typeface="Arial"/>
                <a:ea typeface="Arial"/>
                <a:cs typeface="Arial"/>
              </a:defRPr>
            </a:lvl9pPr>
          </a:lstStyle>
          <a:p xmlns:a="http://schemas.openxmlformats.org/drawingml/2006/main">
            <a:pPr>
              <a:defRPr sz="2250" b="1">
                <a:solidFill>
                  <a:srgbClr val="E87924"/>
                </a:solidFill>
                <a:latin typeface="Arial"/>
                <a:ea typeface="Arial"/>
                <a:cs typeface="Arial"/>
              </a:defRPr>
            </a:pPr>
            <a:r>
              <a:rPr sz="2250" b="1">
                <a:solidFill>
                  <a:srgbClr val="E87924"/>
                </a:solidFill>
                <a:latin typeface="Arial"/>
                <a:ea typeface="Arial"/>
                <a:cs typeface="Arial"/>
              </a:rPr>
              <a:t>Orange outline</a:t>
            </a:r>
          </a:p>
          <a:p xmlns:a="http://schemas.openxmlformats.org/drawingml/2006/main">
            <a:pPr>
              <a:defRPr sz="2250" b="1">
                <a:solidFill>
                  <a:srgbClr val="E87924"/>
                </a:solidFill>
                <a:latin typeface="Arial"/>
                <a:ea typeface="Arial"/>
                <a:cs typeface="Arial"/>
              </a:defRPr>
            </a:pPr>
            <a:r>
              <a:rPr sz="2250" b="1">
                <a:solidFill>
                  <a:srgbClr val="E87924"/>
                </a:solidFill>
                <a:latin typeface="Arial"/>
                <a:ea typeface="Arial"/>
                <a:cs typeface="Arial"/>
              </a:rPr>
              <a:t>Current action</a:t>
            </a:r>
          </a:p>
        </p:txBody>
      </p:sp>
      <p:sp>
        <p:nvSpPr>
          <p:cNvPr id="6" name="">
            <a:extLst xmlns:a="http://schemas.openxmlformats.org/drawingml/2006/main">
              <a:ext uri="{FF2B5EF4-FFF2-40B4-BE49-F238E27FC236}">
                <a16:creationId xmlns:a16="http://schemas.microsoft.com/office/drawing/2014/main" id="{01195CCA-AFC6-41CD-8D4A-7A86A9B1FD6F}"/>
              </a:ext>
            </a:extLst>
          </p:cNvPr>
          <p:cNvSpPr>
            <a:spLocks xmlns:a="http://schemas.openxmlformats.org/drawingml/2006/main" noGrp="1"/>
          </p:cNvSpPr>
          <p:nvPr/>
        </p:nvSpPr>
        <p:spPr>
          <a:xfrm xmlns:a="http://schemas.openxmlformats.org/drawingml/2006/main">
            <a:off x="8667750" y="4333875"/>
            <a:ext cx="285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Click a card</a:t>
            </a:r>
          </a:p>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Inspect evidence</a:t>
            </a:r>
          </a:p>
        </p:txBody>
      </p:sp>
    </p:spTree>
    <p:extLst>
      <p:ext uri="{BB962C8B-B14F-4D97-AF65-F5344CB8AC3E}">
        <p14:creationId xmlns:p14="http://schemas.microsoft.com/office/powerpoint/2010/main" val="1473317993"/>
      </p:ext>
    </p:extLst>
  </p:cSld>
</p:sld>
</file>

<file path=ppt/slides/slide24.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5856E0-45C2-440B-B3D7-7BFABDC3D1C2}"/>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Two different project inputs</a:t>
            </a:r>
          </a:p>
        </p:txBody>
      </p:sp>
      <p:sp>
        <p:nvSpPr>
          <p:cNvPr id="2" name="">
            <a:extLst xmlns:a="http://schemas.openxmlformats.org/drawingml/2006/main">
              <a:ext uri="{FF2B5EF4-FFF2-40B4-BE49-F238E27FC236}">
                <a16:creationId xmlns:a16="http://schemas.microsoft.com/office/drawing/2014/main" id="{615E26B8-4E0D-4957-9098-CB80B5E3347B}"/>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24</a:t>
            </a:r>
          </a:p>
        </p:txBody>
      </p:sp>
      <p:pic>
        <p:nvPicPr>
          <p:cNvPr id="3" name="">
            <a:extLst xmlns:a="http://schemas.openxmlformats.org/drawingml/2006/main">
              <a:ext uri="{FF2B5EF4-FFF2-40B4-BE49-F238E27FC236}">
                <a16:creationId xmlns:a16="http://schemas.microsoft.com/office/drawing/2014/main" id="{B64C2115-207C-4E56-8CD9-221B08145EDA}"/>
              </a:ext>
            </a:extLst>
          </p:cNvPr>
          <p:cNvPicPr>
            <a:picLocks xmlns:a="http://schemas.openxmlformats.org/drawingml/2006/main" noChangeAspect="1"/>
          </p:cNvPicPr>
          <p:nvPr/>
        </p:nvPicPr>
        <p:blipFill>
          <a:blip xmlns:r="http://schemas.openxmlformats.org/officeDocument/2006/relationships" xmlns:a="http://schemas.openxmlformats.org/drawingml/2006/main" r:embed="Re55afc55238641ea"/>
          <a:stretch xmlns:a="http://schemas.openxmlformats.org/drawingml/2006/main"/>
        </p:blipFill>
        <p:spPr>
          <a:xfrm xmlns:a="http://schemas.openxmlformats.org/drawingml/2006/main">
            <a:off x="609600" y="1909451"/>
            <a:ext cx="5286375" cy="2562847"/>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CB0E2D42-FBD8-405E-AA82-08B5AD404AD3}"/>
              </a:ext>
            </a:extLst>
          </p:cNvPr>
          <p:cNvPicPr>
            <a:picLocks xmlns:a="http://schemas.openxmlformats.org/drawingml/2006/main" noChangeAspect="1"/>
          </p:cNvPicPr>
          <p:nvPr/>
        </p:nvPicPr>
        <p:blipFill>
          <a:blip xmlns:r="http://schemas.openxmlformats.org/officeDocument/2006/relationships" xmlns:a="http://schemas.openxmlformats.org/drawingml/2006/main" r:embed="R413511f5560c4f07"/>
          <a:stretch xmlns:a="http://schemas.openxmlformats.org/drawingml/2006/main"/>
        </p:blipFill>
        <p:spPr>
          <a:xfrm xmlns:a="http://schemas.openxmlformats.org/drawingml/2006/main">
            <a:off x="6238875" y="2186624"/>
            <a:ext cx="5286375" cy="200850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3C39744-23A3-4B3C-B72E-DE2B51A6B344}"/>
              </a:ext>
            </a:extLst>
          </p:cNvPr>
          <p:cNvSpPr>
            <a:spLocks xmlns:a="http://schemas.openxmlformats.org/drawingml/2006/main" noGrp="1"/>
          </p:cNvSpPr>
          <p:nvPr/>
        </p:nvSpPr>
        <p:spPr>
          <a:xfrm xmlns:a="http://schemas.openxmlformats.org/drawingml/2006/main">
            <a:off x="666750" y="50958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4B91"/>
                </a:solidFill>
                <a:latin typeface="Arial"/>
                <a:ea typeface="Arial"/>
                <a:cs typeface="Arial"/>
              </a:defRPr>
            </a:defPPr>
            <a:lvl1pPr>
              <a:defRPr sz="2100" b="1">
                <a:solidFill>
                  <a:srgbClr val="174B91"/>
                </a:solidFill>
                <a:latin typeface="Arial"/>
                <a:ea typeface="Arial"/>
                <a:cs typeface="Arial"/>
              </a:defRPr>
            </a:lvl1pPr>
            <a:lvl2pPr>
              <a:defRPr sz="2100" b="1">
                <a:solidFill>
                  <a:srgbClr val="174B91"/>
                </a:solidFill>
                <a:latin typeface="Arial"/>
                <a:ea typeface="Arial"/>
                <a:cs typeface="Arial"/>
              </a:defRPr>
            </a:lvl2pPr>
            <a:lvl3pPr>
              <a:defRPr sz="2100" b="1">
                <a:solidFill>
                  <a:srgbClr val="174B91"/>
                </a:solidFill>
                <a:latin typeface="Arial"/>
                <a:ea typeface="Arial"/>
                <a:cs typeface="Arial"/>
              </a:defRPr>
            </a:lvl3pPr>
            <a:lvl4pPr>
              <a:defRPr sz="2100" b="1">
                <a:solidFill>
                  <a:srgbClr val="174B91"/>
                </a:solidFill>
                <a:latin typeface="Arial"/>
                <a:ea typeface="Arial"/>
                <a:cs typeface="Arial"/>
              </a:defRPr>
            </a:lvl4pPr>
            <a:lvl5pPr>
              <a:defRPr sz="2100" b="1">
                <a:solidFill>
                  <a:srgbClr val="174B91"/>
                </a:solidFill>
                <a:latin typeface="Arial"/>
                <a:ea typeface="Arial"/>
                <a:cs typeface="Arial"/>
              </a:defRPr>
            </a:lvl5pPr>
            <a:lvl6pPr>
              <a:defRPr sz="2100" b="1">
                <a:solidFill>
                  <a:srgbClr val="174B91"/>
                </a:solidFill>
                <a:latin typeface="Arial"/>
                <a:ea typeface="Arial"/>
                <a:cs typeface="Arial"/>
              </a:defRPr>
            </a:lvl6pPr>
            <a:lvl7pPr>
              <a:defRPr sz="2100" b="1">
                <a:solidFill>
                  <a:srgbClr val="174B91"/>
                </a:solidFill>
                <a:latin typeface="Arial"/>
                <a:ea typeface="Arial"/>
                <a:cs typeface="Arial"/>
              </a:defRPr>
            </a:lvl7pPr>
            <a:lvl8pPr>
              <a:defRPr sz="2100" b="1">
                <a:solidFill>
                  <a:srgbClr val="174B91"/>
                </a:solidFill>
                <a:latin typeface="Arial"/>
                <a:ea typeface="Arial"/>
                <a:cs typeface="Arial"/>
              </a:defRPr>
            </a:lvl8pPr>
            <a:lvl9pPr>
              <a:defRPr sz="2100" b="1">
                <a:solidFill>
                  <a:srgbClr val="174B91"/>
                </a:solidFill>
                <a:latin typeface="Arial"/>
                <a:ea typeface="Arial"/>
                <a:cs typeface="Arial"/>
              </a:defRPr>
            </a:lvl9pPr>
          </a:lstStyle>
          <a:p xmlns:a="http://schemas.openxmlformats.org/drawingml/2006/main">
            <a:pPr>
              <a:defRPr sz="2100" b="1">
                <a:solidFill>
                  <a:srgbClr val="174B91"/>
                </a:solidFill>
                <a:latin typeface="Arial"/>
                <a:ea typeface="Arial"/>
                <a:cs typeface="Arial"/>
              </a:defRPr>
            </a:pPr>
            <a:r>
              <a:rPr sz="2100" b="1">
                <a:solidFill>
                  <a:srgbClr val="174B91"/>
                </a:solidFill>
                <a:latin typeface="Arial"/>
                <a:ea typeface="Arial"/>
                <a:cs typeface="Arial"/>
              </a:rPr>
              <a:t>Instructions &amp; policies</a:t>
            </a:r>
          </a:p>
        </p:txBody>
      </p:sp>
      <p:sp>
        <p:nvSpPr>
          <p:cNvPr id="6" name="">
            <a:extLst xmlns:a="http://schemas.openxmlformats.org/drawingml/2006/main">
              <a:ext uri="{FF2B5EF4-FFF2-40B4-BE49-F238E27FC236}">
                <a16:creationId xmlns:a16="http://schemas.microsoft.com/office/drawing/2014/main" id="{72481651-3E11-418C-AC50-9B8A000B4368}"/>
              </a:ext>
            </a:extLst>
          </p:cNvPr>
          <p:cNvSpPr>
            <a:spLocks xmlns:a="http://schemas.openxmlformats.org/drawingml/2006/main" noGrp="1"/>
          </p:cNvSpPr>
          <p:nvPr/>
        </p:nvSpPr>
        <p:spPr>
          <a:xfrm xmlns:a="http://schemas.openxmlformats.org/drawingml/2006/main">
            <a:off x="666750" y="56197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Rules for doing the work</a:t>
            </a:r>
          </a:p>
        </p:txBody>
      </p:sp>
      <p:sp>
        <p:nvSpPr>
          <p:cNvPr id="7" name="">
            <a:extLst xmlns:a="http://schemas.openxmlformats.org/drawingml/2006/main">
              <a:ext uri="{FF2B5EF4-FFF2-40B4-BE49-F238E27FC236}">
                <a16:creationId xmlns:a16="http://schemas.microsoft.com/office/drawing/2014/main" id="{2C656E73-4373-442B-8B12-11BDA1DD16BE}"/>
              </a:ext>
            </a:extLst>
          </p:cNvPr>
          <p:cNvSpPr>
            <a:spLocks xmlns:a="http://schemas.openxmlformats.org/drawingml/2006/main" noGrp="1"/>
          </p:cNvSpPr>
          <p:nvPr/>
        </p:nvSpPr>
        <p:spPr>
          <a:xfrm xmlns:a="http://schemas.openxmlformats.org/drawingml/2006/main">
            <a:off x="6286500" y="50958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4B91"/>
                </a:solidFill>
                <a:latin typeface="Arial"/>
                <a:ea typeface="Arial"/>
                <a:cs typeface="Arial"/>
              </a:defRPr>
            </a:defPPr>
            <a:lvl1pPr>
              <a:defRPr sz="2100" b="1">
                <a:solidFill>
                  <a:srgbClr val="174B91"/>
                </a:solidFill>
                <a:latin typeface="Arial"/>
                <a:ea typeface="Arial"/>
                <a:cs typeface="Arial"/>
              </a:defRPr>
            </a:lvl1pPr>
            <a:lvl2pPr>
              <a:defRPr sz="2100" b="1">
                <a:solidFill>
                  <a:srgbClr val="174B91"/>
                </a:solidFill>
                <a:latin typeface="Arial"/>
                <a:ea typeface="Arial"/>
                <a:cs typeface="Arial"/>
              </a:defRPr>
            </a:lvl2pPr>
            <a:lvl3pPr>
              <a:defRPr sz="2100" b="1">
                <a:solidFill>
                  <a:srgbClr val="174B91"/>
                </a:solidFill>
                <a:latin typeface="Arial"/>
                <a:ea typeface="Arial"/>
                <a:cs typeface="Arial"/>
              </a:defRPr>
            </a:lvl3pPr>
            <a:lvl4pPr>
              <a:defRPr sz="2100" b="1">
                <a:solidFill>
                  <a:srgbClr val="174B91"/>
                </a:solidFill>
                <a:latin typeface="Arial"/>
                <a:ea typeface="Arial"/>
                <a:cs typeface="Arial"/>
              </a:defRPr>
            </a:lvl4pPr>
            <a:lvl5pPr>
              <a:defRPr sz="2100" b="1">
                <a:solidFill>
                  <a:srgbClr val="174B91"/>
                </a:solidFill>
                <a:latin typeface="Arial"/>
                <a:ea typeface="Arial"/>
                <a:cs typeface="Arial"/>
              </a:defRPr>
            </a:lvl5pPr>
            <a:lvl6pPr>
              <a:defRPr sz="2100" b="1">
                <a:solidFill>
                  <a:srgbClr val="174B91"/>
                </a:solidFill>
                <a:latin typeface="Arial"/>
                <a:ea typeface="Arial"/>
                <a:cs typeface="Arial"/>
              </a:defRPr>
            </a:lvl6pPr>
            <a:lvl7pPr>
              <a:defRPr sz="2100" b="1">
                <a:solidFill>
                  <a:srgbClr val="174B91"/>
                </a:solidFill>
                <a:latin typeface="Arial"/>
                <a:ea typeface="Arial"/>
                <a:cs typeface="Arial"/>
              </a:defRPr>
            </a:lvl7pPr>
            <a:lvl8pPr>
              <a:defRPr sz="2100" b="1">
                <a:solidFill>
                  <a:srgbClr val="174B91"/>
                </a:solidFill>
                <a:latin typeface="Arial"/>
                <a:ea typeface="Arial"/>
                <a:cs typeface="Arial"/>
              </a:defRPr>
            </a:lvl8pPr>
            <a:lvl9pPr>
              <a:defRPr sz="2100" b="1">
                <a:solidFill>
                  <a:srgbClr val="174B91"/>
                </a:solidFill>
                <a:latin typeface="Arial"/>
                <a:ea typeface="Arial"/>
                <a:cs typeface="Arial"/>
              </a:defRPr>
            </a:lvl9pPr>
          </a:lstStyle>
          <a:p xmlns:a="http://schemas.openxmlformats.org/drawingml/2006/main">
            <a:pPr>
              <a:defRPr sz="2100" b="1">
                <a:solidFill>
                  <a:srgbClr val="174B91"/>
                </a:solidFill>
                <a:latin typeface="Arial"/>
                <a:ea typeface="Arial"/>
                <a:cs typeface="Arial"/>
              </a:defRPr>
            </a:pPr>
            <a:r>
              <a:rPr sz="2100" b="1">
                <a:solidFill>
                  <a:srgbClr val="174B91"/>
                </a:solidFill>
                <a:latin typeface="Arial"/>
                <a:ea typeface="Arial"/>
                <a:cs typeface="Arial"/>
              </a:rPr>
              <a:t>Context management</a:t>
            </a:r>
          </a:p>
        </p:txBody>
      </p:sp>
      <p:sp>
        <p:nvSpPr>
          <p:cNvPr id="8" name="">
            <a:extLst xmlns:a="http://schemas.openxmlformats.org/drawingml/2006/main">
              <a:ext uri="{FF2B5EF4-FFF2-40B4-BE49-F238E27FC236}">
                <a16:creationId xmlns:a16="http://schemas.microsoft.com/office/drawing/2014/main" id="{8219969B-5B38-42E0-B646-B364669B9EF7}"/>
              </a:ext>
            </a:extLst>
          </p:cNvPr>
          <p:cNvSpPr>
            <a:spLocks xmlns:a="http://schemas.openxmlformats.org/drawingml/2006/main" noGrp="1"/>
          </p:cNvSpPr>
          <p:nvPr/>
        </p:nvSpPr>
        <p:spPr>
          <a:xfrm xmlns:a="http://schemas.openxmlformats.org/drawingml/2006/main">
            <a:off x="6286500" y="56197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Information about this project</a:t>
            </a:r>
          </a:p>
        </p:txBody>
      </p:sp>
    </p:spTree>
    <p:extLst>
      <p:ext uri="{BB962C8B-B14F-4D97-AF65-F5344CB8AC3E}">
        <p14:creationId xmlns:p14="http://schemas.microsoft.com/office/powerpoint/2010/main" val="278607428"/>
      </p:ext>
    </p:extLst>
  </p:cSld>
</p:sld>
</file>

<file path=ppt/slides/slide25.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DE94FB0-C304-43E4-877E-27D2DB83EFFB}"/>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Evaluation after Minimal stops</a:t>
            </a:r>
          </a:p>
        </p:txBody>
      </p:sp>
      <p:sp>
        <p:nvSpPr>
          <p:cNvPr id="2" name="">
            <a:extLst xmlns:a="http://schemas.openxmlformats.org/drawingml/2006/main">
              <a:ext uri="{FF2B5EF4-FFF2-40B4-BE49-F238E27FC236}">
                <a16:creationId xmlns:a16="http://schemas.microsoft.com/office/drawing/2014/main" id="{5C8EB832-9DBF-4AEE-9BE1-92364D1B920D}"/>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25</a:t>
            </a:r>
          </a:p>
        </p:txBody>
      </p:sp>
      <p:pic>
        <p:nvPicPr>
          <p:cNvPr id="3" name="">
            <a:extLst xmlns:a="http://schemas.openxmlformats.org/drawingml/2006/main">
              <a:ext uri="{FF2B5EF4-FFF2-40B4-BE49-F238E27FC236}">
                <a16:creationId xmlns:a16="http://schemas.microsoft.com/office/drawing/2014/main" id="{7056AF1C-E683-4186-AA7A-84A1CD35C79F}"/>
              </a:ext>
            </a:extLst>
          </p:cNvPr>
          <p:cNvPicPr>
            <a:picLocks xmlns:a="http://schemas.openxmlformats.org/drawingml/2006/main" noChangeAspect="1"/>
          </p:cNvPicPr>
          <p:nvPr/>
        </p:nvPicPr>
        <p:blipFill>
          <a:blip xmlns:r="http://schemas.openxmlformats.org/officeDocument/2006/relationships" xmlns:a="http://schemas.openxmlformats.org/drawingml/2006/main" r:embed="R68b2ee846c344093"/>
          <a:stretch xmlns:a="http://schemas.openxmlformats.org/drawingml/2006/main"/>
        </p:blipFill>
        <p:spPr>
          <a:xfrm xmlns:a="http://schemas.openxmlformats.org/drawingml/2006/main">
            <a:off x="609600" y="1948027"/>
            <a:ext cx="10972800" cy="2104697"/>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56ABB10-6304-4F69-8273-9E3AE95E5B5D}"/>
              </a:ext>
            </a:extLst>
          </p:cNvPr>
          <p:cNvSpPr>
            <a:spLocks xmlns:a="http://schemas.openxmlformats.org/drawingml/2006/main" noGrp="1"/>
          </p:cNvSpPr>
          <p:nvPr/>
        </p:nvSpPr>
        <p:spPr>
          <a:xfrm xmlns:a="http://schemas.openxmlformats.org/drawingml/2006/main">
            <a:off x="666750" y="4524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E87924"/>
                </a:solidFill>
                <a:latin typeface="Arial"/>
                <a:ea typeface="Arial"/>
                <a:cs typeface="Arial"/>
              </a:defRPr>
            </a:defPPr>
            <a:lvl1pPr>
              <a:defRPr sz="2325" b="1">
                <a:solidFill>
                  <a:srgbClr val="E87924"/>
                </a:solidFill>
                <a:latin typeface="Arial"/>
                <a:ea typeface="Arial"/>
                <a:cs typeface="Arial"/>
              </a:defRPr>
            </a:lvl1pPr>
            <a:lvl2pPr>
              <a:defRPr sz="2325" b="1">
                <a:solidFill>
                  <a:srgbClr val="E87924"/>
                </a:solidFill>
                <a:latin typeface="Arial"/>
                <a:ea typeface="Arial"/>
                <a:cs typeface="Arial"/>
              </a:defRPr>
            </a:lvl2pPr>
            <a:lvl3pPr>
              <a:defRPr sz="2325" b="1">
                <a:solidFill>
                  <a:srgbClr val="E87924"/>
                </a:solidFill>
                <a:latin typeface="Arial"/>
                <a:ea typeface="Arial"/>
                <a:cs typeface="Arial"/>
              </a:defRPr>
            </a:lvl3pPr>
            <a:lvl4pPr>
              <a:defRPr sz="2325" b="1">
                <a:solidFill>
                  <a:srgbClr val="E87924"/>
                </a:solidFill>
                <a:latin typeface="Arial"/>
                <a:ea typeface="Arial"/>
                <a:cs typeface="Arial"/>
              </a:defRPr>
            </a:lvl4pPr>
            <a:lvl5pPr>
              <a:defRPr sz="2325" b="1">
                <a:solidFill>
                  <a:srgbClr val="E87924"/>
                </a:solidFill>
                <a:latin typeface="Arial"/>
                <a:ea typeface="Arial"/>
                <a:cs typeface="Arial"/>
              </a:defRPr>
            </a:lvl5pPr>
            <a:lvl6pPr>
              <a:defRPr sz="2325" b="1">
                <a:solidFill>
                  <a:srgbClr val="E87924"/>
                </a:solidFill>
                <a:latin typeface="Arial"/>
                <a:ea typeface="Arial"/>
                <a:cs typeface="Arial"/>
              </a:defRPr>
            </a:lvl6pPr>
            <a:lvl7pPr>
              <a:defRPr sz="2325" b="1">
                <a:solidFill>
                  <a:srgbClr val="E87924"/>
                </a:solidFill>
                <a:latin typeface="Arial"/>
                <a:ea typeface="Arial"/>
                <a:cs typeface="Arial"/>
              </a:defRPr>
            </a:lvl7pPr>
            <a:lvl8pPr>
              <a:defRPr sz="2325" b="1">
                <a:solidFill>
                  <a:srgbClr val="E87924"/>
                </a:solidFill>
                <a:latin typeface="Arial"/>
                <a:ea typeface="Arial"/>
                <a:cs typeface="Arial"/>
              </a:defRPr>
            </a:lvl8pPr>
            <a:lvl9pPr>
              <a:defRPr sz="2325" b="1">
                <a:solidFill>
                  <a:srgbClr val="E87924"/>
                </a:solidFill>
                <a:latin typeface="Arial"/>
                <a:ea typeface="Arial"/>
                <a:cs typeface="Arial"/>
              </a:defRPr>
            </a:lvl9pPr>
          </a:lstStyle>
          <a:p xmlns:a="http://schemas.openxmlformats.org/drawingml/2006/main">
            <a:pPr>
              <a:defRPr sz="2325" b="1">
                <a:solidFill>
                  <a:srgbClr val="E87924"/>
                </a:solidFill>
                <a:latin typeface="Arial"/>
                <a:ea typeface="Arial"/>
                <a:cs typeface="Arial"/>
              </a:defRPr>
            </a:pPr>
            <a:r>
              <a:rPr sz="2325" b="1">
                <a:solidFill>
                  <a:srgbClr val="E87924"/>
                </a:solidFill>
                <a:latin typeface="Arial"/>
                <a:ea typeface="Arial"/>
                <a:cs typeface="Arial"/>
              </a:rPr>
              <a:t>Observed in the draft rehearsal: 5/6 checks passed</a:t>
            </a:r>
          </a:p>
        </p:txBody>
      </p:sp>
      <p:sp>
        <p:nvSpPr>
          <p:cNvPr id="5" name="">
            <a:extLst xmlns:a="http://schemas.openxmlformats.org/drawingml/2006/main">
              <a:ext uri="{FF2B5EF4-FFF2-40B4-BE49-F238E27FC236}">
                <a16:creationId xmlns:a16="http://schemas.microsoft.com/office/drawing/2014/main" id="{2352C597-BAE9-4DB9-B442-B5E4E5D1C4F9}"/>
              </a:ext>
            </a:extLst>
          </p:cNvPr>
          <p:cNvSpPr>
            <a:spLocks xmlns:a="http://schemas.openxmlformats.org/drawingml/2006/main" noGrp="1"/>
          </p:cNvSpPr>
          <p:nvPr/>
        </p:nvSpPr>
        <p:spPr>
          <a:xfrm xmlns:a="http://schemas.openxmlformats.org/drawingml/2006/main">
            <a:off x="666750" y="52863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4535"/>
                </a:solidFill>
                <a:latin typeface="Arial"/>
                <a:ea typeface="Arial"/>
                <a:cs typeface="Arial"/>
              </a:defRPr>
            </a:defPPr>
            <a:lvl1pPr>
              <a:defRPr sz="2025" b="0">
                <a:solidFill>
                  <a:srgbClr val="174535"/>
                </a:solidFill>
                <a:latin typeface="Arial"/>
                <a:ea typeface="Arial"/>
                <a:cs typeface="Arial"/>
              </a:defRPr>
            </a:lvl1pPr>
            <a:lvl2pPr>
              <a:defRPr sz="2025" b="0">
                <a:solidFill>
                  <a:srgbClr val="174535"/>
                </a:solidFill>
                <a:latin typeface="Arial"/>
                <a:ea typeface="Arial"/>
                <a:cs typeface="Arial"/>
              </a:defRPr>
            </a:lvl2pPr>
            <a:lvl3pPr>
              <a:defRPr sz="2025" b="0">
                <a:solidFill>
                  <a:srgbClr val="174535"/>
                </a:solidFill>
                <a:latin typeface="Arial"/>
                <a:ea typeface="Arial"/>
                <a:cs typeface="Arial"/>
              </a:defRPr>
            </a:lvl3pPr>
            <a:lvl4pPr>
              <a:defRPr sz="2025" b="0">
                <a:solidFill>
                  <a:srgbClr val="174535"/>
                </a:solidFill>
                <a:latin typeface="Arial"/>
                <a:ea typeface="Arial"/>
                <a:cs typeface="Arial"/>
              </a:defRPr>
            </a:lvl4pPr>
            <a:lvl5pPr>
              <a:defRPr sz="2025" b="0">
                <a:solidFill>
                  <a:srgbClr val="174535"/>
                </a:solidFill>
                <a:latin typeface="Arial"/>
                <a:ea typeface="Arial"/>
                <a:cs typeface="Arial"/>
              </a:defRPr>
            </a:lvl5pPr>
            <a:lvl6pPr>
              <a:defRPr sz="2025" b="0">
                <a:solidFill>
                  <a:srgbClr val="174535"/>
                </a:solidFill>
                <a:latin typeface="Arial"/>
                <a:ea typeface="Arial"/>
                <a:cs typeface="Arial"/>
              </a:defRPr>
            </a:lvl6pPr>
            <a:lvl7pPr>
              <a:defRPr sz="2025" b="0">
                <a:solidFill>
                  <a:srgbClr val="174535"/>
                </a:solidFill>
                <a:latin typeface="Arial"/>
                <a:ea typeface="Arial"/>
                <a:cs typeface="Arial"/>
              </a:defRPr>
            </a:lvl7pPr>
            <a:lvl8pPr>
              <a:defRPr sz="2025" b="0">
                <a:solidFill>
                  <a:srgbClr val="174535"/>
                </a:solidFill>
                <a:latin typeface="Arial"/>
                <a:ea typeface="Arial"/>
                <a:cs typeface="Arial"/>
              </a:defRPr>
            </a:lvl8pPr>
            <a:lvl9pPr>
              <a:defRPr sz="2025" b="0">
                <a:solidFill>
                  <a:srgbClr val="174535"/>
                </a:solidFill>
                <a:latin typeface="Arial"/>
                <a:ea typeface="Arial"/>
                <a:cs typeface="Arial"/>
              </a:defRPr>
            </a:lvl9pPr>
          </a:lstStyle>
          <a:p xmlns:a="http://schemas.openxmlformats.org/drawingml/2006/main">
            <a:pPr>
              <a:defRPr sz="2025" b="0">
                <a:solidFill>
                  <a:srgbClr val="174535"/>
                </a:solidFill>
                <a:latin typeface="Arial"/>
                <a:ea typeface="Arial"/>
                <a:cs typeface="Arial"/>
              </a:defRPr>
            </a:pPr>
            <a:r>
              <a:rPr sz="2025" b="0">
                <a:solidFill>
                  <a:srgbClr val="174535"/>
                </a:solidFill>
                <a:latin typeface="Arial"/>
                <a:ea typeface="Arial"/>
                <a:cs typeface="Arial"/>
              </a:rPr>
              <a:t>The model changed original note text and hit its budget. No patch was published.</a:t>
            </a:r>
          </a:p>
        </p:txBody>
      </p:sp>
    </p:spTree>
    <p:extLst>
      <p:ext uri="{BB962C8B-B14F-4D97-AF65-F5344CB8AC3E}">
        <p14:creationId xmlns:p14="http://schemas.microsoft.com/office/powerpoint/2010/main" val="1589029939"/>
      </p:ext>
    </p:extLst>
  </p:cSld>
</p:sld>
</file>

<file path=ppt/slides/slide26.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C6C9F7-5C01-4B8D-920A-B0B848D25DB3}"/>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Verification before Engineered completes</a:t>
            </a:r>
          </a:p>
        </p:txBody>
      </p:sp>
      <p:sp>
        <p:nvSpPr>
          <p:cNvPr id="2" name="">
            <a:extLst xmlns:a="http://schemas.openxmlformats.org/drawingml/2006/main">
              <a:ext uri="{FF2B5EF4-FFF2-40B4-BE49-F238E27FC236}">
                <a16:creationId xmlns:a16="http://schemas.microsoft.com/office/drawing/2014/main" id="{0D053FB9-EE16-4B76-A1ED-393B32EA0AB4}"/>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26</a:t>
            </a:r>
          </a:p>
        </p:txBody>
      </p:sp>
      <p:pic>
        <p:nvPicPr>
          <p:cNvPr id="3" name="">
            <a:extLst xmlns:a="http://schemas.openxmlformats.org/drawingml/2006/main">
              <a:ext uri="{FF2B5EF4-FFF2-40B4-BE49-F238E27FC236}">
                <a16:creationId xmlns:a16="http://schemas.microsoft.com/office/drawing/2014/main" id="{F5DFF519-942E-427F-8BDA-1EDD26F74991}"/>
              </a:ext>
            </a:extLst>
          </p:cNvPr>
          <p:cNvPicPr>
            <a:picLocks xmlns:a="http://schemas.openxmlformats.org/drawingml/2006/main" noChangeAspect="1"/>
          </p:cNvPicPr>
          <p:nvPr/>
        </p:nvPicPr>
        <p:blipFill>
          <a:blip xmlns:r="http://schemas.openxmlformats.org/officeDocument/2006/relationships" xmlns:a="http://schemas.openxmlformats.org/drawingml/2006/main" r:embed="Rc6176634edf3407c"/>
          <a:stretch xmlns:a="http://schemas.openxmlformats.org/drawingml/2006/main"/>
        </p:blipFill>
        <p:spPr>
          <a:xfrm xmlns:a="http://schemas.openxmlformats.org/drawingml/2006/main">
            <a:off x="1834134" y="1524000"/>
            <a:ext cx="8523732" cy="3238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CA5BB37-18C7-49C7-BB8B-D9A1182AA017}"/>
              </a:ext>
            </a:extLst>
          </p:cNvPr>
          <p:cNvSpPr>
            <a:spLocks xmlns:a="http://schemas.openxmlformats.org/drawingml/2006/main" noGrp="1"/>
          </p:cNvSpPr>
          <p:nvPr/>
        </p:nvSpPr>
        <p:spPr>
          <a:xfrm xmlns:a="http://schemas.openxmlformats.org/drawingml/2006/main">
            <a:off x="666750" y="49530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4B91"/>
                </a:solidFill>
                <a:latin typeface="Arial"/>
                <a:ea typeface="Arial"/>
                <a:cs typeface="Arial"/>
              </a:defRPr>
            </a:defPPr>
            <a:lvl1pPr>
              <a:defRPr sz="2400" b="1">
                <a:solidFill>
                  <a:srgbClr val="174B91"/>
                </a:solidFill>
                <a:latin typeface="Arial"/>
                <a:ea typeface="Arial"/>
                <a:cs typeface="Arial"/>
              </a:defRPr>
            </a:lvl1pPr>
            <a:lvl2pPr>
              <a:defRPr sz="2400" b="1">
                <a:solidFill>
                  <a:srgbClr val="174B91"/>
                </a:solidFill>
                <a:latin typeface="Arial"/>
                <a:ea typeface="Arial"/>
                <a:cs typeface="Arial"/>
              </a:defRPr>
            </a:lvl2pPr>
            <a:lvl3pPr>
              <a:defRPr sz="2400" b="1">
                <a:solidFill>
                  <a:srgbClr val="174B91"/>
                </a:solidFill>
                <a:latin typeface="Arial"/>
                <a:ea typeface="Arial"/>
                <a:cs typeface="Arial"/>
              </a:defRPr>
            </a:lvl3pPr>
            <a:lvl4pPr>
              <a:defRPr sz="2400" b="1">
                <a:solidFill>
                  <a:srgbClr val="174B91"/>
                </a:solidFill>
                <a:latin typeface="Arial"/>
                <a:ea typeface="Arial"/>
                <a:cs typeface="Arial"/>
              </a:defRPr>
            </a:lvl4pPr>
            <a:lvl5pPr>
              <a:defRPr sz="2400" b="1">
                <a:solidFill>
                  <a:srgbClr val="174B91"/>
                </a:solidFill>
                <a:latin typeface="Arial"/>
                <a:ea typeface="Arial"/>
                <a:cs typeface="Arial"/>
              </a:defRPr>
            </a:lvl5pPr>
            <a:lvl6pPr>
              <a:defRPr sz="2400" b="1">
                <a:solidFill>
                  <a:srgbClr val="174B91"/>
                </a:solidFill>
                <a:latin typeface="Arial"/>
                <a:ea typeface="Arial"/>
                <a:cs typeface="Arial"/>
              </a:defRPr>
            </a:lvl6pPr>
            <a:lvl7pPr>
              <a:defRPr sz="2400" b="1">
                <a:solidFill>
                  <a:srgbClr val="174B91"/>
                </a:solidFill>
                <a:latin typeface="Arial"/>
                <a:ea typeface="Arial"/>
                <a:cs typeface="Arial"/>
              </a:defRPr>
            </a:lvl7pPr>
            <a:lvl8pPr>
              <a:defRPr sz="2400" b="1">
                <a:solidFill>
                  <a:srgbClr val="174B91"/>
                </a:solidFill>
                <a:latin typeface="Arial"/>
                <a:ea typeface="Arial"/>
                <a:cs typeface="Arial"/>
              </a:defRPr>
            </a:lvl8pPr>
            <a:lvl9pPr>
              <a:defRPr sz="2400" b="1">
                <a:solidFill>
                  <a:srgbClr val="174B91"/>
                </a:solidFill>
                <a:latin typeface="Arial"/>
                <a:ea typeface="Arial"/>
                <a:cs typeface="Arial"/>
              </a:defRPr>
            </a:lvl9pPr>
          </a:lstStyle>
          <a:p xmlns:a="http://schemas.openxmlformats.org/drawingml/2006/main">
            <a:pPr>
              <a:defRPr sz="2400" b="1">
                <a:solidFill>
                  <a:srgbClr val="174B91"/>
                </a:solidFill>
                <a:latin typeface="Arial"/>
                <a:ea typeface="Arial"/>
                <a:cs typeface="Arial"/>
              </a:defRPr>
            </a:pPr>
            <a:r>
              <a:rPr sz="2400" b="1">
                <a:solidFill>
                  <a:srgbClr val="174B91"/>
                </a:solidFill>
                <a:latin typeface="Arial"/>
                <a:ea typeface="Arial"/>
                <a:cs typeface="Arial"/>
              </a:rPr>
              <a:t>Passing checks are a required condition for completion.</a:t>
            </a:r>
          </a:p>
        </p:txBody>
      </p:sp>
      <p:sp>
        <p:nvSpPr>
          <p:cNvPr id="5" name="">
            <a:extLst xmlns:a="http://schemas.openxmlformats.org/drawingml/2006/main">
              <a:ext uri="{FF2B5EF4-FFF2-40B4-BE49-F238E27FC236}">
                <a16:creationId xmlns:a16="http://schemas.microsoft.com/office/drawing/2014/main" id="{F5AD924F-C76A-4BC0-A1FD-FFED4FA873CF}"/>
              </a:ext>
            </a:extLst>
          </p:cNvPr>
          <p:cNvSpPr>
            <a:spLocks xmlns:a="http://schemas.openxmlformats.org/drawingml/2006/main" noGrp="1"/>
          </p:cNvSpPr>
          <p:nvPr/>
        </p:nvSpPr>
        <p:spPr>
          <a:xfrm xmlns:a="http://schemas.openxmlformats.org/drawingml/2006/main">
            <a:off x="666750" y="5715000"/>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4535"/>
                </a:solidFill>
                <a:latin typeface="Arial"/>
                <a:ea typeface="Arial"/>
                <a:cs typeface="Arial"/>
              </a:defRPr>
            </a:defPPr>
            <a:lvl1pPr>
              <a:defRPr sz="2025" b="0">
                <a:solidFill>
                  <a:srgbClr val="174535"/>
                </a:solidFill>
                <a:latin typeface="Arial"/>
                <a:ea typeface="Arial"/>
                <a:cs typeface="Arial"/>
              </a:defRPr>
            </a:lvl1pPr>
            <a:lvl2pPr>
              <a:defRPr sz="2025" b="0">
                <a:solidFill>
                  <a:srgbClr val="174535"/>
                </a:solidFill>
                <a:latin typeface="Arial"/>
                <a:ea typeface="Arial"/>
                <a:cs typeface="Arial"/>
              </a:defRPr>
            </a:lvl2pPr>
            <a:lvl3pPr>
              <a:defRPr sz="2025" b="0">
                <a:solidFill>
                  <a:srgbClr val="174535"/>
                </a:solidFill>
                <a:latin typeface="Arial"/>
                <a:ea typeface="Arial"/>
                <a:cs typeface="Arial"/>
              </a:defRPr>
            </a:lvl3pPr>
            <a:lvl4pPr>
              <a:defRPr sz="2025" b="0">
                <a:solidFill>
                  <a:srgbClr val="174535"/>
                </a:solidFill>
                <a:latin typeface="Arial"/>
                <a:ea typeface="Arial"/>
                <a:cs typeface="Arial"/>
              </a:defRPr>
            </a:lvl4pPr>
            <a:lvl5pPr>
              <a:defRPr sz="2025" b="0">
                <a:solidFill>
                  <a:srgbClr val="174535"/>
                </a:solidFill>
                <a:latin typeface="Arial"/>
                <a:ea typeface="Arial"/>
                <a:cs typeface="Arial"/>
              </a:defRPr>
            </a:lvl5pPr>
            <a:lvl6pPr>
              <a:defRPr sz="2025" b="0">
                <a:solidFill>
                  <a:srgbClr val="174535"/>
                </a:solidFill>
                <a:latin typeface="Arial"/>
                <a:ea typeface="Arial"/>
                <a:cs typeface="Arial"/>
              </a:defRPr>
            </a:lvl6pPr>
            <a:lvl7pPr>
              <a:defRPr sz="2025" b="0">
                <a:solidFill>
                  <a:srgbClr val="174535"/>
                </a:solidFill>
                <a:latin typeface="Arial"/>
                <a:ea typeface="Arial"/>
                <a:cs typeface="Arial"/>
              </a:defRPr>
            </a:lvl7pPr>
            <a:lvl8pPr>
              <a:defRPr sz="2025" b="0">
                <a:solidFill>
                  <a:srgbClr val="174535"/>
                </a:solidFill>
                <a:latin typeface="Arial"/>
                <a:ea typeface="Arial"/>
                <a:cs typeface="Arial"/>
              </a:defRPr>
            </a:lvl8pPr>
            <a:lvl9pPr>
              <a:defRPr sz="2025" b="0">
                <a:solidFill>
                  <a:srgbClr val="174535"/>
                </a:solidFill>
                <a:latin typeface="Arial"/>
                <a:ea typeface="Arial"/>
                <a:cs typeface="Arial"/>
              </a:defRPr>
            </a:lvl9pPr>
          </a:lstStyle>
          <a:p xmlns:a="http://schemas.openxmlformats.org/drawingml/2006/main">
            <a:pPr>
              <a:defRPr sz="2025" b="0">
                <a:solidFill>
                  <a:srgbClr val="174535"/>
                </a:solidFill>
                <a:latin typeface="Arial"/>
                <a:ea typeface="Arial"/>
                <a:cs typeface="Arial"/>
              </a:defRPr>
            </a:pPr>
            <a:r>
              <a:rPr sz="2025" b="0">
                <a:solidFill>
                  <a:srgbClr val="174535"/>
                </a:solidFill>
                <a:latin typeface="Arial"/>
                <a:ea typeface="Arial"/>
                <a:cs typeface="Arial"/>
              </a:rPr>
              <a:t>A failing result returns feedback for another attempt within the budget.</a:t>
            </a:r>
          </a:p>
        </p:txBody>
      </p:sp>
    </p:spTree>
    <p:extLst>
      <p:ext uri="{BB962C8B-B14F-4D97-AF65-F5344CB8AC3E}">
        <p14:creationId xmlns:p14="http://schemas.microsoft.com/office/powerpoint/2010/main" val="453351850"/>
      </p:ext>
    </p:extLst>
  </p:cSld>
</p:sld>
</file>

<file path=ppt/slides/slide27.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94FB3F-4556-4ECD-A775-CE99CC98283D}"/>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Review and approval</a:t>
            </a:r>
          </a:p>
        </p:txBody>
      </p:sp>
      <p:sp>
        <p:nvSpPr>
          <p:cNvPr id="2" name="">
            <a:extLst xmlns:a="http://schemas.openxmlformats.org/drawingml/2006/main">
              <a:ext uri="{FF2B5EF4-FFF2-40B4-BE49-F238E27FC236}">
                <a16:creationId xmlns:a16="http://schemas.microsoft.com/office/drawing/2014/main" id="{A61D93E8-2AB8-495E-81E0-C478AAA5651F}"/>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27</a:t>
            </a:r>
          </a:p>
        </p:txBody>
      </p:sp>
      <p:pic>
        <p:nvPicPr>
          <p:cNvPr id="3" name="">
            <a:extLst xmlns:a="http://schemas.openxmlformats.org/drawingml/2006/main">
              <a:ext uri="{FF2B5EF4-FFF2-40B4-BE49-F238E27FC236}">
                <a16:creationId xmlns:a16="http://schemas.microsoft.com/office/drawing/2014/main" id="{6AC44DEB-8AF4-43DE-BCA0-8199BECF76CC}"/>
              </a:ext>
            </a:extLst>
          </p:cNvPr>
          <p:cNvPicPr>
            <a:picLocks xmlns:a="http://schemas.openxmlformats.org/drawingml/2006/main" noChangeAspect="1"/>
          </p:cNvPicPr>
          <p:nvPr/>
        </p:nvPicPr>
        <p:blipFill>
          <a:blip xmlns:r="http://schemas.openxmlformats.org/officeDocument/2006/relationships" xmlns:a="http://schemas.openxmlformats.org/drawingml/2006/main" r:embed="Rdb190244883a4c63"/>
          <a:stretch xmlns:a="http://schemas.openxmlformats.org/drawingml/2006/main"/>
        </p:blipFill>
        <p:spPr>
          <a:xfrm xmlns:a="http://schemas.openxmlformats.org/drawingml/2006/main">
            <a:off x="866775" y="1524000"/>
            <a:ext cx="7391400"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C7B170D-CD07-4218-A4CD-78CB720FFB7F}"/>
              </a:ext>
            </a:extLst>
          </p:cNvPr>
          <p:cNvSpPr>
            <a:spLocks xmlns:a="http://schemas.openxmlformats.org/drawingml/2006/main" noGrp="1"/>
          </p:cNvSpPr>
          <p:nvPr/>
        </p:nvSpPr>
        <p:spPr>
          <a:xfrm xmlns:a="http://schemas.openxmlformats.org/drawingml/2006/main">
            <a:off x="8953500" y="2000250"/>
            <a:ext cx="247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4B91"/>
                </a:solidFill>
                <a:latin typeface="Arial"/>
                <a:ea typeface="Arial"/>
                <a:cs typeface="Arial"/>
              </a:defRPr>
            </a:defPPr>
            <a:lvl1pPr>
              <a:defRPr sz="2175" b="1">
                <a:solidFill>
                  <a:srgbClr val="174B91"/>
                </a:solidFill>
                <a:latin typeface="Arial"/>
                <a:ea typeface="Arial"/>
                <a:cs typeface="Arial"/>
              </a:defRPr>
            </a:lvl1pPr>
            <a:lvl2pPr>
              <a:defRPr sz="2175" b="1">
                <a:solidFill>
                  <a:srgbClr val="174B91"/>
                </a:solidFill>
                <a:latin typeface="Arial"/>
                <a:ea typeface="Arial"/>
                <a:cs typeface="Arial"/>
              </a:defRPr>
            </a:lvl2pPr>
            <a:lvl3pPr>
              <a:defRPr sz="2175" b="1">
                <a:solidFill>
                  <a:srgbClr val="174B91"/>
                </a:solidFill>
                <a:latin typeface="Arial"/>
                <a:ea typeface="Arial"/>
                <a:cs typeface="Arial"/>
              </a:defRPr>
            </a:lvl3pPr>
            <a:lvl4pPr>
              <a:defRPr sz="2175" b="1">
                <a:solidFill>
                  <a:srgbClr val="174B91"/>
                </a:solidFill>
                <a:latin typeface="Arial"/>
                <a:ea typeface="Arial"/>
                <a:cs typeface="Arial"/>
              </a:defRPr>
            </a:lvl4pPr>
            <a:lvl5pPr>
              <a:defRPr sz="2175" b="1">
                <a:solidFill>
                  <a:srgbClr val="174B91"/>
                </a:solidFill>
                <a:latin typeface="Arial"/>
                <a:ea typeface="Arial"/>
                <a:cs typeface="Arial"/>
              </a:defRPr>
            </a:lvl5pPr>
            <a:lvl6pPr>
              <a:defRPr sz="2175" b="1">
                <a:solidFill>
                  <a:srgbClr val="174B91"/>
                </a:solidFill>
                <a:latin typeface="Arial"/>
                <a:ea typeface="Arial"/>
                <a:cs typeface="Arial"/>
              </a:defRPr>
            </a:lvl6pPr>
            <a:lvl7pPr>
              <a:defRPr sz="2175" b="1">
                <a:solidFill>
                  <a:srgbClr val="174B91"/>
                </a:solidFill>
                <a:latin typeface="Arial"/>
                <a:ea typeface="Arial"/>
                <a:cs typeface="Arial"/>
              </a:defRPr>
            </a:lvl7pPr>
            <a:lvl8pPr>
              <a:defRPr sz="2175" b="1">
                <a:solidFill>
                  <a:srgbClr val="174B91"/>
                </a:solidFill>
                <a:latin typeface="Arial"/>
                <a:ea typeface="Arial"/>
                <a:cs typeface="Arial"/>
              </a:defRPr>
            </a:lvl8pPr>
            <a:lvl9pPr>
              <a:defRPr sz="2175" b="1">
                <a:solidFill>
                  <a:srgbClr val="174B91"/>
                </a:solidFill>
                <a:latin typeface="Arial"/>
                <a:ea typeface="Arial"/>
                <a:cs typeface="Arial"/>
              </a:defRPr>
            </a:lvl9pPr>
          </a:lstStyle>
          <a:p xmlns:a="http://schemas.openxmlformats.org/drawingml/2006/main">
            <a:pPr>
              <a:defRPr sz="2175" b="1">
                <a:solidFill>
                  <a:srgbClr val="174B91"/>
                </a:solidFill>
                <a:latin typeface="Arial"/>
                <a:ea typeface="Arial"/>
                <a:cs typeface="Arial"/>
              </a:defRPr>
            </a:pPr>
            <a:r>
              <a:rPr sz="2175" b="1">
                <a:solidFill>
                  <a:srgbClr val="174B91"/>
                </a:solidFill>
                <a:latin typeface="Arial"/>
                <a:ea typeface="Arial"/>
                <a:cs typeface="Arial"/>
              </a:rPr>
              <a:t>Inspect the change</a:t>
            </a:r>
          </a:p>
        </p:txBody>
      </p:sp>
      <p:sp>
        <p:nvSpPr>
          <p:cNvPr id="5" name="">
            <a:extLst xmlns:a="http://schemas.openxmlformats.org/drawingml/2006/main">
              <a:ext uri="{FF2B5EF4-FFF2-40B4-BE49-F238E27FC236}">
                <a16:creationId xmlns:a16="http://schemas.microsoft.com/office/drawing/2014/main" id="{753AF2A5-4807-45A6-ACC9-820B959ACF65}"/>
              </a:ext>
            </a:extLst>
          </p:cNvPr>
          <p:cNvSpPr>
            <a:spLocks xmlns:a="http://schemas.openxmlformats.org/drawingml/2006/main" noGrp="1"/>
          </p:cNvSpPr>
          <p:nvPr/>
        </p:nvSpPr>
        <p:spPr>
          <a:xfrm xmlns:a="http://schemas.openxmlformats.org/drawingml/2006/main">
            <a:off x="8953500" y="3238500"/>
            <a:ext cx="2476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Check the revision</a:t>
            </a:r>
          </a:p>
        </p:txBody>
      </p:sp>
      <p:sp>
        <p:nvSpPr>
          <p:cNvPr id="6" name="">
            <a:extLst xmlns:a="http://schemas.openxmlformats.org/drawingml/2006/main">
              <a:ext uri="{FF2B5EF4-FFF2-40B4-BE49-F238E27FC236}">
                <a16:creationId xmlns:a16="http://schemas.microsoft.com/office/drawing/2014/main" id="{535F4670-C618-4006-8B26-57DFDB9280E9}"/>
              </a:ext>
            </a:extLst>
          </p:cNvPr>
          <p:cNvSpPr>
            <a:spLocks xmlns:a="http://schemas.openxmlformats.org/drawingml/2006/main" noGrp="1"/>
          </p:cNvSpPr>
          <p:nvPr/>
        </p:nvSpPr>
        <p:spPr>
          <a:xfrm xmlns:a="http://schemas.openxmlformats.org/drawingml/2006/main">
            <a:off x="8953500" y="4476750"/>
            <a:ext cx="2476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4535"/>
                </a:solidFill>
                <a:latin typeface="Arial"/>
                <a:ea typeface="Arial"/>
                <a:cs typeface="Arial"/>
              </a:defRPr>
            </a:defPPr>
            <a:lvl1pPr>
              <a:defRPr sz="2175" b="0">
                <a:solidFill>
                  <a:srgbClr val="174535"/>
                </a:solidFill>
                <a:latin typeface="Arial"/>
                <a:ea typeface="Arial"/>
                <a:cs typeface="Arial"/>
              </a:defRPr>
            </a:lvl1pPr>
            <a:lvl2pPr>
              <a:defRPr sz="2175" b="0">
                <a:solidFill>
                  <a:srgbClr val="174535"/>
                </a:solidFill>
                <a:latin typeface="Arial"/>
                <a:ea typeface="Arial"/>
                <a:cs typeface="Arial"/>
              </a:defRPr>
            </a:lvl2pPr>
            <a:lvl3pPr>
              <a:defRPr sz="2175" b="0">
                <a:solidFill>
                  <a:srgbClr val="174535"/>
                </a:solidFill>
                <a:latin typeface="Arial"/>
                <a:ea typeface="Arial"/>
                <a:cs typeface="Arial"/>
              </a:defRPr>
            </a:lvl3pPr>
            <a:lvl4pPr>
              <a:defRPr sz="2175" b="0">
                <a:solidFill>
                  <a:srgbClr val="174535"/>
                </a:solidFill>
                <a:latin typeface="Arial"/>
                <a:ea typeface="Arial"/>
                <a:cs typeface="Arial"/>
              </a:defRPr>
            </a:lvl4pPr>
            <a:lvl5pPr>
              <a:defRPr sz="2175" b="0">
                <a:solidFill>
                  <a:srgbClr val="174535"/>
                </a:solidFill>
                <a:latin typeface="Arial"/>
                <a:ea typeface="Arial"/>
                <a:cs typeface="Arial"/>
              </a:defRPr>
            </a:lvl5pPr>
            <a:lvl6pPr>
              <a:defRPr sz="2175" b="0">
                <a:solidFill>
                  <a:srgbClr val="174535"/>
                </a:solidFill>
                <a:latin typeface="Arial"/>
                <a:ea typeface="Arial"/>
                <a:cs typeface="Arial"/>
              </a:defRPr>
            </a:lvl6pPr>
            <a:lvl7pPr>
              <a:defRPr sz="2175" b="0">
                <a:solidFill>
                  <a:srgbClr val="174535"/>
                </a:solidFill>
                <a:latin typeface="Arial"/>
                <a:ea typeface="Arial"/>
                <a:cs typeface="Arial"/>
              </a:defRPr>
            </a:lvl7pPr>
            <a:lvl8pPr>
              <a:defRPr sz="2175" b="0">
                <a:solidFill>
                  <a:srgbClr val="174535"/>
                </a:solidFill>
                <a:latin typeface="Arial"/>
                <a:ea typeface="Arial"/>
                <a:cs typeface="Arial"/>
              </a:defRPr>
            </a:lvl8pPr>
            <a:lvl9pPr>
              <a:defRPr sz="2175" b="0">
                <a:solidFill>
                  <a:srgbClr val="174535"/>
                </a:solidFill>
                <a:latin typeface="Arial"/>
                <a:ea typeface="Arial"/>
                <a:cs typeface="Arial"/>
              </a:defRPr>
            </a:lvl9pPr>
          </a:lstStyle>
          <a:p xmlns:a="http://schemas.openxmlformats.org/drawingml/2006/main">
            <a:pPr>
              <a:defRPr sz="2175" b="0">
                <a:solidFill>
                  <a:srgbClr val="174535"/>
                </a:solidFill>
                <a:latin typeface="Arial"/>
                <a:ea typeface="Arial"/>
                <a:cs typeface="Arial"/>
              </a:defRPr>
            </a:pPr>
            <a:r>
              <a:rPr sz="2175" b="0">
                <a:solidFill>
                  <a:srgbClr val="174535"/>
                </a:solidFill>
                <a:latin typeface="Arial"/>
                <a:ea typeface="Arial"/>
                <a:cs typeface="Arial"/>
              </a:rPr>
              <a:t>Approve application</a:t>
            </a:r>
          </a:p>
        </p:txBody>
      </p:sp>
    </p:spTree>
    <p:extLst>
      <p:ext uri="{BB962C8B-B14F-4D97-AF65-F5344CB8AC3E}">
        <p14:creationId xmlns:p14="http://schemas.microsoft.com/office/powerpoint/2010/main" val="272589994"/>
      </p:ext>
    </p:extLst>
  </p:cSld>
</p:sld>
</file>

<file path=ppt/slides/slide28.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1905FDB-99D3-4507-8495-A23724208D57}"/>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Actual rehearsal outcomes</a:t>
            </a:r>
          </a:p>
        </p:txBody>
      </p:sp>
      <p:sp>
        <p:nvSpPr>
          <p:cNvPr id="2" name="">
            <a:extLst xmlns:a="http://schemas.openxmlformats.org/drawingml/2006/main">
              <a:ext uri="{FF2B5EF4-FFF2-40B4-BE49-F238E27FC236}">
                <a16:creationId xmlns:a16="http://schemas.microsoft.com/office/drawing/2014/main" id="{FBF90858-C9BD-46D7-99B8-4B6B46EF73EC}"/>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28</a:t>
            </a:r>
          </a:p>
        </p:txBody>
      </p:sp>
      <p:graphicFrame>
        <p:nvGraphicFramePr>
          <p:cNvPr id="3" name="">
            <a:extLst xmlns:a="http://schemas.openxmlformats.org/drawingml/2006/main">
              <a:ext uri="{FF2B5EF4-FFF2-40B4-BE49-F238E27FC236}">
                <a16:creationId xmlns:a16="http://schemas.microsoft.com/office/drawing/2014/main" id="{92A69432-4FA2-4636-8D5E-C43D1868B63E}"/>
              </a:ext>
            </a:extLst>
          </p:cNvPr>
          <p:cNvGraphicFramePr/>
          <p:nvPr/>
        </p:nvGraphicFramePr>
        <p:xfrm>
          <a:off xmlns:a="http://schemas.openxmlformats.org/drawingml/2006/main" x="619125" y="1733550"/>
          <a:ext xmlns:a="http://schemas.openxmlformats.org/drawingml/2006/main" cx="10953750" cy="3048000"/>
        </p:xfrm>
        <a:graphic xmlns:a="http://schemas.openxmlformats.org/drawingml/2006/main">
          <a:graphicData uri="http://schemas.openxmlformats.org/drawingml/2006/table">
            <a:tbl>
              <a:tblPr/>
              <a:tblGrid>
                <a:gridCol w="3143250"/>
                <a:gridCol w="3905250"/>
                <a:gridCol w="3905250"/>
              </a:tblGrid>
              <a:tr h="762000">
                <a:tc>
                  <a:txBody>
                    <a:bodyPr/>
                    <a:lstStyle/>
                    <a:p>
                      <a:r>
                        <a:rPr sz="1800" b="1">
                          <a:solidFill>
                            <a:srgbClr val="FFFFFF"/>
                          </a:solidFill>
                          <a:latin typeface="Arial"/>
                          <a:ea typeface="Arial"/>
                          <a:cs typeface="Arial"/>
                        </a:rPr>
                        <a:t>Acceptance variant</a:t>
                      </a:r>
                    </a:p>
                  </a:txBody>
                  <a:tcPr marL="91440" marR="91440" marT="45720" marB="45720">
                    <a:lnL w="9525">
                      <a:solidFill>
                        <a:srgbClr val="D4DDD5"/>
                      </a:solidFill>
                    </a:lnL>
                    <a:lnR w="9525">
                      <a:solidFill>
                        <a:srgbClr val="D4DDD5"/>
                      </a:solidFill>
                    </a:lnR>
                    <a:lnT w="9525">
                      <a:solidFill>
                        <a:srgbClr val="D4DDD5"/>
                      </a:solidFill>
                    </a:lnT>
                    <a:lnB w="9525">
                      <a:solidFill>
                        <a:srgbClr val="D4DDD5"/>
                      </a:solidFill>
                    </a:lnB>
                    <a:solidFill>
                      <a:srgbClr val="174B91"/>
                    </a:solidFill>
                  </a:tcPr>
                </a:tc>
                <a:tc>
                  <a:txBody>
                    <a:bodyPr/>
                    <a:lstStyle/>
                    <a:p>
                      <a:r>
                        <a:rPr sz="1800" b="1">
                          <a:solidFill>
                            <a:srgbClr val="FFFFFF"/>
                          </a:solidFill>
                          <a:latin typeface="Arial"/>
                          <a:ea typeface="Arial"/>
                          <a:cs typeface="Arial"/>
                        </a:rPr>
                        <a:t>Minimal</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c>
                  <a:txBody>
                    <a:bodyPr/>
                    <a:lstStyle/>
                    <a:p>
                      <a:r>
                        <a:rPr sz="1800" b="1">
                          <a:solidFill>
                            <a:srgbClr val="FFFFFF"/>
                          </a:solidFill>
                          <a:latin typeface="Arial"/>
                          <a:ea typeface="Arial"/>
                          <a:cs typeface="Arial"/>
                        </a:rPr>
                        <a:t>Engineered</a:t>
                      </a:r>
                    </a:p>
                  </a:txBody>
                  <a:tcPr marL="91440" marR="91440" marT="45720" marB="45720">
                    <a:lnR w="9525">
                      <a:solidFill>
                        <a:srgbClr val="D4DDD5"/>
                      </a:solidFill>
                    </a:lnR>
                    <a:lnT w="9525">
                      <a:solidFill>
                        <a:srgbClr val="D4DDD5"/>
                      </a:solidFill>
                    </a:lnT>
                    <a:lnB w="9525">
                      <a:solidFill>
                        <a:srgbClr val="D4DDD5"/>
                      </a:solidFill>
                    </a:lnB>
                    <a:solidFill>
                      <a:srgbClr val="174B91"/>
                    </a:solidFill>
                  </a:tcPr>
                </a:tc>
              </a:tr>
              <a:tr h="762000">
                <a:tc>
                  <a:txBody>
                    <a:bodyPr/>
                    <a:lstStyle/>
                    <a:p>
                      <a:r>
                        <a:rPr sz="1800" b="0">
                          <a:solidFill>
                            <a:srgbClr val="174535"/>
                          </a:solidFill>
                          <a:latin typeface="Arial"/>
                          <a:ea typeface="Arial"/>
                          <a:cs typeface="Arial"/>
                        </a:rPr>
                        <a:t>Draft</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5/6; budget stopped run</a:t>
                      </a:r>
                    </a:p>
                  </a:txBody>
                  <a:tcPr marL="91440" marR="91440" marT="45720" marB="45720">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6/6; waited for approval</a:t>
                      </a:r>
                    </a:p>
                  </a:txBody>
                  <a:tcPr marL="91440" marR="91440" marT="45720" marB="45720">
                    <a:lnR w="9525">
                      <a:solidFill>
                        <a:srgbClr val="D4DDD5"/>
                      </a:solidFill>
                    </a:lnR>
                    <a:lnB w="9525">
                      <a:solidFill>
                        <a:srgbClr val="D4DDD5"/>
                      </a:solidFill>
                    </a:lnB>
                    <a:solidFill>
                      <a:srgbClr val="FFFFFF"/>
                    </a:solidFill>
                  </a:tcPr>
                </a:tc>
              </a:tr>
              <a:tr h="762000">
                <a:tc>
                  <a:txBody>
                    <a:bodyPr/>
                    <a:lstStyle/>
                    <a:p>
                      <a:r>
                        <a:rPr sz="1800" b="0">
                          <a:solidFill>
                            <a:srgbClr val="174535"/>
                          </a:solidFill>
                          <a:latin typeface="Arial"/>
                          <a:ea typeface="Arial"/>
                          <a:cs typeface="Arial"/>
                        </a:rPr>
                        <a:t>Unicode and multiline</a:t>
                      </a:r>
                    </a:p>
                  </a:txBody>
                  <a:tcPr marL="91440" marR="91440" marT="45720" marB="45720">
                    <a:lnL w="9525">
                      <a:solidFill>
                        <a:srgbClr val="D4DDD5"/>
                      </a:solidFill>
                    </a:lnL>
                    <a:lnR w="9525">
                      <a:solidFill>
                        <a:srgbClr val="D4DDD5"/>
                      </a:solidFill>
                    </a:lnR>
                    <a:lnB w="9525">
                      <a:solidFill>
                        <a:srgbClr val="D4DDD5"/>
                      </a:solidFill>
                    </a:lnB>
                    <a:solidFill>
                      <a:srgbClr val="EEF2EA"/>
                    </a:solidFill>
                  </a:tcPr>
                </a:tc>
                <a:tc>
                  <a:txBody>
                    <a:bodyPr/>
                    <a:lstStyle/>
                    <a:p>
                      <a:r>
                        <a:rPr sz="1800" b="0">
                          <a:solidFill>
                            <a:srgbClr val="174535"/>
                          </a:solidFill>
                          <a:latin typeface="Arial"/>
                          <a:ea typeface="Arial"/>
                          <a:cs typeface="Arial"/>
                        </a:rPr>
                        <a:t>6/6; applied automatically</a:t>
                      </a:r>
                    </a:p>
                  </a:txBody>
                  <a:tcPr marL="91440" marR="91440" marT="45720" marB="45720">
                    <a:lnR w="9525">
                      <a:solidFill>
                        <a:srgbClr val="D4DDD5"/>
                      </a:solidFill>
                    </a:lnR>
                    <a:lnB w="9525">
                      <a:solidFill>
                        <a:srgbClr val="D4DDD5"/>
                      </a:solidFill>
                    </a:lnB>
                    <a:solidFill>
                      <a:srgbClr val="EEF2EA"/>
                    </a:solidFill>
                  </a:tcPr>
                </a:tc>
                <a:tc>
                  <a:txBody>
                    <a:bodyPr/>
                    <a:lstStyle/>
                    <a:p>
                      <a:r>
                        <a:rPr sz="1800" b="0">
                          <a:solidFill>
                            <a:srgbClr val="174535"/>
                          </a:solidFill>
                          <a:latin typeface="Arial"/>
                          <a:ea typeface="Arial"/>
                          <a:cs typeface="Arial"/>
                        </a:rPr>
                        <a:t>6/6; waited for approval</a:t>
                      </a:r>
                    </a:p>
                  </a:txBody>
                  <a:tcPr marL="91440" marR="91440" marT="45720" marB="45720">
                    <a:lnR w="9525">
                      <a:solidFill>
                        <a:srgbClr val="D4DDD5"/>
                      </a:solidFill>
                    </a:lnR>
                    <a:lnB w="9525">
                      <a:solidFill>
                        <a:srgbClr val="D4DDD5"/>
                      </a:solidFill>
                    </a:lnB>
                    <a:solidFill>
                      <a:srgbClr val="EEF2EA"/>
                    </a:solidFill>
                  </a:tcPr>
                </a:tc>
              </a:tr>
              <a:tr h="762000">
                <a:tc>
                  <a:txBody>
                    <a:bodyPr/>
                    <a:lstStyle/>
                    <a:p>
                      <a:r>
                        <a:rPr sz="1800" b="0">
                          <a:solidFill>
                            <a:srgbClr val="174535"/>
                          </a:solidFill>
                          <a:latin typeface="Arial"/>
                          <a:ea typeface="Arial"/>
                          <a:cs typeface="Arial"/>
                        </a:rPr>
                        <a:t>Long-form text</a:t>
                      </a:r>
                    </a:p>
                  </a:txBody>
                  <a:tcPr marL="91440" marR="91440" marT="45720" marB="45720">
                    <a:lnL w="9525">
                      <a:solidFill>
                        <a:srgbClr val="D4DDD5"/>
                      </a:solidFill>
                    </a:lnL>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6/6; applied automatically</a:t>
                      </a:r>
                    </a:p>
                  </a:txBody>
                  <a:tcPr marL="91440" marR="91440" marT="45720" marB="45720">
                    <a:lnR w="9525">
                      <a:solidFill>
                        <a:srgbClr val="D4DDD5"/>
                      </a:solidFill>
                    </a:lnR>
                    <a:lnB w="9525">
                      <a:solidFill>
                        <a:srgbClr val="D4DDD5"/>
                      </a:solidFill>
                    </a:lnB>
                    <a:solidFill>
                      <a:srgbClr val="FFFFFF"/>
                    </a:solidFill>
                  </a:tcPr>
                </a:tc>
                <a:tc>
                  <a:txBody>
                    <a:bodyPr/>
                    <a:lstStyle/>
                    <a:p>
                      <a:r>
                        <a:rPr sz="1800" b="0">
                          <a:solidFill>
                            <a:srgbClr val="174535"/>
                          </a:solidFill>
                          <a:latin typeface="Arial"/>
                          <a:ea typeface="Arial"/>
                          <a:cs typeface="Arial"/>
                        </a:rPr>
                        <a:t>6/6; waited for approval</a:t>
                      </a:r>
                    </a:p>
                  </a:txBody>
                  <a:tcPr marL="91440" marR="91440" marT="45720" marB="45720">
                    <a:lnR w="9525">
                      <a:solidFill>
                        <a:srgbClr val="D4DDD5"/>
                      </a:solidFill>
                    </a:lnR>
                    <a:lnB w="9525">
                      <a:solidFill>
                        <a:srgbClr val="D4DDD5"/>
                      </a:solidFill>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435412F-AEE2-4895-8E81-2CC00C8ED4B6}"/>
              </a:ext>
            </a:extLst>
          </p:cNvPr>
          <p:cNvSpPr>
            <a:spLocks xmlns:a="http://schemas.openxmlformats.org/drawingml/2006/main" noGrp="1"/>
          </p:cNvSpPr>
          <p:nvPr/>
        </p:nvSpPr>
        <p:spPr>
          <a:xfrm xmlns:a="http://schemas.openxmlformats.org/drawingml/2006/main">
            <a:off x="666750" y="53340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4685D"/>
                </a:solidFill>
                <a:latin typeface="Arial"/>
                <a:ea typeface="Arial"/>
                <a:cs typeface="Arial"/>
              </a:defRPr>
            </a:defPPr>
            <a:lvl1pPr>
              <a:defRPr sz="2025" b="0">
                <a:solidFill>
                  <a:srgbClr val="54685D"/>
                </a:solidFill>
                <a:latin typeface="Arial"/>
                <a:ea typeface="Arial"/>
                <a:cs typeface="Arial"/>
              </a:defRPr>
            </a:lvl1pPr>
            <a:lvl2pPr>
              <a:defRPr sz="2025" b="0">
                <a:solidFill>
                  <a:srgbClr val="54685D"/>
                </a:solidFill>
                <a:latin typeface="Arial"/>
                <a:ea typeface="Arial"/>
                <a:cs typeface="Arial"/>
              </a:defRPr>
            </a:lvl2pPr>
            <a:lvl3pPr>
              <a:defRPr sz="2025" b="0">
                <a:solidFill>
                  <a:srgbClr val="54685D"/>
                </a:solidFill>
                <a:latin typeface="Arial"/>
                <a:ea typeface="Arial"/>
                <a:cs typeface="Arial"/>
              </a:defRPr>
            </a:lvl3pPr>
            <a:lvl4pPr>
              <a:defRPr sz="2025" b="0">
                <a:solidFill>
                  <a:srgbClr val="54685D"/>
                </a:solidFill>
                <a:latin typeface="Arial"/>
                <a:ea typeface="Arial"/>
                <a:cs typeface="Arial"/>
              </a:defRPr>
            </a:lvl4pPr>
            <a:lvl5pPr>
              <a:defRPr sz="2025" b="0">
                <a:solidFill>
                  <a:srgbClr val="54685D"/>
                </a:solidFill>
                <a:latin typeface="Arial"/>
                <a:ea typeface="Arial"/>
                <a:cs typeface="Arial"/>
              </a:defRPr>
            </a:lvl5pPr>
            <a:lvl6pPr>
              <a:defRPr sz="2025" b="0">
                <a:solidFill>
                  <a:srgbClr val="54685D"/>
                </a:solidFill>
                <a:latin typeface="Arial"/>
                <a:ea typeface="Arial"/>
                <a:cs typeface="Arial"/>
              </a:defRPr>
            </a:lvl6pPr>
            <a:lvl7pPr>
              <a:defRPr sz="2025" b="0">
                <a:solidFill>
                  <a:srgbClr val="54685D"/>
                </a:solidFill>
                <a:latin typeface="Arial"/>
                <a:ea typeface="Arial"/>
                <a:cs typeface="Arial"/>
              </a:defRPr>
            </a:lvl7pPr>
            <a:lvl8pPr>
              <a:defRPr sz="2025" b="0">
                <a:solidFill>
                  <a:srgbClr val="54685D"/>
                </a:solidFill>
                <a:latin typeface="Arial"/>
                <a:ea typeface="Arial"/>
                <a:cs typeface="Arial"/>
              </a:defRPr>
            </a:lvl8pPr>
            <a:lvl9pPr>
              <a:defRPr sz="2025" b="0">
                <a:solidFill>
                  <a:srgbClr val="54685D"/>
                </a:solidFill>
                <a:latin typeface="Arial"/>
                <a:ea typeface="Arial"/>
                <a:cs typeface="Arial"/>
              </a:defRPr>
            </a:lvl9pPr>
          </a:lstStyle>
          <a:p xmlns:a="http://schemas.openxmlformats.org/drawingml/2006/main">
            <a:pPr>
              <a:defRPr sz="2025" b="0">
                <a:solidFill>
                  <a:srgbClr val="54685D"/>
                </a:solidFill>
                <a:latin typeface="Arial"/>
                <a:ea typeface="Arial"/>
                <a:cs typeface="Arial"/>
              </a:defRPr>
            </a:pPr>
            <a:r>
              <a:rPr sz="2025" b="0">
                <a:solidFill>
                  <a:srgbClr val="54685D"/>
                </a:solidFill>
                <a:latin typeface="Arial"/>
                <a:ea typeface="Arial"/>
                <a:cs typeface="Arial"/>
              </a:rPr>
              <a:t>One trial per cell. Success, completion and approval are separate outcomes.</a:t>
            </a:r>
          </a:p>
        </p:txBody>
      </p:sp>
    </p:spTree>
    <p:extLst>
      <p:ext uri="{BB962C8B-B14F-4D97-AF65-F5344CB8AC3E}">
        <p14:creationId xmlns:p14="http://schemas.microsoft.com/office/powerpoint/2010/main" val="302187826"/>
      </p:ext>
    </p:extLst>
  </p:cSld>
</p:sld>
</file>

<file path=ppt/slides/slide29.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2B79CD-9F82-4DEF-976F-FB0C0BD2A656}"/>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Fresh sessions: what survived?</a:t>
            </a:r>
          </a:p>
        </p:txBody>
      </p:sp>
      <p:sp>
        <p:nvSpPr>
          <p:cNvPr id="2" name="">
            <a:extLst xmlns:a="http://schemas.openxmlformats.org/drawingml/2006/main">
              <a:ext uri="{FF2B5EF4-FFF2-40B4-BE49-F238E27FC236}">
                <a16:creationId xmlns:a16="http://schemas.microsoft.com/office/drawing/2014/main" id="{91F6D8AD-A144-4DEC-857F-3296C969361D}"/>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29</a:t>
            </a:r>
          </a:p>
        </p:txBody>
      </p:sp>
      <p:pic>
        <p:nvPicPr>
          <p:cNvPr id="3" name="">
            <a:extLst xmlns:a="http://schemas.openxmlformats.org/drawingml/2006/main">
              <a:ext uri="{FF2B5EF4-FFF2-40B4-BE49-F238E27FC236}">
                <a16:creationId xmlns:a16="http://schemas.microsoft.com/office/drawing/2014/main" id="{3277A4A6-0589-4EFC-836F-3A9AFACE177B}"/>
              </a:ext>
            </a:extLst>
          </p:cNvPr>
          <p:cNvPicPr>
            <a:picLocks xmlns:a="http://schemas.openxmlformats.org/drawingml/2006/main" noChangeAspect="1"/>
          </p:cNvPicPr>
          <p:nvPr/>
        </p:nvPicPr>
        <p:blipFill>
          <a:blip xmlns:r="http://schemas.openxmlformats.org/officeDocument/2006/relationships" xmlns:a="http://schemas.openxmlformats.org/drawingml/2006/main" r:embed="Rb9a1eec0c9954cf2"/>
          <a:stretch xmlns:a="http://schemas.openxmlformats.org/drawingml/2006/main"/>
        </p:blipFill>
        <p:spPr>
          <a:xfrm xmlns:a="http://schemas.openxmlformats.org/drawingml/2006/main">
            <a:off x="866775" y="1524000"/>
            <a:ext cx="7391400"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578F08B-7C4F-449C-B715-64E65D514BFC}"/>
              </a:ext>
            </a:extLst>
          </p:cNvPr>
          <p:cNvSpPr>
            <a:spLocks xmlns:a="http://schemas.openxmlformats.org/drawingml/2006/main" noGrp="1"/>
          </p:cNvSpPr>
          <p:nvPr/>
        </p:nvSpPr>
        <p:spPr>
          <a:xfrm xmlns:a="http://schemas.openxmlformats.org/drawingml/2006/main">
            <a:off x="8953500" y="1809750"/>
            <a:ext cx="247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4B91"/>
                </a:solidFill>
                <a:latin typeface="Arial"/>
                <a:ea typeface="Arial"/>
                <a:cs typeface="Arial"/>
              </a:defRPr>
            </a:defPPr>
            <a:lvl1pPr>
              <a:defRPr sz="2100" b="1">
                <a:solidFill>
                  <a:srgbClr val="174B91"/>
                </a:solidFill>
                <a:latin typeface="Arial"/>
                <a:ea typeface="Arial"/>
                <a:cs typeface="Arial"/>
              </a:defRPr>
            </a:lvl1pPr>
            <a:lvl2pPr>
              <a:defRPr sz="2100" b="1">
                <a:solidFill>
                  <a:srgbClr val="174B91"/>
                </a:solidFill>
                <a:latin typeface="Arial"/>
                <a:ea typeface="Arial"/>
                <a:cs typeface="Arial"/>
              </a:defRPr>
            </a:lvl2pPr>
            <a:lvl3pPr>
              <a:defRPr sz="2100" b="1">
                <a:solidFill>
                  <a:srgbClr val="174B91"/>
                </a:solidFill>
                <a:latin typeface="Arial"/>
                <a:ea typeface="Arial"/>
                <a:cs typeface="Arial"/>
              </a:defRPr>
            </a:lvl3pPr>
            <a:lvl4pPr>
              <a:defRPr sz="2100" b="1">
                <a:solidFill>
                  <a:srgbClr val="174B91"/>
                </a:solidFill>
                <a:latin typeface="Arial"/>
                <a:ea typeface="Arial"/>
                <a:cs typeface="Arial"/>
              </a:defRPr>
            </a:lvl4pPr>
            <a:lvl5pPr>
              <a:defRPr sz="2100" b="1">
                <a:solidFill>
                  <a:srgbClr val="174B91"/>
                </a:solidFill>
                <a:latin typeface="Arial"/>
                <a:ea typeface="Arial"/>
                <a:cs typeface="Arial"/>
              </a:defRPr>
            </a:lvl5pPr>
            <a:lvl6pPr>
              <a:defRPr sz="2100" b="1">
                <a:solidFill>
                  <a:srgbClr val="174B91"/>
                </a:solidFill>
                <a:latin typeface="Arial"/>
                <a:ea typeface="Arial"/>
                <a:cs typeface="Arial"/>
              </a:defRPr>
            </a:lvl6pPr>
            <a:lvl7pPr>
              <a:defRPr sz="2100" b="1">
                <a:solidFill>
                  <a:srgbClr val="174B91"/>
                </a:solidFill>
                <a:latin typeface="Arial"/>
                <a:ea typeface="Arial"/>
                <a:cs typeface="Arial"/>
              </a:defRPr>
            </a:lvl7pPr>
            <a:lvl8pPr>
              <a:defRPr sz="2100" b="1">
                <a:solidFill>
                  <a:srgbClr val="174B91"/>
                </a:solidFill>
                <a:latin typeface="Arial"/>
                <a:ea typeface="Arial"/>
                <a:cs typeface="Arial"/>
              </a:defRPr>
            </a:lvl8pPr>
            <a:lvl9pPr>
              <a:defRPr sz="2100" b="1">
                <a:solidFill>
                  <a:srgbClr val="174B91"/>
                </a:solidFill>
                <a:latin typeface="Arial"/>
                <a:ea typeface="Arial"/>
                <a:cs typeface="Arial"/>
              </a:defRPr>
            </a:lvl9pPr>
          </a:lstStyle>
          <a:p xmlns:a="http://schemas.openxmlformats.org/drawingml/2006/main">
            <a:pPr>
              <a:defRPr sz="2100" b="1">
                <a:solidFill>
                  <a:srgbClr val="174B91"/>
                </a:solidFill>
                <a:latin typeface="Arial"/>
                <a:ea typeface="Arial"/>
                <a:cs typeface="Arial"/>
              </a:defRPr>
            </a:pPr>
            <a:r>
              <a:rPr sz="2100" b="1">
                <a:solidFill>
                  <a:srgbClr val="174B91"/>
                </a:solidFill>
                <a:latin typeface="Arial"/>
                <a:ea typeface="Arial"/>
                <a:cs typeface="Arial"/>
              </a:rPr>
              <a:t>Both retained files</a:t>
            </a:r>
          </a:p>
        </p:txBody>
      </p:sp>
      <p:sp>
        <p:nvSpPr>
          <p:cNvPr id="5" name="">
            <a:extLst xmlns:a="http://schemas.openxmlformats.org/drawingml/2006/main">
              <a:ext uri="{FF2B5EF4-FFF2-40B4-BE49-F238E27FC236}">
                <a16:creationId xmlns:a16="http://schemas.microsoft.com/office/drawing/2014/main" id="{5EBC0465-4EFB-4AC1-A482-5FAB024A3EA3}"/>
              </a:ext>
            </a:extLst>
          </p:cNvPr>
          <p:cNvSpPr>
            <a:spLocks xmlns:a="http://schemas.openxmlformats.org/drawingml/2006/main" noGrp="1"/>
          </p:cNvSpPr>
          <p:nvPr/>
        </p:nvSpPr>
        <p:spPr>
          <a:xfrm xmlns:a="http://schemas.openxmlformats.org/drawingml/2006/main">
            <a:off x="8953500" y="3048000"/>
            <a:ext cx="247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4535"/>
                </a:solidFill>
                <a:latin typeface="Arial"/>
                <a:ea typeface="Arial"/>
                <a:cs typeface="Arial"/>
              </a:defRPr>
            </a:defPPr>
            <a:lvl1pPr>
              <a:defRPr sz="2100" b="0">
                <a:solidFill>
                  <a:srgbClr val="174535"/>
                </a:solidFill>
                <a:latin typeface="Arial"/>
                <a:ea typeface="Arial"/>
                <a:cs typeface="Arial"/>
              </a:defRPr>
            </a:lvl1pPr>
            <a:lvl2pPr>
              <a:defRPr sz="2100" b="0">
                <a:solidFill>
                  <a:srgbClr val="174535"/>
                </a:solidFill>
                <a:latin typeface="Arial"/>
                <a:ea typeface="Arial"/>
                <a:cs typeface="Arial"/>
              </a:defRPr>
            </a:lvl2pPr>
            <a:lvl3pPr>
              <a:defRPr sz="2100" b="0">
                <a:solidFill>
                  <a:srgbClr val="174535"/>
                </a:solidFill>
                <a:latin typeface="Arial"/>
                <a:ea typeface="Arial"/>
                <a:cs typeface="Arial"/>
              </a:defRPr>
            </a:lvl3pPr>
            <a:lvl4pPr>
              <a:defRPr sz="2100" b="0">
                <a:solidFill>
                  <a:srgbClr val="174535"/>
                </a:solidFill>
                <a:latin typeface="Arial"/>
                <a:ea typeface="Arial"/>
                <a:cs typeface="Arial"/>
              </a:defRPr>
            </a:lvl4pPr>
            <a:lvl5pPr>
              <a:defRPr sz="2100" b="0">
                <a:solidFill>
                  <a:srgbClr val="174535"/>
                </a:solidFill>
                <a:latin typeface="Arial"/>
                <a:ea typeface="Arial"/>
                <a:cs typeface="Arial"/>
              </a:defRPr>
            </a:lvl5pPr>
            <a:lvl6pPr>
              <a:defRPr sz="2100" b="0">
                <a:solidFill>
                  <a:srgbClr val="174535"/>
                </a:solidFill>
                <a:latin typeface="Arial"/>
                <a:ea typeface="Arial"/>
                <a:cs typeface="Arial"/>
              </a:defRPr>
            </a:lvl6pPr>
            <a:lvl7pPr>
              <a:defRPr sz="2100" b="0">
                <a:solidFill>
                  <a:srgbClr val="174535"/>
                </a:solidFill>
                <a:latin typeface="Arial"/>
                <a:ea typeface="Arial"/>
                <a:cs typeface="Arial"/>
              </a:defRPr>
            </a:lvl7pPr>
            <a:lvl8pPr>
              <a:defRPr sz="2100" b="0">
                <a:solidFill>
                  <a:srgbClr val="174535"/>
                </a:solidFill>
                <a:latin typeface="Arial"/>
                <a:ea typeface="Arial"/>
                <a:cs typeface="Arial"/>
              </a:defRPr>
            </a:lvl8pPr>
            <a:lvl9pPr>
              <a:defRPr sz="2100" b="0">
                <a:solidFill>
                  <a:srgbClr val="174535"/>
                </a:solidFill>
                <a:latin typeface="Arial"/>
                <a:ea typeface="Arial"/>
                <a:cs typeface="Arial"/>
              </a:defRPr>
            </a:lvl9pPr>
          </a:lstStyle>
          <a:p xmlns:a="http://schemas.openxmlformats.org/drawingml/2006/main">
            <a:pPr>
              <a:defRPr sz="2100" b="0">
                <a:solidFill>
                  <a:srgbClr val="174535"/>
                </a:solidFill>
                <a:latin typeface="Arial"/>
                <a:ea typeface="Arial"/>
                <a:cs typeface="Arial"/>
              </a:defRPr>
            </a:pPr>
            <a:r>
              <a:rPr sz="2100" b="0">
                <a:solidFill>
                  <a:srgbClr val="174535"/>
                </a:solidFill>
                <a:latin typeface="Arial"/>
                <a:ea typeface="Arial"/>
                <a:cs typeface="Arial"/>
              </a:rPr>
              <a:t>Only Engineered restored saved progress</a:t>
            </a:r>
          </a:p>
        </p:txBody>
      </p:sp>
      <p:sp>
        <p:nvSpPr>
          <p:cNvPr id="6" name="">
            <a:extLst xmlns:a="http://schemas.openxmlformats.org/drawingml/2006/main">
              <a:ext uri="{FF2B5EF4-FFF2-40B4-BE49-F238E27FC236}">
                <a16:creationId xmlns:a16="http://schemas.microsoft.com/office/drawing/2014/main" id="{B8CE98E5-0FCD-442E-ADA8-2460420B8B69}"/>
              </a:ext>
            </a:extLst>
          </p:cNvPr>
          <p:cNvSpPr>
            <a:spLocks xmlns:a="http://schemas.openxmlformats.org/drawingml/2006/main" noGrp="1"/>
          </p:cNvSpPr>
          <p:nvPr/>
        </p:nvSpPr>
        <p:spPr>
          <a:xfrm xmlns:a="http://schemas.openxmlformats.org/drawingml/2006/main">
            <a:off x="8953500" y="4857750"/>
            <a:ext cx="2476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E87924"/>
                </a:solidFill>
                <a:latin typeface="Arial"/>
                <a:ea typeface="Arial"/>
                <a:cs typeface="Arial"/>
              </a:defRPr>
            </a:defPPr>
            <a:lvl1pPr>
              <a:defRPr sz="1875" b="1">
                <a:solidFill>
                  <a:srgbClr val="E87924"/>
                </a:solidFill>
                <a:latin typeface="Arial"/>
                <a:ea typeface="Arial"/>
                <a:cs typeface="Arial"/>
              </a:defRPr>
            </a:lvl1pPr>
            <a:lvl2pPr>
              <a:defRPr sz="1875" b="1">
                <a:solidFill>
                  <a:srgbClr val="E87924"/>
                </a:solidFill>
                <a:latin typeface="Arial"/>
                <a:ea typeface="Arial"/>
                <a:cs typeface="Arial"/>
              </a:defRPr>
            </a:lvl2pPr>
            <a:lvl3pPr>
              <a:defRPr sz="1875" b="1">
                <a:solidFill>
                  <a:srgbClr val="E87924"/>
                </a:solidFill>
                <a:latin typeface="Arial"/>
                <a:ea typeface="Arial"/>
                <a:cs typeface="Arial"/>
              </a:defRPr>
            </a:lvl3pPr>
            <a:lvl4pPr>
              <a:defRPr sz="1875" b="1">
                <a:solidFill>
                  <a:srgbClr val="E87924"/>
                </a:solidFill>
                <a:latin typeface="Arial"/>
                <a:ea typeface="Arial"/>
                <a:cs typeface="Arial"/>
              </a:defRPr>
            </a:lvl4pPr>
            <a:lvl5pPr>
              <a:defRPr sz="1875" b="1">
                <a:solidFill>
                  <a:srgbClr val="E87924"/>
                </a:solidFill>
                <a:latin typeface="Arial"/>
                <a:ea typeface="Arial"/>
                <a:cs typeface="Arial"/>
              </a:defRPr>
            </a:lvl5pPr>
            <a:lvl6pPr>
              <a:defRPr sz="1875" b="1">
                <a:solidFill>
                  <a:srgbClr val="E87924"/>
                </a:solidFill>
                <a:latin typeface="Arial"/>
                <a:ea typeface="Arial"/>
                <a:cs typeface="Arial"/>
              </a:defRPr>
            </a:lvl6pPr>
            <a:lvl7pPr>
              <a:defRPr sz="1875" b="1">
                <a:solidFill>
                  <a:srgbClr val="E87924"/>
                </a:solidFill>
                <a:latin typeface="Arial"/>
                <a:ea typeface="Arial"/>
                <a:cs typeface="Arial"/>
              </a:defRPr>
            </a:lvl7pPr>
            <a:lvl8pPr>
              <a:defRPr sz="1875" b="1">
                <a:solidFill>
                  <a:srgbClr val="E87924"/>
                </a:solidFill>
                <a:latin typeface="Arial"/>
                <a:ea typeface="Arial"/>
                <a:cs typeface="Arial"/>
              </a:defRPr>
            </a:lvl8pPr>
            <a:lvl9pPr>
              <a:defRPr sz="1875" b="1">
                <a:solidFill>
                  <a:srgbClr val="E87924"/>
                </a:solidFill>
                <a:latin typeface="Arial"/>
                <a:ea typeface="Arial"/>
                <a:cs typeface="Arial"/>
              </a:defRPr>
            </a:lvl9pPr>
          </a:lstStyle>
          <a:p xmlns:a="http://schemas.openxmlformats.org/drawingml/2006/main">
            <a:pPr>
              <a:defRPr sz="1875" b="1">
                <a:solidFill>
                  <a:srgbClr val="E87924"/>
                </a:solidFill>
                <a:latin typeface="Arial"/>
                <a:ea typeface="Arial"/>
                <a:cs typeface="Arial"/>
              </a:defRPr>
            </a:pPr>
            <a:r>
              <a:rPr sz="1875" b="1">
                <a:solidFill>
                  <a:srgbClr val="E87924"/>
                </a:solidFill>
                <a:latin typeface="Arial"/>
                <a:ea typeface="Arial"/>
                <a:cs typeface="Arial"/>
              </a:rPr>
              <a:t>Both hit a budget in this rehearsal</a:t>
            </a:r>
          </a:p>
        </p:txBody>
      </p:sp>
    </p:spTree>
    <p:extLst>
      <p:ext uri="{BB962C8B-B14F-4D97-AF65-F5344CB8AC3E}">
        <p14:creationId xmlns:p14="http://schemas.microsoft.com/office/powerpoint/2010/main" val="1214049940"/>
      </p:ext>
    </p:extLst>
  </p:cSld>
</p:sld>
</file>

<file path=ppt/slides/slide30.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677E6C-A9A5-4F01-809B-E2159F426B00}"/>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What the demo establishes</a:t>
            </a:r>
          </a:p>
        </p:txBody>
      </p:sp>
      <p:sp>
        <p:nvSpPr>
          <p:cNvPr id="2" name="">
            <a:extLst xmlns:a="http://schemas.openxmlformats.org/drawingml/2006/main">
              <a:ext uri="{FF2B5EF4-FFF2-40B4-BE49-F238E27FC236}">
                <a16:creationId xmlns:a16="http://schemas.microsoft.com/office/drawing/2014/main" id="{41BA7A0B-4752-42BF-9A08-A2EBB76EFC51}"/>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30</a:t>
            </a:r>
          </a:p>
        </p:txBody>
      </p:sp>
      <p:sp>
        <p:nvSpPr>
          <p:cNvPr id="3" name="">
            <a:extLst xmlns:a="http://schemas.openxmlformats.org/drawingml/2006/main">
              <a:ext uri="{FF2B5EF4-FFF2-40B4-BE49-F238E27FC236}">
                <a16:creationId xmlns:a16="http://schemas.microsoft.com/office/drawing/2014/main" id="{26F66494-E83B-4235-BEC2-5768F499EA45}"/>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The controls are visible and testable</a:t>
            </a:r>
          </a:p>
        </p:txBody>
      </p:sp>
      <p:sp>
        <p:nvSpPr>
          <p:cNvPr id="4" name="">
            <a:extLst xmlns:a="http://schemas.openxmlformats.org/drawingml/2006/main">
              <a:ext uri="{FF2B5EF4-FFF2-40B4-BE49-F238E27FC236}">
                <a16:creationId xmlns:a16="http://schemas.microsoft.com/office/drawing/2014/main" id="{02E4D5FB-81CF-434B-8AD3-41181BC14ABA}"/>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Inputs, tools, saved state, checks and approval leave recorded evidence.</a:t>
            </a:r>
          </a:p>
        </p:txBody>
      </p:sp>
      <p:sp>
        <p:nvSpPr>
          <p:cNvPr id="5" name="">
            <a:extLst xmlns:a="http://schemas.openxmlformats.org/drawingml/2006/main">
              <a:ext uri="{FF2B5EF4-FFF2-40B4-BE49-F238E27FC236}">
                <a16:creationId xmlns:a16="http://schemas.microsoft.com/office/drawing/2014/main" id="{24D1EBB4-24EF-4E0D-8736-F5D998E3E2FC}"/>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A capable model can succeed with Minimal</a:t>
            </a:r>
          </a:p>
        </p:txBody>
      </p:sp>
      <p:sp>
        <p:nvSpPr>
          <p:cNvPr id="6" name="">
            <a:extLst xmlns:a="http://schemas.openxmlformats.org/drawingml/2006/main">
              <a:ext uri="{FF2B5EF4-FFF2-40B4-BE49-F238E27FC236}">
                <a16:creationId xmlns:a16="http://schemas.microsoft.com/office/drawing/2014/main" id="{AEB7C951-5893-449D-B8E3-BFFD6392DE53}"/>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The contrast is also what the runtime requires before completion.</a:t>
            </a:r>
          </a:p>
        </p:txBody>
      </p:sp>
      <p:sp>
        <p:nvSpPr>
          <p:cNvPr id="7" name="">
            <a:extLst xmlns:a="http://schemas.openxmlformats.org/drawingml/2006/main">
              <a:ext uri="{FF2B5EF4-FFF2-40B4-BE49-F238E27FC236}">
                <a16:creationId xmlns:a16="http://schemas.microsoft.com/office/drawing/2014/main" id="{57916A9D-71A4-4314-9574-642CEB3187AF}"/>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Harnesses still have limits</a:t>
            </a:r>
          </a:p>
        </p:txBody>
      </p:sp>
      <p:sp>
        <p:nvSpPr>
          <p:cNvPr id="8" name="">
            <a:extLst xmlns:a="http://schemas.openxmlformats.org/drawingml/2006/main">
              <a:ext uri="{FF2B5EF4-FFF2-40B4-BE49-F238E27FC236}">
                <a16:creationId xmlns:a16="http://schemas.microsoft.com/office/drawing/2014/main" id="{58CCCC31-A502-4C74-A7B8-BE2D86A51B8C}"/>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Provider failures, budgets and incomplete tests remain possible.</a:t>
            </a:r>
          </a:p>
        </p:txBody>
      </p:sp>
    </p:spTree>
    <p:extLst>
      <p:ext uri="{BB962C8B-B14F-4D97-AF65-F5344CB8AC3E}">
        <p14:creationId xmlns:p14="http://schemas.microsoft.com/office/powerpoint/2010/main" val="1221299748"/>
      </p:ext>
    </p:extLst>
  </p:cSld>
</p:sld>
</file>

<file path=ppt/slides/slide31.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B8643C-E1D2-437F-BF2E-146180E02E3B}"/>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Applying this to existing coding agents</a:t>
            </a:r>
          </a:p>
        </p:txBody>
      </p:sp>
      <p:sp>
        <p:nvSpPr>
          <p:cNvPr id="2" name="">
            <a:extLst xmlns:a="http://schemas.openxmlformats.org/drawingml/2006/main">
              <a:ext uri="{FF2B5EF4-FFF2-40B4-BE49-F238E27FC236}">
                <a16:creationId xmlns:a16="http://schemas.microsoft.com/office/drawing/2014/main" id="{5073494D-8582-4553-A99B-DF5A539F89E0}"/>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31</a:t>
            </a:r>
          </a:p>
        </p:txBody>
      </p:sp>
      <p:sp>
        <p:nvSpPr>
          <p:cNvPr id="3" name="">
            <a:extLst xmlns:a="http://schemas.openxmlformats.org/drawingml/2006/main">
              <a:ext uri="{FF2B5EF4-FFF2-40B4-BE49-F238E27FC236}">
                <a16:creationId xmlns:a16="http://schemas.microsoft.com/office/drawing/2014/main" id="{1E83A935-702F-4F78-939A-32F62DA7B0C7}"/>
              </a:ext>
            </a:extLst>
          </p:cNvPr>
          <p:cNvSpPr>
            <a:spLocks xmlns:a="http://schemas.openxmlformats.org/drawingml/2006/main" noGrp="1"/>
          </p:cNvSpPr>
          <p:nvPr/>
        </p:nvSpPr>
        <p:spPr>
          <a:xfrm xmlns:a="http://schemas.openxmlformats.org/drawingml/2006/main">
            <a:off x="666750" y="18097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Project knowledge</a:t>
            </a:r>
          </a:p>
        </p:txBody>
      </p:sp>
      <p:sp>
        <p:nvSpPr>
          <p:cNvPr id="4" name="">
            <a:extLst xmlns:a="http://schemas.openxmlformats.org/drawingml/2006/main">
              <a:ext uri="{FF2B5EF4-FFF2-40B4-BE49-F238E27FC236}">
                <a16:creationId xmlns:a16="http://schemas.microsoft.com/office/drawing/2014/main" id="{606C36C8-7805-4090-8886-2B9C3E66D260}"/>
              </a:ext>
            </a:extLst>
          </p:cNvPr>
          <p:cNvSpPr>
            <a:spLocks xmlns:a="http://schemas.openxmlformats.org/drawingml/2006/main" noGrp="1"/>
          </p:cNvSpPr>
          <p:nvPr/>
        </p:nvSpPr>
        <p:spPr>
          <a:xfrm xmlns:a="http://schemas.openxmlformats.org/drawingml/2006/main">
            <a:off x="666750" y="2190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 concise AGENTS.md or equivalent points to current setup and design docs.</a:t>
            </a:r>
          </a:p>
        </p:txBody>
      </p:sp>
      <p:sp>
        <p:nvSpPr>
          <p:cNvPr id="5" name="">
            <a:extLst xmlns:a="http://schemas.openxmlformats.org/drawingml/2006/main">
              <a:ext uri="{FF2B5EF4-FFF2-40B4-BE49-F238E27FC236}">
                <a16:creationId xmlns:a16="http://schemas.microsoft.com/office/drawing/2014/main" id="{98DC947F-0D78-4BFF-9128-17EB0825F8DF}"/>
              </a:ext>
            </a:extLst>
          </p:cNvPr>
          <p:cNvSpPr>
            <a:spLocks xmlns:a="http://schemas.openxmlformats.org/drawingml/2006/main" noGrp="1"/>
          </p:cNvSpPr>
          <p:nvPr/>
        </p:nvSpPr>
        <p:spPr>
          <a:xfrm xmlns:a="http://schemas.openxmlformats.org/drawingml/2006/main">
            <a:off x="666750" y="3095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Executable feedback</a:t>
            </a:r>
          </a:p>
        </p:txBody>
      </p:sp>
      <p:sp>
        <p:nvSpPr>
          <p:cNvPr id="6" name="">
            <a:extLst xmlns:a="http://schemas.openxmlformats.org/drawingml/2006/main">
              <a:ext uri="{FF2B5EF4-FFF2-40B4-BE49-F238E27FC236}">
                <a16:creationId xmlns:a16="http://schemas.microsoft.com/office/drawing/2014/main" id="{8E5407AF-AC4C-429E-90C9-F9B39185656D}"/>
              </a:ext>
            </a:extLst>
          </p:cNvPr>
          <p:cNvSpPr>
            <a:spLocks xmlns:a="http://schemas.openxmlformats.org/drawingml/2006/main" noGrp="1"/>
          </p:cNvSpPr>
          <p:nvPr/>
        </p:nvSpPr>
        <p:spPr>
          <a:xfrm xmlns:a="http://schemas.openxmlformats.org/drawingml/2006/main">
            <a:off x="666750" y="3476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Tests, builds and architectural checks explain failures clearly.</a:t>
            </a:r>
          </a:p>
        </p:txBody>
      </p:sp>
      <p:sp>
        <p:nvSpPr>
          <p:cNvPr id="7" name="">
            <a:extLst xmlns:a="http://schemas.openxmlformats.org/drawingml/2006/main">
              <a:ext uri="{FF2B5EF4-FFF2-40B4-BE49-F238E27FC236}">
                <a16:creationId xmlns:a16="http://schemas.microsoft.com/office/drawing/2014/main" id="{CE073FF3-0C1B-4CC0-898E-DAF4EB8A3071}"/>
              </a:ext>
            </a:extLst>
          </p:cNvPr>
          <p:cNvSpPr>
            <a:spLocks xmlns:a="http://schemas.openxmlformats.org/drawingml/2006/main" noGrp="1"/>
          </p:cNvSpPr>
          <p:nvPr/>
        </p:nvSpPr>
        <p:spPr>
          <a:xfrm xmlns:a="http://schemas.openxmlformats.org/drawingml/2006/main">
            <a:off x="666750" y="43815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4B91"/>
                </a:solidFill>
                <a:latin typeface="Arial"/>
                <a:ea typeface="Arial"/>
                <a:cs typeface="Arial"/>
              </a:defRPr>
            </a:defPPr>
            <a:lvl1pPr>
              <a:defRPr sz="2025" b="1">
                <a:solidFill>
                  <a:srgbClr val="174B91"/>
                </a:solidFill>
                <a:latin typeface="Arial"/>
                <a:ea typeface="Arial"/>
                <a:cs typeface="Arial"/>
              </a:defRPr>
            </a:lvl1pPr>
            <a:lvl2pPr>
              <a:defRPr sz="2025" b="1">
                <a:solidFill>
                  <a:srgbClr val="174B91"/>
                </a:solidFill>
                <a:latin typeface="Arial"/>
                <a:ea typeface="Arial"/>
                <a:cs typeface="Arial"/>
              </a:defRPr>
            </a:lvl2pPr>
            <a:lvl3pPr>
              <a:defRPr sz="2025" b="1">
                <a:solidFill>
                  <a:srgbClr val="174B91"/>
                </a:solidFill>
                <a:latin typeface="Arial"/>
                <a:ea typeface="Arial"/>
                <a:cs typeface="Arial"/>
              </a:defRPr>
            </a:lvl3pPr>
            <a:lvl4pPr>
              <a:defRPr sz="2025" b="1">
                <a:solidFill>
                  <a:srgbClr val="174B91"/>
                </a:solidFill>
                <a:latin typeface="Arial"/>
                <a:ea typeface="Arial"/>
                <a:cs typeface="Arial"/>
              </a:defRPr>
            </a:lvl4pPr>
            <a:lvl5pPr>
              <a:defRPr sz="2025" b="1">
                <a:solidFill>
                  <a:srgbClr val="174B91"/>
                </a:solidFill>
                <a:latin typeface="Arial"/>
                <a:ea typeface="Arial"/>
                <a:cs typeface="Arial"/>
              </a:defRPr>
            </a:lvl5pPr>
            <a:lvl6pPr>
              <a:defRPr sz="2025" b="1">
                <a:solidFill>
                  <a:srgbClr val="174B91"/>
                </a:solidFill>
                <a:latin typeface="Arial"/>
                <a:ea typeface="Arial"/>
                <a:cs typeface="Arial"/>
              </a:defRPr>
            </a:lvl6pPr>
            <a:lvl7pPr>
              <a:defRPr sz="2025" b="1">
                <a:solidFill>
                  <a:srgbClr val="174B91"/>
                </a:solidFill>
                <a:latin typeface="Arial"/>
                <a:ea typeface="Arial"/>
                <a:cs typeface="Arial"/>
              </a:defRPr>
            </a:lvl7pPr>
            <a:lvl8pPr>
              <a:defRPr sz="2025" b="1">
                <a:solidFill>
                  <a:srgbClr val="174B91"/>
                </a:solidFill>
                <a:latin typeface="Arial"/>
                <a:ea typeface="Arial"/>
                <a:cs typeface="Arial"/>
              </a:defRPr>
            </a:lvl8pPr>
            <a:lvl9pPr>
              <a:defRPr sz="2025" b="1">
                <a:solidFill>
                  <a:srgbClr val="174B91"/>
                </a:solidFill>
                <a:latin typeface="Arial"/>
                <a:ea typeface="Arial"/>
                <a:cs typeface="Arial"/>
              </a:defRPr>
            </a:lvl9pPr>
          </a:lstStyle>
          <a:p xmlns:a="http://schemas.openxmlformats.org/drawingml/2006/main">
            <a:pPr>
              <a:defRPr sz="2025" b="1">
                <a:solidFill>
                  <a:srgbClr val="174B91"/>
                </a:solidFill>
                <a:latin typeface="Arial"/>
                <a:ea typeface="Arial"/>
                <a:cs typeface="Arial"/>
              </a:defRPr>
            </a:pPr>
            <a:r>
              <a:rPr sz="2025" b="1">
                <a:solidFill>
                  <a:srgbClr val="174B91"/>
                </a:solidFill>
                <a:latin typeface="Arial"/>
                <a:ea typeface="Arial"/>
                <a:cs typeface="Arial"/>
              </a:rPr>
              <a:t>Measured workflow changes</a:t>
            </a:r>
          </a:p>
        </p:txBody>
      </p:sp>
      <p:sp>
        <p:nvSpPr>
          <p:cNvPr id="8" name="">
            <a:extLst xmlns:a="http://schemas.openxmlformats.org/drawingml/2006/main">
              <a:ext uri="{FF2B5EF4-FFF2-40B4-BE49-F238E27FC236}">
                <a16:creationId xmlns:a16="http://schemas.microsoft.com/office/drawing/2014/main" id="{B6695633-825E-4A68-819A-6ACD5F698FCB}"/>
              </a:ext>
            </a:extLst>
          </p:cNvPr>
          <p:cNvSpPr>
            <a:spLocks xmlns:a="http://schemas.openxmlformats.org/drawingml/2006/main" noGrp="1"/>
          </p:cNvSpPr>
          <p:nvPr/>
        </p:nvSpPr>
        <p:spPr>
          <a:xfrm xmlns:a="http://schemas.openxmlformats.org/drawingml/2006/main">
            <a:off x="666750"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Use representative bug fixes, review evidence and remove unnecessary scaffolding.</a:t>
            </a:r>
          </a:p>
        </p:txBody>
      </p:sp>
    </p:spTree>
    <p:extLst>
      <p:ext uri="{BB962C8B-B14F-4D97-AF65-F5344CB8AC3E}">
        <p14:creationId xmlns:p14="http://schemas.microsoft.com/office/powerpoint/2010/main" val="1328115102"/>
      </p:ext>
    </p:extLst>
  </p:cSld>
</p:sld>
</file>

<file path=ppt/slides/slide32.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E181784-0F1C-466D-9877-1A1E9F29DFF1}"/>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Discussion</a:t>
            </a:r>
          </a:p>
        </p:txBody>
      </p:sp>
      <p:sp>
        <p:nvSpPr>
          <p:cNvPr id="2" name="">
            <a:extLst xmlns:a="http://schemas.openxmlformats.org/drawingml/2006/main">
              <a:ext uri="{FF2B5EF4-FFF2-40B4-BE49-F238E27FC236}">
                <a16:creationId xmlns:a16="http://schemas.microsoft.com/office/drawing/2014/main" id="{0941EC81-2D1A-4FC0-9BBC-BBAF7AF02D01}"/>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32</a:t>
            </a:r>
          </a:p>
        </p:txBody>
      </p:sp>
      <p:sp>
        <p:nvSpPr>
          <p:cNvPr id="3" name="">
            <a:extLst xmlns:a="http://schemas.openxmlformats.org/drawingml/2006/main">
              <a:ext uri="{FF2B5EF4-FFF2-40B4-BE49-F238E27FC236}">
                <a16:creationId xmlns:a16="http://schemas.microsoft.com/office/drawing/2014/main" id="{D0EFDA31-D26B-475E-8CFE-6673A7F0798E}"/>
              </a:ext>
            </a:extLst>
          </p:cNvPr>
          <p:cNvSpPr>
            <a:spLocks xmlns:a="http://schemas.openxmlformats.org/drawingml/2006/main" noGrp="1"/>
          </p:cNvSpPr>
          <p:nvPr/>
        </p:nvSpPr>
        <p:spPr>
          <a:xfrm xmlns:a="http://schemas.openxmlformats.org/drawingml/2006/main">
            <a:off x="666750" y="2000250"/>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B91"/>
                </a:solidFill>
                <a:latin typeface="Arial"/>
                <a:ea typeface="Arial"/>
                <a:cs typeface="Arial"/>
              </a:defRPr>
            </a:defPPr>
            <a:lvl1pPr>
              <a:defRPr sz="3300" b="1">
                <a:solidFill>
                  <a:srgbClr val="174B91"/>
                </a:solidFill>
                <a:latin typeface="Arial"/>
                <a:ea typeface="Arial"/>
                <a:cs typeface="Arial"/>
              </a:defRPr>
            </a:lvl1pPr>
            <a:lvl2pPr>
              <a:defRPr sz="3300" b="1">
                <a:solidFill>
                  <a:srgbClr val="174B91"/>
                </a:solidFill>
                <a:latin typeface="Arial"/>
                <a:ea typeface="Arial"/>
                <a:cs typeface="Arial"/>
              </a:defRPr>
            </a:lvl2pPr>
            <a:lvl3pPr>
              <a:defRPr sz="3300" b="1">
                <a:solidFill>
                  <a:srgbClr val="174B91"/>
                </a:solidFill>
                <a:latin typeface="Arial"/>
                <a:ea typeface="Arial"/>
                <a:cs typeface="Arial"/>
              </a:defRPr>
            </a:lvl3pPr>
            <a:lvl4pPr>
              <a:defRPr sz="3300" b="1">
                <a:solidFill>
                  <a:srgbClr val="174B91"/>
                </a:solidFill>
                <a:latin typeface="Arial"/>
                <a:ea typeface="Arial"/>
                <a:cs typeface="Arial"/>
              </a:defRPr>
            </a:lvl4pPr>
            <a:lvl5pPr>
              <a:defRPr sz="3300" b="1">
                <a:solidFill>
                  <a:srgbClr val="174B91"/>
                </a:solidFill>
                <a:latin typeface="Arial"/>
                <a:ea typeface="Arial"/>
                <a:cs typeface="Arial"/>
              </a:defRPr>
            </a:lvl5pPr>
            <a:lvl6pPr>
              <a:defRPr sz="3300" b="1">
                <a:solidFill>
                  <a:srgbClr val="174B91"/>
                </a:solidFill>
                <a:latin typeface="Arial"/>
                <a:ea typeface="Arial"/>
                <a:cs typeface="Arial"/>
              </a:defRPr>
            </a:lvl6pPr>
            <a:lvl7pPr>
              <a:defRPr sz="3300" b="1">
                <a:solidFill>
                  <a:srgbClr val="174B91"/>
                </a:solidFill>
                <a:latin typeface="Arial"/>
                <a:ea typeface="Arial"/>
                <a:cs typeface="Arial"/>
              </a:defRPr>
            </a:lvl7pPr>
            <a:lvl8pPr>
              <a:defRPr sz="3300" b="1">
                <a:solidFill>
                  <a:srgbClr val="174B91"/>
                </a:solidFill>
                <a:latin typeface="Arial"/>
                <a:ea typeface="Arial"/>
                <a:cs typeface="Arial"/>
              </a:defRPr>
            </a:lvl8pPr>
            <a:lvl9pPr>
              <a:defRPr sz="3300" b="1">
                <a:solidFill>
                  <a:srgbClr val="174B91"/>
                </a:solidFill>
                <a:latin typeface="Arial"/>
                <a:ea typeface="Arial"/>
                <a:cs typeface="Arial"/>
              </a:defRPr>
            </a:lvl9pPr>
          </a:lstStyle>
          <a:p xmlns:a="http://schemas.openxmlformats.org/drawingml/2006/main">
            <a:pPr>
              <a:defRPr sz="3300" b="1">
                <a:solidFill>
                  <a:srgbClr val="174B91"/>
                </a:solidFill>
                <a:latin typeface="Arial"/>
                <a:ea typeface="Arial"/>
                <a:cs typeface="Arial"/>
              </a:defRPr>
            </a:pPr>
            <a:r>
              <a:rPr sz="3300" b="1">
                <a:solidFill>
                  <a:srgbClr val="174B91"/>
                </a:solidFill>
                <a:latin typeface="Arial"/>
                <a:ea typeface="Arial"/>
                <a:cs typeface="Arial"/>
              </a:rPr>
              <a:t>Which recurring failure in our bug-fixing work could we address with a better harness?</a:t>
            </a:r>
          </a:p>
        </p:txBody>
      </p:sp>
      <p:sp>
        <p:nvSpPr>
          <p:cNvPr id="4" name="">
            <a:extLst xmlns:a="http://schemas.openxmlformats.org/drawingml/2006/main">
              <a:ext uri="{FF2B5EF4-FFF2-40B4-BE49-F238E27FC236}">
                <a16:creationId xmlns:a16="http://schemas.microsoft.com/office/drawing/2014/main" id="{AF3D5176-59EE-484D-AD47-CD15036B02A6}"/>
              </a:ext>
            </a:extLst>
          </p:cNvPr>
          <p:cNvSpPr>
            <a:spLocks xmlns:a="http://schemas.openxmlformats.org/drawingml/2006/main" noGrp="1"/>
          </p:cNvSpPr>
          <p:nvPr/>
        </p:nvSpPr>
        <p:spPr>
          <a:xfrm xmlns:a="http://schemas.openxmlformats.org/drawingml/2006/main">
            <a:off x="666750" y="4429125"/>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4535"/>
                </a:solidFill>
                <a:latin typeface="Arial"/>
                <a:ea typeface="Arial"/>
                <a:cs typeface="Arial"/>
              </a:defRPr>
            </a:defPPr>
            <a:lvl1pPr>
              <a:defRPr sz="2400" b="0">
                <a:solidFill>
                  <a:srgbClr val="174535"/>
                </a:solidFill>
                <a:latin typeface="Arial"/>
                <a:ea typeface="Arial"/>
                <a:cs typeface="Arial"/>
              </a:defRPr>
            </a:lvl1pPr>
            <a:lvl2pPr>
              <a:defRPr sz="2400" b="0">
                <a:solidFill>
                  <a:srgbClr val="174535"/>
                </a:solidFill>
                <a:latin typeface="Arial"/>
                <a:ea typeface="Arial"/>
                <a:cs typeface="Arial"/>
              </a:defRPr>
            </a:lvl2pPr>
            <a:lvl3pPr>
              <a:defRPr sz="2400" b="0">
                <a:solidFill>
                  <a:srgbClr val="174535"/>
                </a:solidFill>
                <a:latin typeface="Arial"/>
                <a:ea typeface="Arial"/>
                <a:cs typeface="Arial"/>
              </a:defRPr>
            </a:lvl3pPr>
            <a:lvl4pPr>
              <a:defRPr sz="2400" b="0">
                <a:solidFill>
                  <a:srgbClr val="174535"/>
                </a:solidFill>
                <a:latin typeface="Arial"/>
                <a:ea typeface="Arial"/>
                <a:cs typeface="Arial"/>
              </a:defRPr>
            </a:lvl4pPr>
            <a:lvl5pPr>
              <a:defRPr sz="2400" b="0">
                <a:solidFill>
                  <a:srgbClr val="174535"/>
                </a:solidFill>
                <a:latin typeface="Arial"/>
                <a:ea typeface="Arial"/>
                <a:cs typeface="Arial"/>
              </a:defRPr>
            </a:lvl5pPr>
            <a:lvl6pPr>
              <a:defRPr sz="2400" b="0">
                <a:solidFill>
                  <a:srgbClr val="174535"/>
                </a:solidFill>
                <a:latin typeface="Arial"/>
                <a:ea typeface="Arial"/>
                <a:cs typeface="Arial"/>
              </a:defRPr>
            </a:lvl6pPr>
            <a:lvl7pPr>
              <a:defRPr sz="2400" b="0">
                <a:solidFill>
                  <a:srgbClr val="174535"/>
                </a:solidFill>
                <a:latin typeface="Arial"/>
                <a:ea typeface="Arial"/>
                <a:cs typeface="Arial"/>
              </a:defRPr>
            </a:lvl7pPr>
            <a:lvl8pPr>
              <a:defRPr sz="2400" b="0">
                <a:solidFill>
                  <a:srgbClr val="174535"/>
                </a:solidFill>
                <a:latin typeface="Arial"/>
                <a:ea typeface="Arial"/>
                <a:cs typeface="Arial"/>
              </a:defRPr>
            </a:lvl8pPr>
            <a:lvl9pPr>
              <a:defRPr sz="2400" b="0">
                <a:solidFill>
                  <a:srgbClr val="174535"/>
                </a:solidFill>
                <a:latin typeface="Arial"/>
                <a:ea typeface="Arial"/>
                <a:cs typeface="Arial"/>
              </a:defRPr>
            </a:lvl9pPr>
          </a:lstStyle>
          <a:p xmlns:a="http://schemas.openxmlformats.org/drawingml/2006/main">
            <a:pPr>
              <a:defRPr sz="2400" b="0">
                <a:solidFill>
                  <a:srgbClr val="174535"/>
                </a:solidFill>
                <a:latin typeface="Arial"/>
                <a:ea typeface="Arial"/>
                <a:cs typeface="Arial"/>
              </a:defRPr>
            </a:pPr>
            <a:r>
              <a:rPr sz="2400" b="0">
                <a:solidFill>
                  <a:srgbClr val="174535"/>
                </a:solidFill>
                <a:latin typeface="Arial"/>
                <a:ea typeface="Arial"/>
                <a:cs typeface="Arial"/>
              </a:rPr>
              <a:t>What input, tool, check or approval would change the outcome?</a:t>
            </a:r>
          </a:p>
        </p:txBody>
      </p:sp>
    </p:spTree>
    <p:extLst>
      <p:ext uri="{BB962C8B-B14F-4D97-AF65-F5344CB8AC3E}">
        <p14:creationId xmlns:p14="http://schemas.microsoft.com/office/powerpoint/2010/main" val="184639001"/>
      </p:ext>
    </p:extLst>
  </p:cSld>
</p:sld>
</file>

<file path=ppt/slides/slide33.xml><?xml version="1.0" encoding="utf-8"?>
<p:sld xmlns:p="http://schemas.openxmlformats.org/presentationml/2006/main">
  <p:cSld>
    <p:bg>
      <p:bgPr>
        <a:solidFill xmlns:a="http://schemas.openxmlformats.org/drawingml/2006/main">
          <a:srgbClr val="F7F7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B271AC-8A53-473F-92E0-C7DA42E29605}"/>
              </a:ext>
            </a:extLst>
          </p:cNvPr>
          <p:cNvSpPr>
            <a:spLocks xmlns:a="http://schemas.openxmlformats.org/drawingml/2006/main" noGrp="1"/>
          </p:cNvSpPr>
          <p:nvPr/>
        </p:nvSpPr>
        <p:spPr>
          <a:xfrm xmlns:a="http://schemas.openxmlformats.org/drawingml/2006/main">
            <a:off x="609600" y="4572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4535"/>
                </a:solidFill>
                <a:latin typeface="Arial"/>
                <a:ea typeface="Arial"/>
                <a:cs typeface="Arial"/>
              </a:defRPr>
            </a:defPPr>
            <a:lvl1pPr>
              <a:defRPr sz="3300" b="1">
                <a:solidFill>
                  <a:srgbClr val="174535"/>
                </a:solidFill>
                <a:latin typeface="Arial"/>
                <a:ea typeface="Arial"/>
                <a:cs typeface="Arial"/>
              </a:defRPr>
            </a:lvl1pPr>
            <a:lvl2pPr>
              <a:defRPr sz="3300" b="1">
                <a:solidFill>
                  <a:srgbClr val="174535"/>
                </a:solidFill>
                <a:latin typeface="Arial"/>
                <a:ea typeface="Arial"/>
                <a:cs typeface="Arial"/>
              </a:defRPr>
            </a:lvl2pPr>
            <a:lvl3pPr>
              <a:defRPr sz="3300" b="1">
                <a:solidFill>
                  <a:srgbClr val="174535"/>
                </a:solidFill>
                <a:latin typeface="Arial"/>
                <a:ea typeface="Arial"/>
                <a:cs typeface="Arial"/>
              </a:defRPr>
            </a:lvl3pPr>
            <a:lvl4pPr>
              <a:defRPr sz="3300" b="1">
                <a:solidFill>
                  <a:srgbClr val="174535"/>
                </a:solidFill>
                <a:latin typeface="Arial"/>
                <a:ea typeface="Arial"/>
                <a:cs typeface="Arial"/>
              </a:defRPr>
            </a:lvl4pPr>
            <a:lvl5pPr>
              <a:defRPr sz="3300" b="1">
                <a:solidFill>
                  <a:srgbClr val="174535"/>
                </a:solidFill>
                <a:latin typeface="Arial"/>
                <a:ea typeface="Arial"/>
                <a:cs typeface="Arial"/>
              </a:defRPr>
            </a:lvl5pPr>
            <a:lvl6pPr>
              <a:defRPr sz="3300" b="1">
                <a:solidFill>
                  <a:srgbClr val="174535"/>
                </a:solidFill>
                <a:latin typeface="Arial"/>
                <a:ea typeface="Arial"/>
                <a:cs typeface="Arial"/>
              </a:defRPr>
            </a:lvl6pPr>
            <a:lvl7pPr>
              <a:defRPr sz="3300" b="1">
                <a:solidFill>
                  <a:srgbClr val="174535"/>
                </a:solidFill>
                <a:latin typeface="Arial"/>
                <a:ea typeface="Arial"/>
                <a:cs typeface="Arial"/>
              </a:defRPr>
            </a:lvl7pPr>
            <a:lvl8pPr>
              <a:defRPr sz="3300" b="1">
                <a:solidFill>
                  <a:srgbClr val="174535"/>
                </a:solidFill>
                <a:latin typeface="Arial"/>
                <a:ea typeface="Arial"/>
                <a:cs typeface="Arial"/>
              </a:defRPr>
            </a:lvl8pPr>
            <a:lvl9pPr>
              <a:defRPr sz="3300" b="1">
                <a:solidFill>
                  <a:srgbClr val="174535"/>
                </a:solidFill>
                <a:latin typeface="Arial"/>
                <a:ea typeface="Arial"/>
                <a:cs typeface="Arial"/>
              </a:defRPr>
            </a:lvl9pPr>
          </a:lstStyle>
          <a:p xmlns:a="http://schemas.openxmlformats.org/drawingml/2006/main">
            <a:pPr>
              <a:defRPr sz="3300" b="1">
                <a:solidFill>
                  <a:srgbClr val="174535"/>
                </a:solidFill>
                <a:latin typeface="Arial"/>
                <a:ea typeface="Arial"/>
                <a:cs typeface="Arial"/>
              </a:defRPr>
            </a:pPr>
            <a:r>
              <a:rPr sz="3300" b="1">
                <a:solidFill>
                  <a:srgbClr val="174535"/>
                </a:solidFill>
                <a:latin typeface="Arial"/>
                <a:ea typeface="Arial"/>
                <a:cs typeface="Arial"/>
              </a:rPr>
              <a:t>Sources and further reading</a:t>
            </a:r>
          </a:p>
        </p:txBody>
      </p:sp>
      <p:sp>
        <p:nvSpPr>
          <p:cNvPr id="2" name="">
            <a:extLst xmlns:a="http://schemas.openxmlformats.org/drawingml/2006/main">
              <a:ext uri="{FF2B5EF4-FFF2-40B4-BE49-F238E27FC236}">
                <a16:creationId xmlns:a16="http://schemas.microsoft.com/office/drawing/2014/main" id="{FD3F8346-41A3-45C6-99BE-3F8DBD077E43}"/>
              </a:ext>
            </a:extLst>
          </p:cNvPr>
          <p:cNvSpPr>
            <a:spLocks xmlns:a="http://schemas.openxmlformats.org/drawingml/2006/main" noGrp="1"/>
          </p:cNvSpPr>
          <p:nvPr/>
        </p:nvSpPr>
        <p:spPr>
          <a:xfrm xmlns:a="http://schemas.openxmlformats.org/drawingml/2006/main">
            <a:off x="11049000" y="6429375"/>
            <a:ext cx="5143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4685D"/>
                </a:solidFill>
                <a:latin typeface="Arial"/>
                <a:ea typeface="Arial"/>
                <a:cs typeface="Arial"/>
              </a:defRPr>
            </a:defPPr>
            <a:lvl1pPr>
              <a:defRPr sz="1125" b="0">
                <a:solidFill>
                  <a:srgbClr val="54685D"/>
                </a:solidFill>
                <a:latin typeface="Arial"/>
                <a:ea typeface="Arial"/>
                <a:cs typeface="Arial"/>
              </a:defRPr>
            </a:lvl1pPr>
            <a:lvl2pPr>
              <a:defRPr sz="1125" b="0">
                <a:solidFill>
                  <a:srgbClr val="54685D"/>
                </a:solidFill>
                <a:latin typeface="Arial"/>
                <a:ea typeface="Arial"/>
                <a:cs typeface="Arial"/>
              </a:defRPr>
            </a:lvl2pPr>
            <a:lvl3pPr>
              <a:defRPr sz="1125" b="0">
                <a:solidFill>
                  <a:srgbClr val="54685D"/>
                </a:solidFill>
                <a:latin typeface="Arial"/>
                <a:ea typeface="Arial"/>
                <a:cs typeface="Arial"/>
              </a:defRPr>
            </a:lvl3pPr>
            <a:lvl4pPr>
              <a:defRPr sz="1125" b="0">
                <a:solidFill>
                  <a:srgbClr val="54685D"/>
                </a:solidFill>
                <a:latin typeface="Arial"/>
                <a:ea typeface="Arial"/>
                <a:cs typeface="Arial"/>
              </a:defRPr>
            </a:lvl4pPr>
            <a:lvl5pPr>
              <a:defRPr sz="1125" b="0">
                <a:solidFill>
                  <a:srgbClr val="54685D"/>
                </a:solidFill>
                <a:latin typeface="Arial"/>
                <a:ea typeface="Arial"/>
                <a:cs typeface="Arial"/>
              </a:defRPr>
            </a:lvl5pPr>
            <a:lvl6pPr>
              <a:defRPr sz="1125" b="0">
                <a:solidFill>
                  <a:srgbClr val="54685D"/>
                </a:solidFill>
                <a:latin typeface="Arial"/>
                <a:ea typeface="Arial"/>
                <a:cs typeface="Arial"/>
              </a:defRPr>
            </a:lvl6pPr>
            <a:lvl7pPr>
              <a:defRPr sz="1125" b="0">
                <a:solidFill>
                  <a:srgbClr val="54685D"/>
                </a:solidFill>
                <a:latin typeface="Arial"/>
                <a:ea typeface="Arial"/>
                <a:cs typeface="Arial"/>
              </a:defRPr>
            </a:lvl7pPr>
            <a:lvl8pPr>
              <a:defRPr sz="1125" b="0">
                <a:solidFill>
                  <a:srgbClr val="54685D"/>
                </a:solidFill>
                <a:latin typeface="Arial"/>
                <a:ea typeface="Arial"/>
                <a:cs typeface="Arial"/>
              </a:defRPr>
            </a:lvl8pPr>
            <a:lvl9pPr>
              <a:defRPr sz="1125" b="0">
                <a:solidFill>
                  <a:srgbClr val="54685D"/>
                </a:solidFill>
                <a:latin typeface="Arial"/>
                <a:ea typeface="Arial"/>
                <a:cs typeface="Arial"/>
              </a:defRPr>
            </a:lvl9pPr>
          </a:lstStyle>
          <a:p xmlns:a="http://schemas.openxmlformats.org/drawingml/2006/main">
            <a:pPr>
              <a:defRPr sz="1125" b="0">
                <a:solidFill>
                  <a:srgbClr val="54685D"/>
                </a:solidFill>
                <a:latin typeface="Arial"/>
                <a:ea typeface="Arial"/>
                <a:cs typeface="Arial"/>
              </a:defRPr>
            </a:pPr>
            <a:r>
              <a:rPr sz="1125" b="0">
                <a:solidFill>
                  <a:srgbClr val="54685D"/>
                </a:solidFill>
                <a:latin typeface="Arial"/>
                <a:ea typeface="Arial"/>
                <a:cs typeface="Arial"/>
              </a:rPr>
              <a:t>33</a:t>
            </a:r>
          </a:p>
        </p:txBody>
      </p:sp>
      <p:sp>
        <p:nvSpPr>
          <p:cNvPr id="3" name="">
            <a:extLst xmlns:a="http://schemas.openxmlformats.org/drawingml/2006/main">
              <a:ext uri="{FF2B5EF4-FFF2-40B4-BE49-F238E27FC236}">
                <a16:creationId xmlns:a16="http://schemas.microsoft.com/office/drawing/2014/main" id="{28C071A4-CAA6-4BA9-9E21-BE8879B50B27}"/>
              </a:ext>
            </a:extLst>
          </p:cNvPr>
          <p:cNvSpPr>
            <a:spLocks xmlns:a="http://schemas.openxmlformats.org/drawingml/2006/main" noGrp="1"/>
          </p:cNvSpPr>
          <p:nvPr/>
        </p:nvSpPr>
        <p:spPr>
          <a:xfrm xmlns:a="http://schemas.openxmlformats.org/drawingml/2006/main">
            <a:off x="666750" y="166687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4B91"/>
                </a:solidFill>
                <a:latin typeface="Arial"/>
                <a:ea typeface="Arial"/>
                <a:cs typeface="Arial"/>
              </a:defRPr>
            </a:defPPr>
            <a:lvl1pPr>
              <a:defRPr sz="1875" b="1">
                <a:solidFill>
                  <a:srgbClr val="174B91"/>
                </a:solidFill>
                <a:latin typeface="Arial"/>
                <a:ea typeface="Arial"/>
                <a:cs typeface="Arial"/>
              </a:defRPr>
            </a:lvl1pPr>
            <a:lvl2pPr>
              <a:defRPr sz="1875" b="1">
                <a:solidFill>
                  <a:srgbClr val="174B91"/>
                </a:solidFill>
                <a:latin typeface="Arial"/>
                <a:ea typeface="Arial"/>
                <a:cs typeface="Arial"/>
              </a:defRPr>
            </a:lvl2pPr>
            <a:lvl3pPr>
              <a:defRPr sz="1875" b="1">
                <a:solidFill>
                  <a:srgbClr val="174B91"/>
                </a:solidFill>
                <a:latin typeface="Arial"/>
                <a:ea typeface="Arial"/>
                <a:cs typeface="Arial"/>
              </a:defRPr>
            </a:lvl3pPr>
            <a:lvl4pPr>
              <a:defRPr sz="1875" b="1">
                <a:solidFill>
                  <a:srgbClr val="174B91"/>
                </a:solidFill>
                <a:latin typeface="Arial"/>
                <a:ea typeface="Arial"/>
                <a:cs typeface="Arial"/>
              </a:defRPr>
            </a:lvl4pPr>
            <a:lvl5pPr>
              <a:defRPr sz="1875" b="1">
                <a:solidFill>
                  <a:srgbClr val="174B91"/>
                </a:solidFill>
                <a:latin typeface="Arial"/>
                <a:ea typeface="Arial"/>
                <a:cs typeface="Arial"/>
              </a:defRPr>
            </a:lvl5pPr>
            <a:lvl6pPr>
              <a:defRPr sz="1875" b="1">
                <a:solidFill>
                  <a:srgbClr val="174B91"/>
                </a:solidFill>
                <a:latin typeface="Arial"/>
                <a:ea typeface="Arial"/>
                <a:cs typeface="Arial"/>
              </a:defRPr>
            </a:lvl6pPr>
            <a:lvl7pPr>
              <a:defRPr sz="1875" b="1">
                <a:solidFill>
                  <a:srgbClr val="174B91"/>
                </a:solidFill>
                <a:latin typeface="Arial"/>
                <a:ea typeface="Arial"/>
                <a:cs typeface="Arial"/>
              </a:defRPr>
            </a:lvl7pPr>
            <a:lvl8pPr>
              <a:defRPr sz="1875" b="1">
                <a:solidFill>
                  <a:srgbClr val="174B91"/>
                </a:solidFill>
                <a:latin typeface="Arial"/>
                <a:ea typeface="Arial"/>
                <a:cs typeface="Arial"/>
              </a:defRPr>
            </a:lvl8pPr>
            <a:lvl9pPr>
              <a:defRPr sz="1875" b="1">
                <a:solidFill>
                  <a:srgbClr val="174B91"/>
                </a:solidFill>
                <a:latin typeface="Arial"/>
                <a:ea typeface="Arial"/>
                <a:cs typeface="Arial"/>
              </a:defRPr>
            </a:lvl9pPr>
          </a:lstStyle>
          <a:p xmlns:a="http://schemas.openxmlformats.org/drawingml/2006/main">
            <a:pPr>
              <a:defRPr sz="1875" b="1">
                <a:solidFill>
                  <a:srgbClr val="174B91"/>
                </a:solidFill>
                <a:latin typeface="Arial"/>
                <a:ea typeface="Arial"/>
                <a:cs typeface="Arial"/>
              </a:defRPr>
            </a:pPr>
            <a:r>
              <a:rPr sz="1875" b="1">
                <a:solidFill>
                  <a:srgbClr val="174B91"/>
                </a:solidFill>
                <a:latin typeface="Arial"/>
                <a:ea typeface="Arial"/>
                <a:cs typeface="Arial"/>
              </a:rPr>
              <a:t>Anthropic: Effective harnesses for long-running agents</a:t>
            </a:r>
          </a:p>
        </p:txBody>
      </p:sp>
      <p:sp>
        <p:nvSpPr>
          <p:cNvPr id="4" name="">
            <a:extLst xmlns:a="http://schemas.openxmlformats.org/drawingml/2006/main">
              <a:ext uri="{FF2B5EF4-FFF2-40B4-BE49-F238E27FC236}">
                <a16:creationId xmlns:a16="http://schemas.microsoft.com/office/drawing/2014/main" id="{312720F0-39A3-4762-AA81-B1328D3FBAEE}"/>
              </a:ext>
            </a:extLst>
          </p:cNvPr>
          <p:cNvSpPr>
            <a:spLocks xmlns:a="http://schemas.openxmlformats.org/drawingml/2006/main" noGrp="1"/>
          </p:cNvSpPr>
          <p:nvPr/>
        </p:nvSpPr>
        <p:spPr>
          <a:xfrm xmlns:a="http://schemas.openxmlformats.org/drawingml/2006/main">
            <a:off x="666750" y="20478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anthropic.com/research/effective-harnesses-for-long-running-agents</a:t>
            </a:r>
          </a:p>
        </p:txBody>
      </p:sp>
      <p:sp>
        <p:nvSpPr>
          <p:cNvPr id="5" name="">
            <a:extLst xmlns:a="http://schemas.openxmlformats.org/drawingml/2006/main">
              <a:ext uri="{FF2B5EF4-FFF2-40B4-BE49-F238E27FC236}">
                <a16:creationId xmlns:a16="http://schemas.microsoft.com/office/drawing/2014/main" id="{714379AC-D7F6-4407-B14F-BC49ACFD3C8A}"/>
              </a:ext>
            </a:extLst>
          </p:cNvPr>
          <p:cNvSpPr>
            <a:spLocks xmlns:a="http://schemas.openxmlformats.org/drawingml/2006/main" noGrp="1"/>
          </p:cNvSpPr>
          <p:nvPr/>
        </p:nvSpPr>
        <p:spPr>
          <a:xfrm xmlns:a="http://schemas.openxmlformats.org/drawingml/2006/main">
            <a:off x="666750" y="276225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4B91"/>
                </a:solidFill>
                <a:latin typeface="Arial"/>
                <a:ea typeface="Arial"/>
                <a:cs typeface="Arial"/>
              </a:defRPr>
            </a:defPPr>
            <a:lvl1pPr>
              <a:defRPr sz="1875" b="1">
                <a:solidFill>
                  <a:srgbClr val="174B91"/>
                </a:solidFill>
                <a:latin typeface="Arial"/>
                <a:ea typeface="Arial"/>
                <a:cs typeface="Arial"/>
              </a:defRPr>
            </a:lvl1pPr>
            <a:lvl2pPr>
              <a:defRPr sz="1875" b="1">
                <a:solidFill>
                  <a:srgbClr val="174B91"/>
                </a:solidFill>
                <a:latin typeface="Arial"/>
                <a:ea typeface="Arial"/>
                <a:cs typeface="Arial"/>
              </a:defRPr>
            </a:lvl2pPr>
            <a:lvl3pPr>
              <a:defRPr sz="1875" b="1">
                <a:solidFill>
                  <a:srgbClr val="174B91"/>
                </a:solidFill>
                <a:latin typeface="Arial"/>
                <a:ea typeface="Arial"/>
                <a:cs typeface="Arial"/>
              </a:defRPr>
            </a:lvl3pPr>
            <a:lvl4pPr>
              <a:defRPr sz="1875" b="1">
                <a:solidFill>
                  <a:srgbClr val="174B91"/>
                </a:solidFill>
                <a:latin typeface="Arial"/>
                <a:ea typeface="Arial"/>
                <a:cs typeface="Arial"/>
              </a:defRPr>
            </a:lvl4pPr>
            <a:lvl5pPr>
              <a:defRPr sz="1875" b="1">
                <a:solidFill>
                  <a:srgbClr val="174B91"/>
                </a:solidFill>
                <a:latin typeface="Arial"/>
                <a:ea typeface="Arial"/>
                <a:cs typeface="Arial"/>
              </a:defRPr>
            </a:lvl5pPr>
            <a:lvl6pPr>
              <a:defRPr sz="1875" b="1">
                <a:solidFill>
                  <a:srgbClr val="174B91"/>
                </a:solidFill>
                <a:latin typeface="Arial"/>
                <a:ea typeface="Arial"/>
                <a:cs typeface="Arial"/>
              </a:defRPr>
            </a:lvl6pPr>
            <a:lvl7pPr>
              <a:defRPr sz="1875" b="1">
                <a:solidFill>
                  <a:srgbClr val="174B91"/>
                </a:solidFill>
                <a:latin typeface="Arial"/>
                <a:ea typeface="Arial"/>
                <a:cs typeface="Arial"/>
              </a:defRPr>
            </a:lvl7pPr>
            <a:lvl8pPr>
              <a:defRPr sz="1875" b="1">
                <a:solidFill>
                  <a:srgbClr val="174B91"/>
                </a:solidFill>
                <a:latin typeface="Arial"/>
                <a:ea typeface="Arial"/>
                <a:cs typeface="Arial"/>
              </a:defRPr>
            </a:lvl8pPr>
            <a:lvl9pPr>
              <a:defRPr sz="1875" b="1">
                <a:solidFill>
                  <a:srgbClr val="174B91"/>
                </a:solidFill>
                <a:latin typeface="Arial"/>
                <a:ea typeface="Arial"/>
                <a:cs typeface="Arial"/>
              </a:defRPr>
            </a:lvl9pPr>
          </a:lstStyle>
          <a:p xmlns:a="http://schemas.openxmlformats.org/drawingml/2006/main">
            <a:pPr>
              <a:defRPr sz="1875" b="1">
                <a:solidFill>
                  <a:srgbClr val="174B91"/>
                </a:solidFill>
                <a:latin typeface="Arial"/>
                <a:ea typeface="Arial"/>
                <a:cs typeface="Arial"/>
              </a:defRPr>
            </a:pPr>
            <a:r>
              <a:rPr sz="1875" b="1">
                <a:solidFill>
                  <a:srgbClr val="174B91"/>
                </a:solidFill>
                <a:latin typeface="Arial"/>
                <a:ea typeface="Arial"/>
                <a:cs typeface="Arial"/>
              </a:rPr>
              <a:t>Birgitta Böckeler: Harness engineering for coding agent users</a:t>
            </a:r>
          </a:p>
        </p:txBody>
      </p:sp>
      <p:sp>
        <p:nvSpPr>
          <p:cNvPr id="6" name="">
            <a:extLst xmlns:a="http://schemas.openxmlformats.org/drawingml/2006/main">
              <a:ext uri="{FF2B5EF4-FFF2-40B4-BE49-F238E27FC236}">
                <a16:creationId xmlns:a16="http://schemas.microsoft.com/office/drawing/2014/main" id="{A7BB5A00-8CAE-4926-AAF5-58756CF1C159}"/>
              </a:ext>
            </a:extLst>
          </p:cNvPr>
          <p:cNvSpPr>
            <a:spLocks xmlns:a="http://schemas.openxmlformats.org/drawingml/2006/main" noGrp="1"/>
          </p:cNvSpPr>
          <p:nvPr/>
        </p:nvSpPr>
        <p:spPr>
          <a:xfrm xmlns:a="http://schemas.openxmlformats.org/drawingml/2006/main">
            <a:off x="666750" y="31432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martinfowler.com/articles/harness-engineering.html</a:t>
            </a:r>
          </a:p>
        </p:txBody>
      </p:sp>
      <p:sp>
        <p:nvSpPr>
          <p:cNvPr id="7" name="">
            <a:extLst xmlns:a="http://schemas.openxmlformats.org/drawingml/2006/main">
              <a:ext uri="{FF2B5EF4-FFF2-40B4-BE49-F238E27FC236}">
                <a16:creationId xmlns:a16="http://schemas.microsoft.com/office/drawing/2014/main" id="{0412C52D-D622-442B-B4CD-BEE87442253E}"/>
              </a:ext>
            </a:extLst>
          </p:cNvPr>
          <p:cNvSpPr>
            <a:spLocks xmlns:a="http://schemas.openxmlformats.org/drawingml/2006/main" noGrp="1"/>
          </p:cNvSpPr>
          <p:nvPr/>
        </p:nvSpPr>
        <p:spPr>
          <a:xfrm xmlns:a="http://schemas.openxmlformats.org/drawingml/2006/main">
            <a:off x="666750" y="3857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4B91"/>
                </a:solidFill>
                <a:latin typeface="Arial"/>
                <a:ea typeface="Arial"/>
                <a:cs typeface="Arial"/>
              </a:defRPr>
            </a:defPPr>
            <a:lvl1pPr>
              <a:defRPr sz="1875" b="1">
                <a:solidFill>
                  <a:srgbClr val="174B91"/>
                </a:solidFill>
                <a:latin typeface="Arial"/>
                <a:ea typeface="Arial"/>
                <a:cs typeface="Arial"/>
              </a:defRPr>
            </a:lvl1pPr>
            <a:lvl2pPr>
              <a:defRPr sz="1875" b="1">
                <a:solidFill>
                  <a:srgbClr val="174B91"/>
                </a:solidFill>
                <a:latin typeface="Arial"/>
                <a:ea typeface="Arial"/>
                <a:cs typeface="Arial"/>
              </a:defRPr>
            </a:lvl2pPr>
            <a:lvl3pPr>
              <a:defRPr sz="1875" b="1">
                <a:solidFill>
                  <a:srgbClr val="174B91"/>
                </a:solidFill>
                <a:latin typeface="Arial"/>
                <a:ea typeface="Arial"/>
                <a:cs typeface="Arial"/>
              </a:defRPr>
            </a:lvl3pPr>
            <a:lvl4pPr>
              <a:defRPr sz="1875" b="1">
                <a:solidFill>
                  <a:srgbClr val="174B91"/>
                </a:solidFill>
                <a:latin typeface="Arial"/>
                <a:ea typeface="Arial"/>
                <a:cs typeface="Arial"/>
              </a:defRPr>
            </a:lvl4pPr>
            <a:lvl5pPr>
              <a:defRPr sz="1875" b="1">
                <a:solidFill>
                  <a:srgbClr val="174B91"/>
                </a:solidFill>
                <a:latin typeface="Arial"/>
                <a:ea typeface="Arial"/>
                <a:cs typeface="Arial"/>
              </a:defRPr>
            </a:lvl5pPr>
            <a:lvl6pPr>
              <a:defRPr sz="1875" b="1">
                <a:solidFill>
                  <a:srgbClr val="174B91"/>
                </a:solidFill>
                <a:latin typeface="Arial"/>
                <a:ea typeface="Arial"/>
                <a:cs typeface="Arial"/>
              </a:defRPr>
            </a:lvl6pPr>
            <a:lvl7pPr>
              <a:defRPr sz="1875" b="1">
                <a:solidFill>
                  <a:srgbClr val="174B91"/>
                </a:solidFill>
                <a:latin typeface="Arial"/>
                <a:ea typeface="Arial"/>
                <a:cs typeface="Arial"/>
              </a:defRPr>
            </a:lvl7pPr>
            <a:lvl8pPr>
              <a:defRPr sz="1875" b="1">
                <a:solidFill>
                  <a:srgbClr val="174B91"/>
                </a:solidFill>
                <a:latin typeface="Arial"/>
                <a:ea typeface="Arial"/>
                <a:cs typeface="Arial"/>
              </a:defRPr>
            </a:lvl8pPr>
            <a:lvl9pPr>
              <a:defRPr sz="1875" b="1">
                <a:solidFill>
                  <a:srgbClr val="174B91"/>
                </a:solidFill>
                <a:latin typeface="Arial"/>
                <a:ea typeface="Arial"/>
                <a:cs typeface="Arial"/>
              </a:defRPr>
            </a:lvl9pPr>
          </a:lstStyle>
          <a:p xmlns:a="http://schemas.openxmlformats.org/drawingml/2006/main">
            <a:pPr>
              <a:defRPr sz="1875" b="1">
                <a:solidFill>
                  <a:srgbClr val="174B91"/>
                </a:solidFill>
                <a:latin typeface="Arial"/>
                <a:ea typeface="Arial"/>
                <a:cs typeface="Arial"/>
              </a:defRPr>
            </a:pPr>
            <a:r>
              <a:rPr sz="1875" b="1">
                <a:solidFill>
                  <a:srgbClr val="174B91"/>
                </a:solidFill>
                <a:latin typeface="Arial"/>
                <a:ea typeface="Arial"/>
                <a:cs typeface="Arial"/>
              </a:rPr>
              <a:t>OpenAI: Harness engineering</a:t>
            </a:r>
          </a:p>
        </p:txBody>
      </p:sp>
      <p:sp>
        <p:nvSpPr>
          <p:cNvPr id="8" name="">
            <a:extLst xmlns:a="http://schemas.openxmlformats.org/drawingml/2006/main">
              <a:ext uri="{FF2B5EF4-FFF2-40B4-BE49-F238E27FC236}">
                <a16:creationId xmlns:a16="http://schemas.microsoft.com/office/drawing/2014/main" id="{3B651491-2D49-4D86-89EF-D7229C3C8933}"/>
              </a:ext>
            </a:extLst>
          </p:cNvPr>
          <p:cNvSpPr>
            <a:spLocks xmlns:a="http://schemas.openxmlformats.org/drawingml/2006/main" noGrp="1"/>
          </p:cNvSpPr>
          <p:nvPr/>
        </p:nvSpPr>
        <p:spPr>
          <a:xfrm xmlns:a="http://schemas.openxmlformats.org/drawingml/2006/main">
            <a:off x="666750" y="4238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openai.com/index/harness-engineering/</a:t>
            </a:r>
          </a:p>
        </p:txBody>
      </p:sp>
      <p:sp>
        <p:nvSpPr>
          <p:cNvPr id="9" name="">
            <a:extLst xmlns:a="http://schemas.openxmlformats.org/drawingml/2006/main">
              <a:ext uri="{FF2B5EF4-FFF2-40B4-BE49-F238E27FC236}">
                <a16:creationId xmlns:a16="http://schemas.microsoft.com/office/drawing/2014/main" id="{C84AC876-A0B2-47BA-95ED-2CCCB5F64878}"/>
              </a:ext>
            </a:extLst>
          </p:cNvPr>
          <p:cNvSpPr>
            <a:spLocks xmlns:a="http://schemas.openxmlformats.org/drawingml/2006/main" noGrp="1"/>
          </p:cNvSpPr>
          <p:nvPr/>
        </p:nvSpPr>
        <p:spPr>
          <a:xfrm xmlns:a="http://schemas.openxmlformats.org/drawingml/2006/main">
            <a:off x="666750" y="4953000"/>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4B91"/>
                </a:solidFill>
                <a:latin typeface="Arial"/>
                <a:ea typeface="Arial"/>
                <a:cs typeface="Arial"/>
              </a:defRPr>
            </a:defPPr>
            <a:lvl1pPr>
              <a:defRPr sz="1875" b="1">
                <a:solidFill>
                  <a:srgbClr val="174B91"/>
                </a:solidFill>
                <a:latin typeface="Arial"/>
                <a:ea typeface="Arial"/>
                <a:cs typeface="Arial"/>
              </a:defRPr>
            </a:lvl1pPr>
            <a:lvl2pPr>
              <a:defRPr sz="1875" b="1">
                <a:solidFill>
                  <a:srgbClr val="174B91"/>
                </a:solidFill>
                <a:latin typeface="Arial"/>
                <a:ea typeface="Arial"/>
                <a:cs typeface="Arial"/>
              </a:defRPr>
            </a:lvl2pPr>
            <a:lvl3pPr>
              <a:defRPr sz="1875" b="1">
                <a:solidFill>
                  <a:srgbClr val="174B91"/>
                </a:solidFill>
                <a:latin typeface="Arial"/>
                <a:ea typeface="Arial"/>
                <a:cs typeface="Arial"/>
              </a:defRPr>
            </a:lvl3pPr>
            <a:lvl4pPr>
              <a:defRPr sz="1875" b="1">
                <a:solidFill>
                  <a:srgbClr val="174B91"/>
                </a:solidFill>
                <a:latin typeface="Arial"/>
                <a:ea typeface="Arial"/>
                <a:cs typeface="Arial"/>
              </a:defRPr>
            </a:lvl4pPr>
            <a:lvl5pPr>
              <a:defRPr sz="1875" b="1">
                <a:solidFill>
                  <a:srgbClr val="174B91"/>
                </a:solidFill>
                <a:latin typeface="Arial"/>
                <a:ea typeface="Arial"/>
                <a:cs typeface="Arial"/>
              </a:defRPr>
            </a:lvl5pPr>
            <a:lvl6pPr>
              <a:defRPr sz="1875" b="1">
                <a:solidFill>
                  <a:srgbClr val="174B91"/>
                </a:solidFill>
                <a:latin typeface="Arial"/>
                <a:ea typeface="Arial"/>
                <a:cs typeface="Arial"/>
              </a:defRPr>
            </a:lvl6pPr>
            <a:lvl7pPr>
              <a:defRPr sz="1875" b="1">
                <a:solidFill>
                  <a:srgbClr val="174B91"/>
                </a:solidFill>
                <a:latin typeface="Arial"/>
                <a:ea typeface="Arial"/>
                <a:cs typeface="Arial"/>
              </a:defRPr>
            </a:lvl7pPr>
            <a:lvl8pPr>
              <a:defRPr sz="1875" b="1">
                <a:solidFill>
                  <a:srgbClr val="174B91"/>
                </a:solidFill>
                <a:latin typeface="Arial"/>
                <a:ea typeface="Arial"/>
                <a:cs typeface="Arial"/>
              </a:defRPr>
            </a:lvl8pPr>
            <a:lvl9pPr>
              <a:defRPr sz="1875" b="1">
                <a:solidFill>
                  <a:srgbClr val="174B91"/>
                </a:solidFill>
                <a:latin typeface="Arial"/>
                <a:ea typeface="Arial"/>
                <a:cs typeface="Arial"/>
              </a:defRPr>
            </a:lvl9pPr>
          </a:lstStyle>
          <a:p xmlns:a="http://schemas.openxmlformats.org/drawingml/2006/main">
            <a:pPr>
              <a:defRPr sz="1875" b="1">
                <a:solidFill>
                  <a:srgbClr val="174B91"/>
                </a:solidFill>
                <a:latin typeface="Arial"/>
                <a:ea typeface="Arial"/>
                <a:cs typeface="Arial"/>
              </a:defRPr>
            </a:pPr>
            <a:r>
              <a:rPr sz="1875" b="1">
                <a:solidFill>
                  <a:srgbClr val="174B91"/>
                </a:solidFill>
                <a:latin typeface="Arial"/>
                <a:ea typeface="Arial"/>
                <a:cs typeface="Arial"/>
              </a:rPr>
              <a:t>Harness Lab: real rehearsal traces and screenshots</a:t>
            </a:r>
          </a:p>
        </p:txBody>
      </p:sp>
      <p:sp>
        <p:nvSpPr>
          <p:cNvPr id="10" name="">
            <a:extLst xmlns:a="http://schemas.openxmlformats.org/drawingml/2006/main">
              <a:ext uri="{FF2B5EF4-FFF2-40B4-BE49-F238E27FC236}">
                <a16:creationId xmlns:a16="http://schemas.microsoft.com/office/drawing/2014/main" id="{6609E32F-A28A-401C-8C7E-092621FDBA04}"/>
              </a:ext>
            </a:extLst>
          </p:cNvPr>
          <p:cNvSpPr>
            <a:spLocks xmlns:a="http://schemas.openxmlformats.org/drawingml/2006/main" noGrp="1"/>
          </p:cNvSpPr>
          <p:nvPr/>
        </p:nvSpPr>
        <p:spPr>
          <a:xfrm xmlns:a="http://schemas.openxmlformats.org/drawingml/2006/main">
            <a:off x="666750" y="53340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4685D"/>
                </a:solidFill>
                <a:latin typeface="Arial"/>
                <a:ea typeface="Arial"/>
                <a:cs typeface="Arial"/>
              </a:defRPr>
            </a:defPPr>
            <a:lvl1pPr>
              <a:defRPr sz="1800" b="0">
                <a:solidFill>
                  <a:srgbClr val="54685D"/>
                </a:solidFill>
                <a:latin typeface="Arial"/>
                <a:ea typeface="Arial"/>
                <a:cs typeface="Arial"/>
              </a:defRPr>
            </a:lvl1pPr>
            <a:lvl2pPr>
              <a:defRPr sz="1800" b="0">
                <a:solidFill>
                  <a:srgbClr val="54685D"/>
                </a:solidFill>
                <a:latin typeface="Arial"/>
                <a:ea typeface="Arial"/>
                <a:cs typeface="Arial"/>
              </a:defRPr>
            </a:lvl2pPr>
            <a:lvl3pPr>
              <a:defRPr sz="1800" b="0">
                <a:solidFill>
                  <a:srgbClr val="54685D"/>
                </a:solidFill>
                <a:latin typeface="Arial"/>
                <a:ea typeface="Arial"/>
                <a:cs typeface="Arial"/>
              </a:defRPr>
            </a:lvl3pPr>
            <a:lvl4pPr>
              <a:defRPr sz="1800" b="0">
                <a:solidFill>
                  <a:srgbClr val="54685D"/>
                </a:solidFill>
                <a:latin typeface="Arial"/>
                <a:ea typeface="Arial"/>
                <a:cs typeface="Arial"/>
              </a:defRPr>
            </a:lvl4pPr>
            <a:lvl5pPr>
              <a:defRPr sz="1800" b="0">
                <a:solidFill>
                  <a:srgbClr val="54685D"/>
                </a:solidFill>
                <a:latin typeface="Arial"/>
                <a:ea typeface="Arial"/>
                <a:cs typeface="Arial"/>
              </a:defRPr>
            </a:lvl5pPr>
            <a:lvl6pPr>
              <a:defRPr sz="1800" b="0">
                <a:solidFill>
                  <a:srgbClr val="54685D"/>
                </a:solidFill>
                <a:latin typeface="Arial"/>
                <a:ea typeface="Arial"/>
                <a:cs typeface="Arial"/>
              </a:defRPr>
            </a:lvl6pPr>
            <a:lvl7pPr>
              <a:defRPr sz="1800" b="0">
                <a:solidFill>
                  <a:srgbClr val="54685D"/>
                </a:solidFill>
                <a:latin typeface="Arial"/>
                <a:ea typeface="Arial"/>
                <a:cs typeface="Arial"/>
              </a:defRPr>
            </a:lvl7pPr>
            <a:lvl8pPr>
              <a:defRPr sz="1800" b="0">
                <a:solidFill>
                  <a:srgbClr val="54685D"/>
                </a:solidFill>
                <a:latin typeface="Arial"/>
                <a:ea typeface="Arial"/>
                <a:cs typeface="Arial"/>
              </a:defRPr>
            </a:lvl8pPr>
            <a:lvl9pPr>
              <a:defRPr sz="1800" b="0">
                <a:solidFill>
                  <a:srgbClr val="54685D"/>
                </a:solidFill>
                <a:latin typeface="Arial"/>
                <a:ea typeface="Arial"/>
                <a:cs typeface="Arial"/>
              </a:defRPr>
            </a:lvl9pPr>
          </a:lstStyle>
          <a:p xmlns:a="http://schemas.openxmlformats.org/drawingml/2006/main">
            <a:pPr>
              <a:defRPr sz="1800" b="0">
                <a:solidFill>
                  <a:srgbClr val="54685D"/>
                </a:solidFill>
                <a:latin typeface="Arial"/>
                <a:ea typeface="Arial"/>
                <a:cs typeface="Arial"/>
              </a:defRPr>
            </a:pPr>
            <a:r>
              <a:rPr sz="1800" b="0">
                <a:solidFill>
                  <a:srgbClr val="54685D"/>
                </a:solidFill>
                <a:latin typeface="Arial"/>
                <a:ea typeface="Arial"/>
                <a:cs typeface="Arial"/>
              </a:rPr>
              <a:t>github.com/shubham-t/harness-codex  /  live-validation/revised-cards</a:t>
            </a:r>
          </a:p>
        </p:txBody>
      </p:sp>
    </p:spTree>
    <p:extLst>
      <p:ext uri="{BB962C8B-B14F-4D97-AF65-F5344CB8AC3E}">
        <p14:creationId xmlns:p14="http://schemas.microsoft.com/office/powerpoint/2010/main" val="20288587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2026-10-25T17:59:52.7740000Z</dcterms:created>
  <dcterms:modified xsi:type="dcterms:W3CDTF">2026-10-25T17:59:52.7740000Z</dcterms:modified>
</coreProperties>
</file>